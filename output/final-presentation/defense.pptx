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bc5717841647e5" /><Relationship Type="http://schemas.openxmlformats.org/officeDocument/2006/relationships/extended-properties" Target="/docProps/app.xml" Id="R232c3530ca5e472f" /><Relationship Type="http://schemas.openxmlformats.org/officeDocument/2006/relationships/officeDocument" Target="/ppt/presentation.xml" Id="R5b7e411fd009467c" /></Relationships>
</file>

<file path=ppt/presentation.xml><?xml version="1.0" encoding="utf-8"?>
<p:presentation xmlns:p="http://schemas.openxmlformats.org/presentationml/2006/main">
  <p:sldMasterIdLst>
    <p:sldMasterId xmlns:r="http://schemas.openxmlformats.org/officeDocument/2006/relationships" id="2147483648" r:id="R2117bfe46c3a427c"/>
  </p:sldMasterIdLst>
  <p:notesMasterIdLst>
    <p:notesMasterId xmlns:r="http://schemas.openxmlformats.org/officeDocument/2006/relationships" r:id="R4ec77a020cea4c02"/>
  </p:notesMasterIdLst>
  <p:sldIdLst>
    <p:sldId xmlns:r="http://schemas.openxmlformats.org/officeDocument/2006/relationships" id="256" r:id="R26ce345fde2f4e35"/>
    <p:sldId xmlns:r="http://schemas.openxmlformats.org/officeDocument/2006/relationships" id="257" r:id="Rc9d9dc0e10e84be5"/>
    <p:sldId xmlns:r="http://schemas.openxmlformats.org/officeDocument/2006/relationships" id="258" r:id="R753bb064dc334b82"/>
    <p:sldId xmlns:r="http://schemas.openxmlformats.org/officeDocument/2006/relationships" id="259" r:id="R7f8ee26dddb84c5e"/>
    <p:sldId xmlns:r="http://schemas.openxmlformats.org/officeDocument/2006/relationships" id="260" r:id="R8730c58f781b4689"/>
    <p:sldId xmlns:r="http://schemas.openxmlformats.org/officeDocument/2006/relationships" id="261" r:id="R235d733153c44676"/>
    <p:sldId xmlns:r="http://schemas.openxmlformats.org/officeDocument/2006/relationships" id="262" r:id="R5d391e2a20cf4700"/>
    <p:sldId xmlns:r="http://schemas.openxmlformats.org/officeDocument/2006/relationships" id="263" r:id="R2c6524394f974e04"/>
    <p:sldId xmlns:r="http://schemas.openxmlformats.org/officeDocument/2006/relationships" id="264" r:id="Re72328ab4f844921"/>
    <p:sldId xmlns:r="http://schemas.openxmlformats.org/officeDocument/2006/relationships" id="265" r:id="Rffd0347d238d400e"/>
    <p:sldId xmlns:r="http://schemas.openxmlformats.org/officeDocument/2006/relationships" id="266" r:id="R0b928be34b6044dd"/>
    <p:sldId xmlns:r="http://schemas.openxmlformats.org/officeDocument/2006/relationships" id="267" r:id="R04e8b290823249c4"/>
    <p:sldId xmlns:r="http://schemas.openxmlformats.org/officeDocument/2006/relationships" id="268" r:id="Rb3a295abd21d4272"/>
    <p:sldId xmlns:r="http://schemas.openxmlformats.org/officeDocument/2006/relationships" id="269" r:id="R438bb2a4bcbb4aae"/>
    <p:sldId xmlns:r="http://schemas.openxmlformats.org/officeDocument/2006/relationships" id="270" r:id="Re821eaaf717644d5"/>
    <p:sldId xmlns:r="http://schemas.openxmlformats.org/officeDocument/2006/relationships" id="271" r:id="Ra491aaefdbbf4d7e"/>
    <p:sldId xmlns:r="http://schemas.openxmlformats.org/officeDocument/2006/relationships" id="272" r:id="R00b77380116b4000"/>
    <p:sldId xmlns:r="http://schemas.openxmlformats.org/officeDocument/2006/relationships" id="273" r:id="R135a6912364c4b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4ac7ebeb2047b5" /><Relationship Type="http://schemas.openxmlformats.org/officeDocument/2006/relationships/slideMaster" Target="/ppt/slideMasters/slideMaster1.xml" Id="R2117bfe46c3a427c" /><Relationship Type="http://schemas.openxmlformats.org/officeDocument/2006/relationships/notesMaster" Target="/ppt/notesMasters/notesMaster1.xml" Id="R4ec77a020cea4c02" /><Relationship Type="http://schemas.openxmlformats.org/officeDocument/2006/relationships/presProps" Target="/ppt/presProps.xml" Id="Rdbb1da5a313140ee" /><Relationship Type="http://schemas.openxmlformats.org/officeDocument/2006/relationships/tableStyles" Target="/ppt/tableStyles.xml" Id="Rb10a3bfbb08b43cb" /><Relationship Type="http://schemas.openxmlformats.org/officeDocument/2006/relationships/slide" Target="/ppt/slides/slide1.xml" Id="R26ce345fde2f4e35" /><Relationship Type="http://schemas.openxmlformats.org/officeDocument/2006/relationships/slide" Target="/ppt/slides/slide2.xml" Id="Rc9d9dc0e10e84be5" /><Relationship Type="http://schemas.openxmlformats.org/officeDocument/2006/relationships/slide" Target="/ppt/slides/slide3.xml" Id="R753bb064dc334b82" /><Relationship Type="http://schemas.openxmlformats.org/officeDocument/2006/relationships/slide" Target="/ppt/slides/slide4.xml" Id="R7f8ee26dddb84c5e" /><Relationship Type="http://schemas.openxmlformats.org/officeDocument/2006/relationships/slide" Target="/ppt/slides/slide5.xml" Id="R8730c58f781b4689" /><Relationship Type="http://schemas.openxmlformats.org/officeDocument/2006/relationships/slide" Target="/ppt/slides/slide6.xml" Id="R235d733153c44676" /><Relationship Type="http://schemas.openxmlformats.org/officeDocument/2006/relationships/slide" Target="/ppt/slides/slide7.xml" Id="R5d391e2a20cf4700" /><Relationship Type="http://schemas.openxmlformats.org/officeDocument/2006/relationships/slide" Target="/ppt/slides/slide8.xml" Id="R2c6524394f974e04" /><Relationship Type="http://schemas.openxmlformats.org/officeDocument/2006/relationships/slide" Target="/ppt/slides/slide9.xml" Id="Re72328ab4f844921" /><Relationship Type="http://schemas.openxmlformats.org/officeDocument/2006/relationships/slide" Target="/ppt/slides/slide10.xml" Id="Rffd0347d238d400e" /><Relationship Type="http://schemas.openxmlformats.org/officeDocument/2006/relationships/slide" Target="/ppt/slides/slide11.xml" Id="R0b928be34b6044dd" /><Relationship Type="http://schemas.openxmlformats.org/officeDocument/2006/relationships/slide" Target="/ppt/slides/slide12.xml" Id="R04e8b290823249c4" /><Relationship Type="http://schemas.openxmlformats.org/officeDocument/2006/relationships/slide" Target="/ppt/slides/slide13.xml" Id="Rb3a295abd21d4272" /><Relationship Type="http://schemas.openxmlformats.org/officeDocument/2006/relationships/slide" Target="/ppt/slides/slide14.xml" Id="R438bb2a4bcbb4aae" /><Relationship Type="http://schemas.openxmlformats.org/officeDocument/2006/relationships/slide" Target="/ppt/slides/slide15.xml" Id="Re821eaaf717644d5" /><Relationship Type="http://schemas.openxmlformats.org/officeDocument/2006/relationships/slide" Target="/ppt/slides/slide16.xml" Id="Ra491aaefdbbf4d7e" /><Relationship Type="http://schemas.openxmlformats.org/officeDocument/2006/relationships/slide" Target="/ppt/slides/slide17.xml" Id="R00b77380116b4000" /><Relationship Type="http://schemas.openxmlformats.org/officeDocument/2006/relationships/slide" Target="/ppt/slides/slide18.xml" Id="R135a6912364c4b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fde1f81d744b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42fd6a2e9d48df" /><Relationship Type="http://schemas.openxmlformats.org/officeDocument/2006/relationships/notesMaster" Target="/ppt/notesMasters/notesMaster1.xml" Id="Rcd72e4a12f9b45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e44e44a79a4bee" /><Relationship Type="http://schemas.openxmlformats.org/officeDocument/2006/relationships/notesMaster" Target="/ppt/notesMasters/notesMaster1.xml" Id="R5489ef37e52f4c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dbbe53c39c41fd" /><Relationship Type="http://schemas.openxmlformats.org/officeDocument/2006/relationships/notesMaster" Target="/ppt/notesMasters/notesMaster1.xml" Id="R996d479e06f644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0ad9982de443cb" /><Relationship Type="http://schemas.openxmlformats.org/officeDocument/2006/relationships/notesMaster" Target="/ppt/notesMasters/notesMaster1.xml" Id="R8d06b0c7bad844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e055c725664cc5" /><Relationship Type="http://schemas.openxmlformats.org/officeDocument/2006/relationships/notesMaster" Target="/ppt/notesMasters/notesMaster1.xml" Id="R427e046020fe46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0afe5f7ee64707" /><Relationship Type="http://schemas.openxmlformats.org/officeDocument/2006/relationships/notesMaster" Target="/ppt/notesMasters/notesMaster1.xml" Id="R8015cbab3e7443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fc5892fe954631" /><Relationship Type="http://schemas.openxmlformats.org/officeDocument/2006/relationships/notesMaster" Target="/ppt/notesMasters/notesMaster1.xml" Id="R6baf7a937bfa40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056afb11b54027" /><Relationship Type="http://schemas.openxmlformats.org/officeDocument/2006/relationships/notesMaster" Target="/ppt/notesMasters/notesMaster1.xml" Id="R42115769869140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d86ae223df4a16" /><Relationship Type="http://schemas.openxmlformats.org/officeDocument/2006/relationships/notesMaster" Target="/ppt/notesMasters/notesMaster1.xml" Id="R4d9b5e1198a746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0eb0101ef349b4" /><Relationship Type="http://schemas.openxmlformats.org/officeDocument/2006/relationships/notesMaster" Target="/ppt/notesMasters/notesMaster1.xml" Id="R39eaad36152b46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4cbe9d6f9641ea" /><Relationship Type="http://schemas.openxmlformats.org/officeDocument/2006/relationships/notesMaster" Target="/ppt/notesMasters/notesMaster1.xml" Id="Rc91f330533e048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3195f865c44519" /><Relationship Type="http://schemas.openxmlformats.org/officeDocument/2006/relationships/notesMaster" Target="/ppt/notesMasters/notesMaster1.xml" Id="R775ee492bb3749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7feecdf4ab457c" /><Relationship Type="http://schemas.openxmlformats.org/officeDocument/2006/relationships/notesMaster" Target="/ppt/notesMasters/notesMaster1.xml" Id="Rb05d4c876a3041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3d236ff2ac9454b" /><Relationship Type="http://schemas.openxmlformats.org/officeDocument/2006/relationships/notesMaster" Target="/ppt/notesMasters/notesMaster1.xml" Id="R469cdf0a90704c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fbd4733c6fa4265" /><Relationship Type="http://schemas.openxmlformats.org/officeDocument/2006/relationships/notesMaster" Target="/ppt/notesMasters/notesMaster1.xml" Id="Racf97d0ecd6a4c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ae00166d6f48b3" /><Relationship Type="http://schemas.openxmlformats.org/officeDocument/2006/relationships/notesMaster" Target="/ppt/notesMasters/notesMaster1.xml" Id="R5d2141b659de43e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9301c373194c21" /><Relationship Type="http://schemas.openxmlformats.org/officeDocument/2006/relationships/notesMaster" Target="/ppt/notesMasters/notesMaster1.xml" Id="R8853c1d763a744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75b7db864249cb" /><Relationship Type="http://schemas.openxmlformats.org/officeDocument/2006/relationships/notesMaster" Target="/ppt/notesMasters/notesMaster1.xml" Id="R7b69aec5a27640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20 seconds</a:t>
            </a:r>
          </a:p>
          <a:p xmlns:a="http://schemas.openxmlformats.org/drawingml/2006/main">
            <a:r>
              <a:t/>
            </a:r>
          </a:p>
          <a:p xmlns:a="http://schemas.openxmlformats.org/drawingml/2006/main">
            <a:r>
              <a:t>Source — стартовый шум, head — блок предсказания поля скоростей. Проверяем гипотезу: при гладком GP-старте временная S4 лучше выучит малые направления скорости, чем плотная MLP. Затем проверяем, что ошибки поля означают для прогнозов.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55 seconds</a:t>
            </a:r>
          </a:p>
          <a:p xmlns:a="http://schemas.openxmlformats.org/drawingml/2006/main">
            <a:r>
              <a:t/>
            </a:r>
          </a:p>
          <a:p xmlns:a="http://schemas.openxmlformats.org/drawingml/2006/main">
            <a:r>
              <a:t>Здесь две разные роли случайных кривых. GP, или гауссовский процесс, генерирует плавные синтетические данные для обучения и проверки. Отдельно мы выбираем шум, с которого модель начинает строить прогноз. Он может быть белым или тоже GP. По 32 наблюдениям получаем возможные продолжения на 16 точек. Цветные линии — четыре прогноза, чёрная — одно реализованное будущее. Совпадать они не обязаны: качество распределения проверяем на множестве историй. Гипотеза: модель S4 с временной структурой лучше выучит небольшие локальные изменения на фоне плавного общего движения. Это предположение, которое мы проверяем. Источники: docs/related_work.md; figures/provenance.json. На рисунке первая сохранённая история, без отбора по метрикам.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55 seconds</a:t>
            </a:r>
          </a:p>
          <a:p xmlns:a="http://schemas.openxmlformats.org/drawingml/2006/main">
            <a:r>
              <a:t/>
            </a:r>
          </a:p>
          <a:p xmlns:a="http://schemas.openxmlformats.org/drawingml/2006/main">
            <a:r>
              <a:t>Белый шум имеет независимые координаты, GP-шум — коррелированные. При обучении x_t=(1−t)ε+ty: смешиваем шум и известное будущее, целевая скорость y−ε. Модель получает текущую смесь, время генерации и наблюдённую историю; выдаёт 16 скоростей, по одной на каждую будущую точку. При прогнозировании реальное будущее неизвестно: интегратор много раз вызывает поле и обновляет весь вектор. Один старт даёт одну траекторию. Источники: fm_stress/experiment.py; docs/protocol.md. Иллюстрация источников имеет единичную дисперсию; matched GP совпадает с kernel сырых данных, не с нормализованным условным будущим.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50 seconds</a:t>
            </a:r>
          </a:p>
          <a:p xmlns:a="http://schemas.openxmlformats.org/drawingml/2006/main">
            <a:r>
              <a:t/>
            </a:r>
          </a:p>
          <a:p xmlns:a="http://schemas.openxmlformats.org/drawingml/2006/main">
            <a:r>
              <a:t>Матрица два на два: MLP и S4; белый и гладкий GP-источник. Пять обучений в каждой ячейке. MLP смешивает все координаты плотными слоями; S4 использует временную модель состояния. Гипотеза — преимущество S4 в малых направлениях скорости при гладком источнике. Дополнительные пять запусков: та же GP+MLP с вращением и масштабированием PCA-координат; перед оценкой возвращаем исходные координаты. Это контроль влияния геометрии. Данные и бюджет общие. Источник: docs/protocol.md. PCA fit только на train, нормализация только по истории, checkpoint по validation. Способ подачи истории у голов отличается; 65464 и65281параметров. Пять seed не являются пятью наборами данных.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55 seconds</a:t>
            </a:r>
          </a:p>
          <a:p xmlns:a="http://schemas.openxmlformats.org/drawingml/2006/main">
            <a:r>
              <a:t/>
            </a:r>
          </a:p>
          <a:p xmlns:a="http://schemas.openxmlformats.org/drawingml/2006/main">
            <a:r>
              <a:t>Прежде чем сравнивать головы, проверяем геометрию. PCA находит направления совместного изменения векторов, первое объясняет больше всего вариации. Для будущих рядов первые два направления содержат98.1процента. Для целевой скорости y−ε при белом шуме85.0, при GP97.8. Именно такой контраст требовался: гладкий источник концентрирует обучение на нескольких направлениях. Поэтому проверяем ошибки и вдоль главного направления, и в остальных. PCA оценивается на обучении; столбики — тест. Источник: evidence.main.geometry. У GP validation97.8процента тоже выше90. Базисы для будущего и скоростей разные, для каждого источника свой. Проверка геометрии сама по себе не доказывает ошибку MLP.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65 seconds</a:t>
            </a:r>
          </a:p>
          <a:p xmlns:a="http://schemas.openxmlformats.org/drawingml/2006/main">
            <a:r>
              <a:t/>
            </a:r>
          </a:p>
          <a:p xmlns:a="http://schemas.openxmlformats.org/drawingml/2006/main">
            <a:r>
              <a:t>Это ошибки предсказания скорости, а не будущих рядов. PCA обучена на векторах целевой скорости. PC1 — главное направление, остаток — среднее поPC3–16; PC2 отдельно в отчёте. В GP-строках остаточная ошибка MLP0.0493 меньше S40.0583; whitening снижает её до0.0401. Ожидаемого преимущества S4 нет. R1 — средний модуль соседних изменений прогнозного ряда, делённый на такой же показатель данных. Все25обучений проходят эту часть. Но исходное правило одновременно требует почти равных ошибок PC1 и остатка: ни один запуск его не проходит. Ошибки направлений имеют разные масштабы; провал равенства не означает плохой прогноз. Источники: evidence.main.groups; docs/protocol.md. Сравниваем головы внутри каждого источника: между источниками различаются базисы и шумовые уровни. Исходный R1:1024траектории,Euler64; далее отдельная ансамблевая оценка.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55 seconds</a:t>
            </a:r>
          </a:p>
          <a:p xmlns:a="http://schemas.openxmlformats.org/drawingml/2006/main">
            <a:r>
              <a:t/>
            </a:r>
          </a:p>
          <a:p xmlns:a="http://schemas.openxmlformats.org/drawingml/2006/main">
            <a:r>
              <a:t>R1 оставляем, R2 добавляем постфактум. Оба считаем на едином ансамбле прогнозов. R1 измеряет модуль соседних разностей; R2 — модуль вторых разностей, то есть изменений наклона. Делим на соответствующий показатель наблюдённых рядов. У монотонных кривых с одинаковыми концами R1 одинаков, даже если меняется наклон. У S4 R1 близок к1, но R2 равен1.63. Это больше изменений наклона, а не автоматическое доказательство плохого распределения. Василий покажет прогнозные оценки тех же GP-моделей. Источник: trajectory-metrics main groups. R2 здесь не регрессионный R-squared. 256историй×64прогноза,Euler128,5обученных моделей каждой головы.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55 seconds</a:t>
            </a:r>
          </a:p>
          <a:p xmlns:a="http://schemas.openxmlformats.org/drawingml/2006/main">
            <a:r>
              <a:t/>
            </a:r>
          </a:p>
          <a:p xmlns:a="http://schemas.openxmlformats.org/drawingml/2006/main">
            <a:r>
              <a:t>Теперь оцениваем распределение прогнозов тех же GP-моделей. CRPS проверяет значения в каждый момент, VS — различия между моментами. Нужны оба: VS не замечает общий сдвиг. На графике разность с MLP, отрицательное лучше; отрезки —95-процентные интервалы. У S4 оба пересекают ноль: более высокий R2 не сопровождается установленным ухудшением прогнозов. Whitening снижает VS, по CRPS различие неубедительно. Далее переходим к отдельным проверкам: насколько сравнение голов зависит от ёмкости, нормализации и задачи. Источник: trajectory-metrics main contrasts. 256историй,64draws,Euler128;bootstrap по историям при пяти фиксированных моделях, не неопределённость нового обучения. Fair поправляет конечный размер ансамбля.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60 seconds</a:t>
            </a:r>
          </a:p>
          <a:p xmlns:a="http://schemas.openxmlformats.org/drawingml/2006/main">
            <a:r>
              <a:t/>
            </a:r>
          </a:p>
          <a:p xmlns:a="http://schemas.openxmlformats.org/drawingml/2006/main">
            <a:r>
              <a:t>Проверяем чувствительность к ёмкости в другой задаче: история128,горизонт64,белый шум,12000обновлений. Здесь исходный MLP даёт неровные прогнозы. Увеличиваем ширину всех его скрытых слоёв с56до72 при той же глубине. Число параметров растёт: это контроль ёмкости, а не изолированная замена последнего слоя. На трёх новых наборах R2 падает с19.09до1.60,уS4около1. Другой более широкий, но менее глубокий MLP с близким числом параметров тоже улучшает форму. VS улучшается, CRPS меняется мало. Это показывает зависимость вывода от размера сети. Источники: capacity protocol; trajectory-metrics summary; figures/provenance.json. 73960→114328параметров. Первая сохранённая история и четыре согласованных старта, без отбора по результату.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60 seconds</a:t>
            </a:r>
          </a:p>
          <a:p xmlns:a="http://schemas.openxmlformats.org/drawingml/2006/main">
            <a:r>
              <a:t/>
            </a:r>
          </a:p>
          <a:p xmlns:a="http://schemas.openxmlformats.org/drawingml/2006/main">
            <a:r>
              <a:t>Следующая проверка: не зависит ли преимущество архитектуры от подготовки данных? Берём реальный ряд температуры трансформатора ETTh1. Слева масштаб общий, оценённый на обучении: S4 заметно лучше MLP. В центре из каждого окна вычитаем среднее доступной истории: большой разрыв исчезает. Дополнительное деление на масштаб истории почти не помогает. Значит, вывод об архитектуре зависит от нормализации. Простая линейная ridge-регрессия здесь лучше обеих сетей. Это 118 окон одного уже изученного хронологического тестового отрезка, не широкая проверка на реальных данных. Источники: evidence.normalization, normalization_baselines; docs/followup_normalization_protocol.md. GP-старт, 6 тысяч обновлений, одинаковые единицы оценки. Нормализация меняет весь процесс обучения, не выделяя единственную внутреннюю причину.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70 seconds</a:t>
            </a:r>
          </a:p>
          <a:p xmlns:a="http://schemas.openxmlformats.org/drawingml/2006/main">
            <a:r>
              <a:t/>
            </a:r>
          </a:p>
          <a:p xmlns:a="http://schemas.openxmlformats.org/drawingml/2006/main">
            <a:r>
              <a:t>Переходим к совместному прогнозу нескольких величин: модель выдаёт вектор времени и каналов. Здесь четыре задачи: синтетический GP с3каналами; одна температура;7показателейETTh1;8валютных рядов. Whitening помогает синтетическому многомерномуGP и одной температуре, но ухудшает обе реальные многоканальные задачи. Поэтому дело не просто в размерности. Сравниваем головы внутри каждой группы. CRPS усредняет маргинальные оценки; energy score оценивает весь совместный вектор и подтверждает направление эффекта whitening. Простая ridge-регрессия с выборкой целого вектора остатков имеет меньший CRPS во всех четырёх задачах. Источники: evidence.multivariate; results/extension/*/baselines.json. Отдельная серия:2000обновлений,3seed,64истории×32прогноза,Euler64,фиксированный масштаб каналов поtrain. Не смешивать с предыдущей серией нормализации.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55 seconds</a:t>
            </a:r>
          </a:p>
          <a:p xmlns:a="http://schemas.openxmlformats.org/drawingml/2006/main">
            <a:r>
              <a:t/>
            </a:r>
          </a:p>
          <a:p xmlns:a="http://schemas.openxmlformats.org/drawingml/2006/main">
            <a:r>
              <a:t>Ревью помогло уточнить интерпретацию. Пересчитали ошибку только поPC3–6: порядок whitenedMLP,MLP,S4сохраняется. Мы ограничили метрику, не удаляли координаты из модели. Ансамблевые оценки проверяют качество прогнозов отдельно от ошибки поля. Контроль ширины повторяется на трёх новых синтетических наборах. Аналитический эталон видит ту же нормализованную историю, но знает закон генерации; это диагностическая опора. Остаются разные способы подачи истории и неполный подбор настроек. Источник: docs/response_to_review.md; final-pca-audit. Проверка Euler не заменяет настройку внутренних шагов S4. Эффект whitening на реальных задачах не заменяет sweep floor или perturbation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45 seconds</a:t>
            </a:r>
          </a:p>
          <a:p xmlns:a="http://schemas.openxmlformats.org/drawingml/2006/main">
            <a:r>
              <a:t/>
            </a:r>
          </a:p>
          <a:p xmlns:a="http://schemas.openxmlformats.org/drawingml/2006/main">
            <a:r>
              <a:t>Возвращаемся к вопросу: гладкий источник сам по себе не даёт оснований заменять MLP на S4. Ожидаемого преимущества S4 по остаточной ошибке скорости нет. MLP остаётся базовым вариантом; оцениваем и форму, и качество прогнозов. Прежде чем объяснять разницу архитектурой, проверяем ёмкость и нормализацию. Whitening надо проверять на конкретной задаче: он помогает даже синтетическому многомерному GP, но в реальных многоканальных задачах ухудшает результат. Простой линейный baseline обязателен для контекста. Далее вклады участников. Источники: evidence.main,capacity,normalization,multivariate.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budget: 30 seconds</a:t>
            </a:r>
          </a:p>
          <a:p xmlns:a="http://schemas.openxmlformats.org/drawingml/2006/main">
            <a:r>
              <a:t/>
            </a:r>
          </a:p>
          <a:p xmlns:a="http://schemas.openxmlformats.org/drawingml/2006/main">
            <a:r>
              <a:t>Егор отвечал за базовый MLP, общий контур обучения и исследование ёмкости. Кирилл — за данные, PCA, дополнительные метрики и итоговую сверку результатов. Даниил — за S4, структурированные модели и многомерный прогноз. Василий — за whitening, нормализацию, якобианы и интерпретацию диагностик. При разработке, анализе и подготовке текста использовались AI-инструменты; ответственность за работу остаётся у авторов.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
            </a:r>
          </a:p>
          <a:p xmlns:a="http://schemas.openxmlformats.org/drawingml/2006/main">
            <a:r>
              <a:t>PCA basis fitted on training velocities. Residual averages PC3–F, not their sum. Very small residual error should not normally count against accuracy. Noise-normalized scores remain floor-sensitive. Original rule is preserved, all new metrics explicitly post-hoc. Source: docs/protocol.md; output/final-paper/evidence.json.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
            </a:r>
          </a:p>
          <a:p xmlns:a="http://schemas.openxmlformats.org/drawingml/2006/main">
            <a:r>
              <a:t>Original main MSE uses8192 heldout windows. Oracle comparison uses2048 fresh contexts. Direct oracle discrepancy is squared(model field−same-information oracle field), not naive subtraction of two finite-sample MSEs. The latter has a finite-sample cross term. Source: results/final-pca-audit/summary.json.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
            </a:r>
          </a:p>
          <a:p xmlns:a="http://schemas.openxmlformats.org/drawingml/2006/main">
            <a:r>
              <a:t>Oracle labels use conditional average of stochastic velocity label with the same model inputs. This is not the forecast oracle. Model checkpoint selection is based on validation field discrepancy for both label modes. 6000steps, GPsource, F16,32members. Results do not show a consistent proper-score advantage of S4 over MLP. Source: docs/followup_label_noise_protocol.md; trajectory-metrics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
            </a:r>
          </a:p>
          <a:p xmlns:a="http://schemas.openxmlformats.org/drawingml/2006/main">
            <a:r>
              <a:t>For eachpair z=abs(Xi−Xj)^p, a=abs(yi−yj)^p. fairVS=sum w[(a−mean z)^2−var(z,ddof1)/M]. It can be negative, do not clip. Assumes iidmembers conditional on model/history. Variogram misses common shifts and is not strictlyproper. Source: docs/trajectory_metrics.md. FairCRPS and energy match original percontext numbers for all39runs.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37f5639db241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a6231c362b246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617603ec9c4d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687e709c7c49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d6a3a7afc54f1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9c89c7e86f4b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70468B-B394-4E7C-90BF-F757DEDE3DF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4496F4-ECBB-44DE-9472-7C8DD2413B0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5424FB-A827-4422-869E-D2A0249360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F80810-1690-4401-B9A2-5804B5530F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3875B0-935D-4537-B8A1-0A5533606F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5932C9-3872-40FC-BEB2-B3FE23C863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D81669-A062-4E66-BF61-B0DE68F93E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62F1FE-40D5-47A9-A68E-B5F77883EAE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FA74D7-877E-4523-B573-0FBC711089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6AF392-D5D0-42B5-8BD0-7F35B33888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04e2afcf1b45d3" /><Relationship Type="http://schemas.openxmlformats.org/officeDocument/2006/relationships/slideLayout" Target="/ppt/slideLayouts/slideLayout1.xml" Id="Rf7cfa17e50194402" /><Relationship Type="http://schemas.openxmlformats.org/officeDocument/2006/relationships/slideLayout" Target="/ppt/slideLayouts/slideLayout2.xml" Id="R2f9438d749c6457b" /><Relationship Type="http://schemas.openxmlformats.org/officeDocument/2006/relationships/slideLayout" Target="/ppt/slideLayouts/slideLayout3.xml" Id="Re4ee2c3d9ff5470c" /><Relationship Type="http://schemas.openxmlformats.org/officeDocument/2006/relationships/slideLayout" Target="/ppt/slideLayouts/slideLayout4.xml" Id="Rf5d71dd29c124d98" /><Relationship Type="http://schemas.openxmlformats.org/officeDocument/2006/relationships/slideLayout" Target="/ppt/slideLayouts/slideLayout5.xml" Id="Rfe75dc2ff6a34498" /><Relationship Type="http://schemas.openxmlformats.org/officeDocument/2006/relationships/slideLayout" Target="/ppt/slideLayouts/slideLayout6.xml" Id="R879c97426fec41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cfa17e50194402"/>
    <p:sldLayoutId xmlns:r="http://schemas.openxmlformats.org/officeDocument/2006/relationships" id="2147483650" r:id="R2f9438d749c6457b"/>
    <p:sldLayoutId xmlns:r="http://schemas.openxmlformats.org/officeDocument/2006/relationships" id="2147483651" r:id="Re4ee2c3d9ff5470c"/>
    <p:sldLayoutId xmlns:r="http://schemas.openxmlformats.org/officeDocument/2006/relationships" id="2147483652" r:id="Rf5d71dd29c124d98"/>
    <p:sldLayoutId xmlns:r="http://schemas.openxmlformats.org/officeDocument/2006/relationships" id="2147483653" r:id="Rfe75dc2ff6a34498"/>
    <p:sldLayoutId xmlns:r="http://schemas.openxmlformats.org/officeDocument/2006/relationships" id="2147483654" r:id="R879c97426fec41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40a1aeedba4163" /><Relationship Type="http://schemas.openxmlformats.org/officeDocument/2006/relationships/notesSlide" Target="/ppt/notesSlides/notesSlide1.xml" Id="Re52ed4916bfe49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2c54e0effe4bc3" /><Relationship Type="http://schemas.openxmlformats.org/officeDocument/2006/relationships/image" Target="/ppt/media/image.png" Id="R8e08b4cedf88455f" /><Relationship Type="http://schemas.openxmlformats.org/officeDocument/2006/relationships/notesSlide" Target="/ppt/notesSlides/notesSlide2.xml" Id="R6e40d930905446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34e04a033347ad" /><Relationship Type="http://schemas.openxmlformats.org/officeDocument/2006/relationships/image" Target="/ppt/media/image2.png" Id="R9641282473cc4d3c" /><Relationship Type="http://schemas.openxmlformats.org/officeDocument/2006/relationships/notesSlide" Target="/ppt/notesSlides/notesSlide3.xml" Id="Rfc3fc95aa25c46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372d53842a44de" /><Relationship Type="http://schemas.openxmlformats.org/officeDocument/2006/relationships/notesSlide" Target="/ppt/notesSlides/notesSlide4.xml" Id="Rb66ea48c16c241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4ba62e111f41b4" /><Relationship Type="http://schemas.openxmlformats.org/officeDocument/2006/relationships/chart" Target="/ppt/slides/charts/chart1.xml" Id="R331adbf5dbf547b0" /><Relationship Type="http://schemas.openxmlformats.org/officeDocument/2006/relationships/notesSlide" Target="/ppt/notesSlides/notesSlide5.xml" Id="R938cff1b542c4b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e720cdb1c043c6" /><Relationship Type="http://schemas.openxmlformats.org/officeDocument/2006/relationships/notesSlide" Target="/ppt/notesSlides/notesSlide6.xml" Id="R2efb866507c94b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ef14c4d40943a4" /><Relationship Type="http://schemas.openxmlformats.org/officeDocument/2006/relationships/chart" Target="/ppt/slides/charts/chart2.xml" Id="R466e7a42f0644ffb" /><Relationship Type="http://schemas.openxmlformats.org/officeDocument/2006/relationships/notesSlide" Target="/ppt/notesSlides/notesSlide7.xml" Id="R8d0291d3005544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85c6f0a5fcd4de1" /><Relationship Type="http://schemas.openxmlformats.org/officeDocument/2006/relationships/image" Target="/ppt/media/image3.png" Id="Rd5bbc830d03c47bc" /><Relationship Type="http://schemas.openxmlformats.org/officeDocument/2006/relationships/notesSlide" Target="/ppt/notesSlides/notesSlide8.xml" Id="R3cf9dc8acb8e42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4b4e4252cb496e" /><Relationship Type="http://schemas.openxmlformats.org/officeDocument/2006/relationships/image" Target="/ppt/media/image4.png" Id="R679010d3539c4134" /><Relationship Type="http://schemas.openxmlformats.org/officeDocument/2006/relationships/notesSlide" Target="/ppt/notesSlides/notesSlide9.xml" Id="Rd71fe51faaf249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ee9e759ccd42ff" /><Relationship Type="http://schemas.openxmlformats.org/officeDocument/2006/relationships/chart" Target="/ppt/slides/charts/chart3.xml" Id="R1ec1ecd5bc44406e" /><Relationship Type="http://schemas.openxmlformats.org/officeDocument/2006/relationships/notesSlide" Target="/ppt/notesSlides/notesSlide10.xml" Id="R4451b4a172004d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bfe078c78aa4b37" /><Relationship Type="http://schemas.openxmlformats.org/officeDocument/2006/relationships/chart" Target="/ppt/slides/charts/chart4.xml" Id="R32b2ea662b46483b" /><Relationship Type="http://schemas.openxmlformats.org/officeDocument/2006/relationships/notesSlide" Target="/ppt/notesSlides/notesSlide11.xml" Id="R4ff716d929e84b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f7591bc02ee4bb8" /><Relationship Type="http://schemas.openxmlformats.org/officeDocument/2006/relationships/notesSlide" Target="/ppt/notesSlides/notesSlide12.xml" Id="R9c16026f987540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413f63b175f4f51" /><Relationship Type="http://schemas.openxmlformats.org/officeDocument/2006/relationships/notesSlide" Target="/ppt/notesSlides/notesSlide13.xml" Id="R1069c24fbd6f40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5a93acbcf9446b1" /><Relationship Type="http://schemas.openxmlformats.org/officeDocument/2006/relationships/notesSlide" Target="/ppt/notesSlides/notesSlide14.xml" Id="R2f5bc42f08e144d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bdb88bef66948f1" /><Relationship Type="http://schemas.openxmlformats.org/officeDocument/2006/relationships/notesSlide" Target="/ppt/notesSlides/notesSlide15.xml" Id="Ra8928526a2d947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10289f03211469b" /><Relationship Type="http://schemas.openxmlformats.org/officeDocument/2006/relationships/notesSlide" Target="/ppt/notesSlides/notesSlide16.xml" Id="Rade2f878afc140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0bdce526a2844e1" /><Relationship Type="http://schemas.openxmlformats.org/officeDocument/2006/relationships/notesSlide" Target="/ppt/notesSlides/notesSlide17.xml" Id="R2c8353d463754cd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a50c114ff074dcd" /><Relationship Type="http://schemas.openxmlformats.org/officeDocument/2006/relationships/notesSlide" Target="/ppt/notesSlides/notesSlide18.xml" Id="R32040340f8784d8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Variance in the first two principal components</c:v>
          </c:tx>
          <c:spPr>
            <a:solidFill xmlns:a="http://schemas.openxmlformats.org/drawingml/2006/main">
              <a:srgbClr val="215D91"/>
            </a:solidFill>
          </c:spPr>
          <c:invertIfNegative val="0"/>
          <c:cat>
            <c:strRef>
              <c:f>'Chart Data'!$A$2:$A$4</c:f>
              <c:strCache>
                <c:ptCount val="3"/>
                <c:pt idx="0">
                  <c:v>Target futures</c:v>
                </c:pt>
                <c:pt idx="1">
                  <c:v>White-source velocity</c:v>
                </c:pt>
                <c:pt idx="2">
                  <c:v>GP-source velocity</c:v>
                </c:pt>
              </c:strCache>
            </c:strRef>
          </c:cat>
          <c:val>
            <c:numRef>
              <c:f>'Chart Data'!$B$2:$B$4</c:f>
              <c:numCache>
                <c:formatCode>0.0</c:formatCode>
                <c:ptCount val="3"/>
                <c:pt idx="0">
                  <c:v>98.059823</c:v>
                </c:pt>
                <c:pt idx="1">
                  <c:v>85.039309</c:v>
                </c:pt>
                <c:pt idx="2">
                  <c:v>97.843575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A3A"/>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5E0E8"/>
              </a:solidFill>
            </a:ln>
          </c:spPr>
        </c:majorGridlines>
        <c:title>
          <c:tx>
            <c:rich>
              <a:bodyPr xmlns:a="http://schemas.openxmlformats.org/drawingml/2006/main"/>
              <a:lstStyle xmlns:a="http://schemas.openxmlformats.org/drawingml/2006/main"/>
              <a:p xmlns:a="http://schemas.openxmlformats.org/drawingml/2006/main">
                <a:r>
                  <a:rPr sz="1725">
                    <a:solidFill>
                      <a:srgbClr val="172A3A"/>
                    </a:solidFill>
                    <a:latin typeface="Arial"/>
                    <a:ea typeface="Arial"/>
                    <a:cs typeface="Arial"/>
                  </a:rPr>
                  <a:t>Variance captured (%)</a:t>
                </a:r>
              </a:p>
            </c:rich>
          </c:tx>
          <c:overlay val="0"/>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A3A"/>
              </a:solidFill>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R1: adjacent changes</c:v>
          </c:tx>
          <c:spPr>
            <a:solidFill xmlns:a="http://schemas.openxmlformats.org/drawingml/2006/main">
              <a:srgbClr val="215D91"/>
            </a:solidFill>
          </c:spPr>
          <c:invertIfNegative val="0"/>
          <c:cat>
            <c:strRef>
              <c:f>'Chart Data'!$A$2:$A$4</c:f>
              <c:strCache>
                <c:ptCount val="3"/>
                <c:pt idx="0">
                  <c:v>MLP</c:v>
                </c:pt>
                <c:pt idx="1">
                  <c:v>S4</c:v>
                </c:pt>
                <c:pt idx="2">
                  <c:v>Whitened MLP</c:v>
                </c:pt>
              </c:strCache>
            </c:strRef>
          </c:cat>
          <c:val>
            <c:numRef>
              <c:f>'Chart Data'!$B$2:$B$4</c:f>
              <c:numCache>
                <c:formatCode>0.00</c:formatCode>
                <c:ptCount val="3"/>
                <c:pt idx="0">
                  <c:v>1.0065867</c:v>
                </c:pt>
                <c:pt idx="1">
                  <c:v>1.0323855</c:v>
                </c:pt>
                <c:pt idx="2">
                  <c:v>1.0052486</c:v>
                </c:pt>
              </c:numCache>
            </c:numRef>
          </c:val>
        </c:ser>
        <c:ser>
          <c:idx val="1"/>
          <c:order val="1"/>
          <c:tx>
            <c:v>R2: changes of slope</c:v>
          </c:tx>
          <c:spPr>
            <a:solidFill xmlns:a="http://schemas.openxmlformats.org/drawingml/2006/main">
              <a:srgbClr val="C45B24"/>
            </a:solidFill>
          </c:spPr>
          <c:invertIfNegative val="0"/>
          <c:cat>
            <c:strRef>
              <c:f>'Chart Data'!$C$2:$C$4</c:f>
              <c:strCache>
                <c:ptCount val="3"/>
                <c:pt idx="0">
                  <c:v>MLP</c:v>
                </c:pt>
                <c:pt idx="1">
                  <c:v>S4</c:v>
                </c:pt>
                <c:pt idx="2">
                  <c:v>Whitened MLP</c:v>
                </c:pt>
              </c:strCache>
            </c:strRef>
          </c:cat>
          <c:val>
            <c:numRef>
              <c:f>'Chart Data'!$D$2:$D$4</c:f>
              <c:numCache>
                <c:formatCode>0.00</c:formatCode>
                <c:ptCount val="3"/>
                <c:pt idx="0">
                  <c:v>0.98836492</c:v>
                </c:pt>
                <c:pt idx="1">
                  <c:v>1.6276357</c:v>
                </c:pt>
                <c:pt idx="2">
                  <c:v>0.99021738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A3A"/>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E0E8"/>
              </a:solidFill>
            </a:ln>
          </c:spPr>
        </c:majorGridlines>
        <c:title>
          <c:tx>
            <c:rich>
              <a:bodyPr xmlns:a="http://schemas.openxmlformats.org/drawingml/2006/main"/>
              <a:lstStyle xmlns:a="http://schemas.openxmlformats.org/drawingml/2006/main"/>
              <a:p xmlns:a="http://schemas.openxmlformats.org/drawingml/2006/main">
                <a:r>
                  <a:rPr sz="1725">
                    <a:solidFill>
                      <a:srgbClr val="172A3A"/>
                    </a:solidFill>
                    <a:latin typeface="Arial"/>
                    <a:ea typeface="Arial"/>
                    <a:cs typeface="Arial"/>
                  </a:rPr>
                  <a:t>Generated / observed</a:t>
                </a:r>
              </a:p>
            </c:rich>
          </c:tx>
          <c:overlay val="0"/>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A3A"/>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MLP</c:v>
          </c:tx>
          <c:spPr>
            <a:solidFill xmlns:a="http://schemas.openxmlformats.org/drawingml/2006/main">
              <a:srgbClr val="215D91"/>
            </a:solidFill>
          </c:spPr>
          <c:invertIfNegative val="0"/>
          <c:cat>
            <c:strRef>
              <c:f>'Chart Data'!$A$2:$A$4</c:f>
              <c:strCache>
                <c:ptCount val="3"/>
                <c:pt idx="0">
                  <c:v>Train mean/std</c:v>
                </c:pt>
                <c:pt idx="1">
                  <c:v>+ history centering</c:v>
                </c:pt>
                <c:pt idx="2">
                  <c:v>+ history mean/std</c:v>
                </c:pt>
              </c:strCache>
            </c:strRef>
          </c:cat>
          <c:val>
            <c:numRef>
              <c:f>'Chart Data'!$B$2:$B$4</c:f>
              <c:numCache>
                <c:formatCode>0.000</c:formatCode>
                <c:ptCount val="3"/>
                <c:pt idx="0">
                  <c:v>0.2164798</c:v>
                </c:pt>
                <c:pt idx="1">
                  <c:v>0.098210571</c:v>
                </c:pt>
                <c:pt idx="2">
                  <c:v>0.098469564</c:v>
                </c:pt>
              </c:numCache>
            </c:numRef>
          </c:val>
        </c:ser>
        <c:ser>
          <c:idx val="1"/>
          <c:order val="1"/>
          <c:tx>
            <c:v>S4</c:v>
          </c:tx>
          <c:spPr>
            <a:solidFill xmlns:a="http://schemas.openxmlformats.org/drawingml/2006/main">
              <a:srgbClr val="C45B24"/>
            </a:solidFill>
          </c:spPr>
          <c:invertIfNegative val="0"/>
          <c:cat>
            <c:strRef>
              <c:f>'Chart Data'!$C$2:$C$4</c:f>
              <c:strCache>
                <c:ptCount val="3"/>
                <c:pt idx="0">
                  <c:v>Train mean/std</c:v>
                </c:pt>
                <c:pt idx="1">
                  <c:v>+ history centering</c:v>
                </c:pt>
                <c:pt idx="2">
                  <c:v>+ history mean/std</c:v>
                </c:pt>
              </c:strCache>
            </c:strRef>
          </c:cat>
          <c:val>
            <c:numRef>
              <c:f>'Chart Data'!$D$2:$D$4</c:f>
              <c:numCache>
                <c:formatCode>0.000</c:formatCode>
                <c:ptCount val="3"/>
                <c:pt idx="0">
                  <c:v>0.17480288</c:v>
                </c:pt>
                <c:pt idx="1">
                  <c:v>0.098071266</c:v>
                </c:pt>
                <c:pt idx="2">
                  <c:v>0.10051388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2A3A"/>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E0E8"/>
              </a:solidFill>
            </a:ln>
          </c:spPr>
        </c:majorGridlines>
        <c:title>
          <c:tx>
            <c:rich>
              <a:bodyPr xmlns:a="http://schemas.openxmlformats.org/drawingml/2006/main"/>
              <a:lstStyle xmlns:a="http://schemas.openxmlformats.org/drawingml/2006/main"/>
              <a:p xmlns:a="http://schemas.openxmlformats.org/drawingml/2006/main">
                <a:r>
                  <a:rPr sz="1725">
                    <a:solidFill>
                      <a:srgbClr val="172A3A"/>
                    </a:solidFill>
                    <a:latin typeface="Arial"/>
                    <a:ea typeface="Arial"/>
                    <a:cs typeface="Arial"/>
                  </a:rPr>
                  <a:t>CRPS (training-std units)</a:t>
                </a:r>
              </a:p>
            </c:rich>
          </c:tx>
          <c:overlay val="0"/>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A3A"/>
              </a:solidFill>
              <a:latin typeface="Arial"/>
              <a:ea typeface="Arial"/>
              <a:cs typeface="Arial"/>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MLP</c:v>
          </c:tx>
          <c:spPr>
            <a:solidFill xmlns:a="http://schemas.openxmlformats.org/drawingml/2006/main">
              <a:srgbClr val="215D91"/>
            </a:solidFill>
          </c:spPr>
          <c:invertIfNegative val="0"/>
          <c:cat>
            <c:strRef>
              <c:f>'Chart Data'!$A$2:$A$5</c:f>
              <c:strCache>
                <c:ptCount val="4"/>
                <c:pt idx="0">
                  <c:v>Synthetic GP (3)</c:v>
                </c:pt>
                <c:pt idx="1">
                  <c:v>Oil temperature (1)</c:v>
                </c:pt>
                <c:pt idx="2">
                  <c:v>ETTh1 (7)</c:v>
                </c:pt>
                <c:pt idx="3">
                  <c:v>Exchange rates (8)</c:v>
                </c:pt>
              </c:strCache>
            </c:strRef>
          </c:cat>
          <c:val>
            <c:numRef>
              <c:f>'Chart Data'!$B$2:$B$5</c:f>
              <c:numCache>
                <c:formatCode>0.000</c:formatCode>
                <c:ptCount val="4"/>
                <c:pt idx="0">
                  <c:v>0.33281543</c:v>
                </c:pt>
                <c:pt idx="1">
                  <c:v>0.19498802</c:v>
                </c:pt>
                <c:pt idx="2">
                  <c:v>0.37502657</c:v>
                </c:pt>
                <c:pt idx="3">
                  <c:v>0.38519592</c:v>
                </c:pt>
              </c:numCache>
            </c:numRef>
          </c:val>
        </c:ser>
        <c:ser>
          <c:idx val="1"/>
          <c:order val="1"/>
          <c:tx>
            <c:v>S4</c:v>
          </c:tx>
          <c:spPr>
            <a:solidFill xmlns:a="http://schemas.openxmlformats.org/drawingml/2006/main">
              <a:srgbClr val="C45B24"/>
            </a:solidFill>
          </c:spPr>
          <c:invertIfNegative val="0"/>
          <c:cat>
            <c:strRef>
              <c:f>'Chart Data'!$C$2:$C$5</c:f>
              <c:strCache>
                <c:ptCount val="4"/>
                <c:pt idx="0">
                  <c:v>Synthetic GP (3)</c:v>
                </c:pt>
                <c:pt idx="1">
                  <c:v>Oil temperature (1)</c:v>
                </c:pt>
                <c:pt idx="2">
                  <c:v>ETTh1 (7)</c:v>
                </c:pt>
                <c:pt idx="3">
                  <c:v>Exchange rates (8)</c:v>
                </c:pt>
              </c:strCache>
            </c:strRef>
          </c:cat>
          <c:val>
            <c:numRef>
              <c:f>'Chart Data'!$D$2:$D$5</c:f>
              <c:numCache>
                <c:formatCode>0.000</c:formatCode>
                <c:ptCount val="4"/>
                <c:pt idx="0">
                  <c:v>0.33178831</c:v>
                </c:pt>
                <c:pt idx="1">
                  <c:v>0.14371699</c:v>
                </c:pt>
                <c:pt idx="2">
                  <c:v>0.40333504</c:v>
                </c:pt>
                <c:pt idx="3">
                  <c:v>0.42545359</c:v>
                </c:pt>
              </c:numCache>
            </c:numRef>
          </c:val>
        </c:ser>
        <c:ser>
          <c:idx val="2"/>
          <c:order val="2"/>
          <c:tx>
            <c:v>Whitened MLP</c:v>
          </c:tx>
          <c:spPr>
            <a:solidFill xmlns:a="http://schemas.openxmlformats.org/drawingml/2006/main">
              <a:srgbClr val="287C62"/>
            </a:solidFill>
          </c:spPr>
          <c:invertIfNegative val="0"/>
          <c:cat>
            <c:strRef>
              <c:f>'Chart Data'!$E$2:$E$5</c:f>
              <c:strCache>
                <c:ptCount val="4"/>
                <c:pt idx="0">
                  <c:v>Synthetic GP (3)</c:v>
                </c:pt>
                <c:pt idx="1">
                  <c:v>Oil temperature (1)</c:v>
                </c:pt>
                <c:pt idx="2">
                  <c:v>ETTh1 (7)</c:v>
                </c:pt>
                <c:pt idx="3">
                  <c:v>Exchange rates (8)</c:v>
                </c:pt>
              </c:strCache>
            </c:strRef>
          </c:cat>
          <c:val>
            <c:numRef>
              <c:f>'Chart Data'!$F$2:$F$5</c:f>
              <c:numCache>
                <c:formatCode>0.000</c:formatCode>
                <c:ptCount val="4"/>
                <c:pt idx="0">
                  <c:v>0.30948023</c:v>
                </c:pt>
                <c:pt idx="1">
                  <c:v>0.13208565</c:v>
                </c:pt>
                <c:pt idx="2">
                  <c:v>0.52977192</c:v>
                </c:pt>
                <c:pt idx="3">
                  <c:v>0.56403603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172A3A"/>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72A3A"/>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E0E8"/>
              </a:solidFill>
            </a:ln>
          </c:spPr>
        </c:majorGridlines>
        <c:title>
          <c:tx>
            <c:rich>
              <a:bodyPr xmlns:a="http://schemas.openxmlformats.org/drawingml/2006/main"/>
              <a:lstStyle xmlns:a="http://schemas.openxmlformats.org/drawingml/2006/main"/>
              <a:p xmlns:a="http://schemas.openxmlformats.org/drawingml/2006/main">
                <a:r>
                  <a:rPr sz="1725">
                    <a:solidFill>
                      <a:srgbClr val="172A3A"/>
                    </a:solidFill>
                    <a:latin typeface="Arial"/>
                    <a:ea typeface="Arial"/>
                    <a:cs typeface="Arial"/>
                  </a:rPr>
                  <a:t>Mean CRPS (training-std units)</a:t>
                </a:r>
              </a:p>
            </c:rich>
          </c:tx>
          <c:overlay val="0"/>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72A3A"/>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A3A"/>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32D4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C86A0A4-7B03-403B-ADBF-18A11F75D0BF}"/>
              </a:ext>
            </a:extLst>
          </p:cNvPr>
          <p:cNvSpPr>
            <a:spLocks xmlns:a="http://schemas.openxmlformats.org/drawingml/2006/main" noGrp="1"/>
          </p:cNvSpPr>
          <p:nvPr/>
        </p:nvSpPr>
        <p:spPr>
          <a:xfrm xmlns:a="http://schemas.openxmlformats.org/drawingml/2006/main">
            <a:off x="723900" y="952500"/>
            <a:ext cx="10477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650" b="1">
                <a:solidFill>
                  <a:srgbClr val="FFFFFF"/>
                </a:solidFill>
                <a:latin typeface="Arial"/>
                <a:ea typeface="Arial"/>
                <a:cs typeface="Arial"/>
              </a:defRPr>
            </a:defPPr>
            <a:lvl1pPr>
              <a:defRPr sz="4650" b="1">
                <a:solidFill>
                  <a:srgbClr val="FFFFFF"/>
                </a:solidFill>
                <a:latin typeface="Arial"/>
                <a:ea typeface="Arial"/>
                <a:cs typeface="Arial"/>
              </a:defRPr>
            </a:lvl1pPr>
            <a:lvl2pPr>
              <a:defRPr sz="4650" b="1">
                <a:solidFill>
                  <a:srgbClr val="FFFFFF"/>
                </a:solidFill>
                <a:latin typeface="Arial"/>
                <a:ea typeface="Arial"/>
                <a:cs typeface="Arial"/>
              </a:defRPr>
            </a:lvl2pPr>
            <a:lvl3pPr>
              <a:defRPr sz="4650" b="1">
                <a:solidFill>
                  <a:srgbClr val="FFFFFF"/>
                </a:solidFill>
                <a:latin typeface="Arial"/>
                <a:ea typeface="Arial"/>
                <a:cs typeface="Arial"/>
              </a:defRPr>
            </a:lvl3pPr>
            <a:lvl4pPr>
              <a:defRPr sz="4650" b="1">
                <a:solidFill>
                  <a:srgbClr val="FFFFFF"/>
                </a:solidFill>
                <a:latin typeface="Arial"/>
                <a:ea typeface="Arial"/>
                <a:cs typeface="Arial"/>
              </a:defRPr>
            </a:lvl4pPr>
            <a:lvl5pPr>
              <a:defRPr sz="4650" b="1">
                <a:solidFill>
                  <a:srgbClr val="FFFFFF"/>
                </a:solidFill>
                <a:latin typeface="Arial"/>
                <a:ea typeface="Arial"/>
                <a:cs typeface="Arial"/>
              </a:defRPr>
            </a:lvl5pPr>
            <a:lvl6pPr>
              <a:defRPr sz="4650" b="1">
                <a:solidFill>
                  <a:srgbClr val="FFFFFF"/>
                </a:solidFill>
                <a:latin typeface="Arial"/>
                <a:ea typeface="Arial"/>
                <a:cs typeface="Arial"/>
              </a:defRPr>
            </a:lvl6pPr>
            <a:lvl7pPr>
              <a:defRPr sz="4650" b="1">
                <a:solidFill>
                  <a:srgbClr val="FFFFFF"/>
                </a:solidFill>
                <a:latin typeface="Arial"/>
                <a:ea typeface="Arial"/>
                <a:cs typeface="Arial"/>
              </a:defRPr>
            </a:lvl7pPr>
            <a:lvl8pPr>
              <a:defRPr sz="4650" b="1">
                <a:solidFill>
                  <a:srgbClr val="FFFFFF"/>
                </a:solidFill>
                <a:latin typeface="Arial"/>
                <a:ea typeface="Arial"/>
                <a:cs typeface="Arial"/>
              </a:defRPr>
            </a:lvl8pPr>
            <a:lvl9pPr>
              <a:defRPr sz="4650" b="1">
                <a:solidFill>
                  <a:srgbClr val="FFFFFF"/>
                </a:solidFill>
                <a:latin typeface="Arial"/>
                <a:ea typeface="Arial"/>
                <a:cs typeface="Arial"/>
              </a:defRPr>
            </a:lvl9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Smooth source,</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unstructured head</a:t>
            </a:r>
          </a:p>
        </p:txBody>
      </p:sp>
      <p:sp>
        <p:nvSpPr>
          <p:cNvPr id="2" name="">
            <a:extLst xmlns:a="http://schemas.openxmlformats.org/drawingml/2006/main">
              <a:ext uri="{FF2B5EF4-FFF2-40B4-BE49-F238E27FC236}">
                <a16:creationId xmlns:a16="http://schemas.microsoft.com/office/drawing/2014/main" id="{C36D0084-F9DA-4901-90C6-5E90B03550D2}"/>
              </a:ext>
            </a:extLst>
          </p:cNvPr>
          <p:cNvSpPr>
            <a:spLocks xmlns:a="http://schemas.openxmlformats.org/drawingml/2006/main" noGrp="1"/>
          </p:cNvSpPr>
          <p:nvPr/>
        </p:nvSpPr>
        <p:spPr>
          <a:xfrm xmlns:a="http://schemas.openxmlformats.org/drawingml/2006/main">
            <a:off x="762000" y="31432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D1E4F3"/>
                </a:solidFill>
                <a:latin typeface="Arial"/>
                <a:ea typeface="Arial"/>
                <a:cs typeface="Arial"/>
              </a:defRPr>
            </a:defPPr>
            <a:lvl1pPr>
              <a:defRPr sz="2550" b="0">
                <a:solidFill>
                  <a:srgbClr val="D1E4F3"/>
                </a:solidFill>
                <a:latin typeface="Arial"/>
                <a:ea typeface="Arial"/>
                <a:cs typeface="Arial"/>
              </a:defRPr>
            </a:lvl1pPr>
            <a:lvl2pPr>
              <a:defRPr sz="2550" b="0">
                <a:solidFill>
                  <a:srgbClr val="D1E4F3"/>
                </a:solidFill>
                <a:latin typeface="Arial"/>
                <a:ea typeface="Arial"/>
                <a:cs typeface="Arial"/>
              </a:defRPr>
            </a:lvl2pPr>
            <a:lvl3pPr>
              <a:defRPr sz="2550" b="0">
                <a:solidFill>
                  <a:srgbClr val="D1E4F3"/>
                </a:solidFill>
                <a:latin typeface="Arial"/>
                <a:ea typeface="Arial"/>
                <a:cs typeface="Arial"/>
              </a:defRPr>
            </a:lvl3pPr>
            <a:lvl4pPr>
              <a:defRPr sz="2550" b="0">
                <a:solidFill>
                  <a:srgbClr val="D1E4F3"/>
                </a:solidFill>
                <a:latin typeface="Arial"/>
                <a:ea typeface="Arial"/>
                <a:cs typeface="Arial"/>
              </a:defRPr>
            </a:lvl4pPr>
            <a:lvl5pPr>
              <a:defRPr sz="2550" b="0">
                <a:solidFill>
                  <a:srgbClr val="D1E4F3"/>
                </a:solidFill>
                <a:latin typeface="Arial"/>
                <a:ea typeface="Arial"/>
                <a:cs typeface="Arial"/>
              </a:defRPr>
            </a:lvl5pPr>
            <a:lvl6pPr>
              <a:defRPr sz="2550" b="0">
                <a:solidFill>
                  <a:srgbClr val="D1E4F3"/>
                </a:solidFill>
                <a:latin typeface="Arial"/>
                <a:ea typeface="Arial"/>
                <a:cs typeface="Arial"/>
              </a:defRPr>
            </a:lvl6pPr>
            <a:lvl7pPr>
              <a:defRPr sz="2550" b="0">
                <a:solidFill>
                  <a:srgbClr val="D1E4F3"/>
                </a:solidFill>
                <a:latin typeface="Arial"/>
                <a:ea typeface="Arial"/>
                <a:cs typeface="Arial"/>
              </a:defRPr>
            </a:lvl7pPr>
            <a:lvl8pPr>
              <a:defRPr sz="2550" b="0">
                <a:solidFill>
                  <a:srgbClr val="D1E4F3"/>
                </a:solidFill>
                <a:latin typeface="Arial"/>
                <a:ea typeface="Arial"/>
                <a:cs typeface="Arial"/>
              </a:defRPr>
            </a:lvl8pPr>
            <a:lvl9pPr>
              <a:defRPr sz="2550" b="0">
                <a:solidFill>
                  <a:srgbClr val="D1E4F3"/>
                </a:solidFill>
                <a:latin typeface="Arial"/>
                <a:ea typeface="Arial"/>
                <a:cs typeface="Arial"/>
              </a:defRPr>
            </a:lvl9pPr>
          </a:lstStyle>
          <a:p xmlns:a="http://schemas.openxmlformats.org/drawingml/2006/main">
            <a:pPr>
              <a:defRPr sz="2550" b="0">
                <a:solidFill>
                  <a:srgbClr val="D1E4F3"/>
                </a:solidFill>
                <a:latin typeface="Arial"/>
                <a:ea typeface="Arial"/>
                <a:cs typeface="Arial"/>
              </a:defRPr>
            </a:pPr>
            <a:r>
              <a:rPr sz="2550" b="0">
                <a:solidFill>
                  <a:srgbClr val="D1E4F3"/>
                </a:solidFill>
                <a:latin typeface="Arial"/>
                <a:ea typeface="Arial"/>
                <a:cs typeface="Arial"/>
              </a:rPr>
              <a:t>Source = starting noise; head = the forecasting network.</a:t>
            </a:r>
          </a:p>
          <a:p xmlns:a="http://schemas.openxmlformats.org/drawingml/2006/main">
            <a:pPr>
              <a:defRPr sz="2550" b="0">
                <a:solidFill>
                  <a:srgbClr val="D1E4F3"/>
                </a:solidFill>
                <a:latin typeface="Arial"/>
                <a:ea typeface="Arial"/>
                <a:cs typeface="Arial"/>
              </a:defRPr>
            </a:pPr>
            <a:r>
              <a:rPr sz="2550" b="0">
                <a:solidFill>
                  <a:srgbClr val="D1E4F3"/>
                </a:solidFill>
                <a:latin typeface="Arial"/>
                <a:ea typeface="Arial"/>
                <a:cs typeface="Arial"/>
              </a:rPr>
              <a:t>Does smooth noise need a network built for sequences?</a:t>
            </a:r>
          </a:p>
        </p:txBody>
      </p:sp>
      <p:sp>
        <p:nvSpPr>
          <p:cNvPr id="3" name="">
            <a:extLst xmlns:a="http://schemas.openxmlformats.org/drawingml/2006/main">
              <a:ext uri="{FF2B5EF4-FFF2-40B4-BE49-F238E27FC236}">
                <a16:creationId xmlns:a16="http://schemas.microsoft.com/office/drawing/2014/main" id="{27559BAE-E3BE-4F8D-998F-830A9EC64E10}"/>
              </a:ext>
            </a:extLst>
          </p:cNvPr>
          <p:cNvSpPr>
            <a:spLocks xmlns:a="http://schemas.openxmlformats.org/drawingml/2006/main" noGrp="1"/>
          </p:cNvSpPr>
          <p:nvPr/>
        </p:nvSpPr>
        <p:spPr>
          <a:xfrm xmlns:a="http://schemas.openxmlformats.org/drawingml/2006/main">
            <a:off x="762000" y="5143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Daniil Koblov · Vasilii Lyamin · Egor Serov · Kirill Frolov</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Sequential Data project · 26 October 2026</a:t>
            </a:r>
          </a:p>
        </p:txBody>
      </p:sp>
    </p:spTree>
    <p:extLst>
      <p:ext uri="{BB962C8B-B14F-4D97-AF65-F5344CB8AC3E}">
        <p14:creationId xmlns:p14="http://schemas.microsoft.com/office/powerpoint/2010/main" val="10174549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CBA9BB-9B24-4C8C-8F4E-594C92BCE3BC}"/>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Forecasting a distribution of future trajectories</a:t>
            </a:r>
          </a:p>
        </p:txBody>
      </p:sp>
      <p:pic>
        <p:nvPicPr>
          <p:cNvPr id="2" name="">
            <a:extLst xmlns:a="http://schemas.openxmlformats.org/drawingml/2006/main">
              <a:ext uri="{FF2B5EF4-FFF2-40B4-BE49-F238E27FC236}">
                <a16:creationId xmlns:a16="http://schemas.microsoft.com/office/drawing/2014/main" id="{6D82898C-C66E-418B-863A-98A83093806F}"/>
              </a:ext>
            </a:extLst>
          </p:cNvPr>
          <p:cNvPicPr>
            <a:picLocks xmlns:a="http://schemas.openxmlformats.org/drawingml/2006/main" noChangeAspect="1"/>
          </p:cNvPicPr>
          <p:nvPr/>
        </p:nvPicPr>
        <p:blipFill>
          <a:blip xmlns:r="http://schemas.openxmlformats.org/officeDocument/2006/relationships" xmlns:a="http://schemas.openxmlformats.org/drawingml/2006/main" r:embed="R8e08b4cedf88455f"/>
          <a:stretch xmlns:a="http://schemas.openxmlformats.org/drawingml/2006/main"/>
        </p:blipFill>
        <p:spPr>
          <a:xfrm xmlns:a="http://schemas.openxmlformats.org/drawingml/2006/main">
            <a:off x="609600" y="1701828"/>
            <a:ext cx="10972800" cy="362579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8F20EC-178D-4FD5-AE38-C05DC3002D0D}"/>
              </a:ext>
            </a:extLst>
          </p:cNvPr>
          <p:cNvSpPr>
            <a:spLocks xmlns:a="http://schemas.openxmlformats.org/drawingml/2006/main" noGrp="1"/>
          </p:cNvSpPr>
          <p:nvPr/>
        </p:nvSpPr>
        <p:spPr>
          <a:xfrm xmlns:a="http://schemas.openxmlformats.org/drawingml/2006/main">
            <a:off x="723900" y="55435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43596C"/>
                </a:solidFill>
                <a:latin typeface="Arial"/>
                <a:ea typeface="Arial"/>
                <a:cs typeface="Arial"/>
              </a:defRPr>
            </a:defPPr>
            <a:lvl1pPr>
              <a:defRPr sz="1650" b="0">
                <a:solidFill>
                  <a:srgbClr val="43596C"/>
                </a:solidFill>
                <a:latin typeface="Arial"/>
                <a:ea typeface="Arial"/>
                <a:cs typeface="Arial"/>
              </a:defRPr>
            </a:lvl1pPr>
            <a:lvl2pPr>
              <a:defRPr sz="1650" b="0">
                <a:solidFill>
                  <a:srgbClr val="43596C"/>
                </a:solidFill>
                <a:latin typeface="Arial"/>
                <a:ea typeface="Arial"/>
                <a:cs typeface="Arial"/>
              </a:defRPr>
            </a:lvl2pPr>
            <a:lvl3pPr>
              <a:defRPr sz="1650" b="0">
                <a:solidFill>
                  <a:srgbClr val="43596C"/>
                </a:solidFill>
                <a:latin typeface="Arial"/>
                <a:ea typeface="Arial"/>
                <a:cs typeface="Arial"/>
              </a:defRPr>
            </a:lvl3pPr>
            <a:lvl4pPr>
              <a:defRPr sz="1650" b="0">
                <a:solidFill>
                  <a:srgbClr val="43596C"/>
                </a:solidFill>
                <a:latin typeface="Arial"/>
                <a:ea typeface="Arial"/>
                <a:cs typeface="Arial"/>
              </a:defRPr>
            </a:lvl4pPr>
            <a:lvl5pPr>
              <a:defRPr sz="1650" b="0">
                <a:solidFill>
                  <a:srgbClr val="43596C"/>
                </a:solidFill>
                <a:latin typeface="Arial"/>
                <a:ea typeface="Arial"/>
                <a:cs typeface="Arial"/>
              </a:defRPr>
            </a:lvl5pPr>
            <a:lvl6pPr>
              <a:defRPr sz="1650" b="0">
                <a:solidFill>
                  <a:srgbClr val="43596C"/>
                </a:solidFill>
                <a:latin typeface="Arial"/>
                <a:ea typeface="Arial"/>
                <a:cs typeface="Arial"/>
              </a:defRPr>
            </a:lvl6pPr>
            <a:lvl7pPr>
              <a:defRPr sz="1650" b="0">
                <a:solidFill>
                  <a:srgbClr val="43596C"/>
                </a:solidFill>
                <a:latin typeface="Arial"/>
                <a:ea typeface="Arial"/>
                <a:cs typeface="Arial"/>
              </a:defRPr>
            </a:lvl7pPr>
            <a:lvl8pPr>
              <a:defRPr sz="1650" b="0">
                <a:solidFill>
                  <a:srgbClr val="43596C"/>
                </a:solidFill>
                <a:latin typeface="Arial"/>
                <a:ea typeface="Arial"/>
                <a:cs typeface="Arial"/>
              </a:defRPr>
            </a:lvl8pPr>
            <a:lvl9pPr>
              <a:defRPr sz="1650" b="0">
                <a:solidFill>
                  <a:srgbClr val="43596C"/>
                </a:solidFill>
                <a:latin typeface="Arial"/>
                <a:ea typeface="Arial"/>
                <a:cs typeface="Arial"/>
              </a:defRPr>
            </a:lvl9pPr>
          </a:lstStyle>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Synthetic data: a Gaussian process (GP), a distribution of smooth random curves.</a:t>
            </a:r>
          </a:p>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Values = (value − history mean) / history standard deviation; time is in sample steps.</a:t>
            </a:r>
          </a:p>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One noise draw gives one future trajectory; repeat draws to sample the distribution.</a:t>
            </a:r>
          </a:p>
        </p:txBody>
      </p:sp>
      <p:sp>
        <p:nvSpPr>
          <p:cNvPr id="4" name="">
            <a:extLst xmlns:a="http://schemas.openxmlformats.org/drawingml/2006/main">
              <a:ext uri="{FF2B5EF4-FFF2-40B4-BE49-F238E27FC236}">
                <a16:creationId xmlns:a16="http://schemas.microsoft.com/office/drawing/2014/main" id="{A74F2E42-44DA-413A-BEE7-E9F451A61E2E}"/>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2</a:t>
            </a:r>
          </a:p>
        </p:txBody>
      </p:sp>
    </p:spTree>
    <p:extLst>
      <p:ext uri="{BB962C8B-B14F-4D97-AF65-F5344CB8AC3E}">
        <p14:creationId xmlns:p14="http://schemas.microsoft.com/office/powerpoint/2010/main" val="8317619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B38ABF-B876-4A0A-9E80-84F9F03C3E01}"/>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The network predicts velocity; integration gives a forecast</a:t>
            </a:r>
          </a:p>
        </p:txBody>
      </p:sp>
      <p:pic>
        <p:nvPicPr>
          <p:cNvPr id="2" name="">
            <a:extLst xmlns:a="http://schemas.openxmlformats.org/drawingml/2006/main">
              <a:ext uri="{FF2B5EF4-FFF2-40B4-BE49-F238E27FC236}">
                <a16:creationId xmlns:a16="http://schemas.microsoft.com/office/drawing/2014/main" id="{D127300E-6346-4D4E-B797-9CCFE6E77D2A}"/>
              </a:ext>
            </a:extLst>
          </p:cNvPr>
          <p:cNvPicPr>
            <a:picLocks xmlns:a="http://schemas.openxmlformats.org/drawingml/2006/main" noChangeAspect="1"/>
          </p:cNvPicPr>
          <p:nvPr/>
        </p:nvPicPr>
        <p:blipFill>
          <a:blip xmlns:r="http://schemas.openxmlformats.org/officeDocument/2006/relationships" xmlns:a="http://schemas.openxmlformats.org/drawingml/2006/main" r:embed="R9641282473cc4d3c"/>
          <a:stretch xmlns:a="http://schemas.openxmlformats.org/drawingml/2006/main"/>
        </p:blipFill>
        <p:spPr>
          <a:xfrm xmlns:a="http://schemas.openxmlformats.org/drawingml/2006/main">
            <a:off x="1276350" y="1514475"/>
            <a:ext cx="9639300" cy="2095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FF51204-D7A1-4A41-9E59-6DE35BA53D1C}"/>
              </a:ext>
            </a:extLst>
          </p:cNvPr>
          <p:cNvSpPr>
            <a:spLocks xmlns:a="http://schemas.openxmlformats.org/drawingml/2006/main" noGrp="1"/>
          </p:cNvSpPr>
          <p:nvPr/>
        </p:nvSpPr>
        <p:spPr>
          <a:xfrm xmlns:a="http://schemas.openxmlformats.org/drawingml/2006/main">
            <a:off x="742950" y="37147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A3A"/>
                </a:solidFill>
                <a:latin typeface="Arial"/>
                <a:ea typeface="Arial"/>
                <a:cs typeface="Arial"/>
              </a:defRPr>
            </a:defPPr>
            <a:lvl1pPr>
              <a:defRPr sz="1875" b="0">
                <a:solidFill>
                  <a:srgbClr val="172A3A"/>
                </a:solidFill>
                <a:latin typeface="Arial"/>
                <a:ea typeface="Arial"/>
                <a:cs typeface="Arial"/>
              </a:defRPr>
            </a:lvl1pPr>
            <a:lvl2pPr>
              <a:defRPr sz="1875" b="0">
                <a:solidFill>
                  <a:srgbClr val="172A3A"/>
                </a:solidFill>
                <a:latin typeface="Arial"/>
                <a:ea typeface="Arial"/>
                <a:cs typeface="Arial"/>
              </a:defRPr>
            </a:lvl2pPr>
            <a:lvl3pPr>
              <a:defRPr sz="1875" b="0">
                <a:solidFill>
                  <a:srgbClr val="172A3A"/>
                </a:solidFill>
                <a:latin typeface="Arial"/>
                <a:ea typeface="Arial"/>
                <a:cs typeface="Arial"/>
              </a:defRPr>
            </a:lvl3pPr>
            <a:lvl4pPr>
              <a:defRPr sz="1875" b="0">
                <a:solidFill>
                  <a:srgbClr val="172A3A"/>
                </a:solidFill>
                <a:latin typeface="Arial"/>
                <a:ea typeface="Arial"/>
                <a:cs typeface="Arial"/>
              </a:defRPr>
            </a:lvl4pPr>
            <a:lvl5pPr>
              <a:defRPr sz="1875" b="0">
                <a:solidFill>
                  <a:srgbClr val="172A3A"/>
                </a:solidFill>
                <a:latin typeface="Arial"/>
                <a:ea typeface="Arial"/>
                <a:cs typeface="Arial"/>
              </a:defRPr>
            </a:lvl5pPr>
            <a:lvl6pPr>
              <a:defRPr sz="1875" b="0">
                <a:solidFill>
                  <a:srgbClr val="172A3A"/>
                </a:solidFill>
                <a:latin typeface="Arial"/>
                <a:ea typeface="Arial"/>
                <a:cs typeface="Arial"/>
              </a:defRPr>
            </a:lvl6pPr>
            <a:lvl7pPr>
              <a:defRPr sz="1875" b="0">
                <a:solidFill>
                  <a:srgbClr val="172A3A"/>
                </a:solidFill>
                <a:latin typeface="Arial"/>
                <a:ea typeface="Arial"/>
                <a:cs typeface="Arial"/>
              </a:defRPr>
            </a:lvl7pPr>
            <a:lvl8pPr>
              <a:defRPr sz="1875" b="0">
                <a:solidFill>
                  <a:srgbClr val="172A3A"/>
                </a:solidFill>
                <a:latin typeface="Arial"/>
                <a:ea typeface="Arial"/>
                <a:cs typeface="Arial"/>
              </a:defRPr>
            </a:lvl8pPr>
            <a:lvl9pPr>
              <a:defRPr sz="1875" b="0">
                <a:solidFill>
                  <a:srgbClr val="172A3A"/>
                </a:solidFill>
                <a:latin typeface="Arial"/>
                <a:ea typeface="Arial"/>
                <a:cs typeface="Arial"/>
              </a:defRPr>
            </a:lvl9pPr>
          </a:lstStyle>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Training: noise ε, known future y → mixed curve x(t) = (1−t)ε + ty; target u = y−ε.</a:t>
            </a:r>
          </a:p>
        </p:txBody>
      </p:sp>
      <p:sp>
        <p:nvSpPr>
          <p:cNvPr id="4" name="">
            <a:extLst xmlns:a="http://schemas.openxmlformats.org/drawingml/2006/main">
              <a:ext uri="{FF2B5EF4-FFF2-40B4-BE49-F238E27FC236}">
                <a16:creationId xmlns:a16="http://schemas.microsoft.com/office/drawing/2014/main" id="{47E4804D-4370-4BE5-B5AD-F5F1F8B3B8E5}"/>
              </a:ext>
            </a:extLst>
          </p:cNvPr>
          <p:cNvSpPr>
            <a:spLocks xmlns:a="http://schemas.openxmlformats.org/drawingml/2006/main" noGrp="1"/>
          </p:cNvSpPr>
          <p:nvPr/>
        </p:nvSpPr>
        <p:spPr>
          <a:xfrm xmlns:a="http://schemas.openxmlformats.org/drawingml/2006/main">
            <a:off x="742950" y="43053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A3A"/>
                </a:solidFill>
                <a:latin typeface="Arial"/>
                <a:ea typeface="Arial"/>
                <a:cs typeface="Arial"/>
              </a:defRPr>
            </a:defPPr>
            <a:lvl1pPr>
              <a:defRPr sz="1875" b="0">
                <a:solidFill>
                  <a:srgbClr val="172A3A"/>
                </a:solidFill>
                <a:latin typeface="Arial"/>
                <a:ea typeface="Arial"/>
                <a:cs typeface="Arial"/>
              </a:defRPr>
            </a:lvl1pPr>
            <a:lvl2pPr>
              <a:defRPr sz="1875" b="0">
                <a:solidFill>
                  <a:srgbClr val="172A3A"/>
                </a:solidFill>
                <a:latin typeface="Arial"/>
                <a:ea typeface="Arial"/>
                <a:cs typeface="Arial"/>
              </a:defRPr>
            </a:lvl2pPr>
            <a:lvl3pPr>
              <a:defRPr sz="1875" b="0">
                <a:solidFill>
                  <a:srgbClr val="172A3A"/>
                </a:solidFill>
                <a:latin typeface="Arial"/>
                <a:ea typeface="Arial"/>
                <a:cs typeface="Arial"/>
              </a:defRPr>
            </a:lvl3pPr>
            <a:lvl4pPr>
              <a:defRPr sz="1875" b="0">
                <a:solidFill>
                  <a:srgbClr val="172A3A"/>
                </a:solidFill>
                <a:latin typeface="Arial"/>
                <a:ea typeface="Arial"/>
                <a:cs typeface="Arial"/>
              </a:defRPr>
            </a:lvl4pPr>
            <a:lvl5pPr>
              <a:defRPr sz="1875" b="0">
                <a:solidFill>
                  <a:srgbClr val="172A3A"/>
                </a:solidFill>
                <a:latin typeface="Arial"/>
                <a:ea typeface="Arial"/>
                <a:cs typeface="Arial"/>
              </a:defRPr>
            </a:lvl5pPr>
            <a:lvl6pPr>
              <a:defRPr sz="1875" b="0">
                <a:solidFill>
                  <a:srgbClr val="172A3A"/>
                </a:solidFill>
                <a:latin typeface="Arial"/>
                <a:ea typeface="Arial"/>
                <a:cs typeface="Arial"/>
              </a:defRPr>
            </a:lvl6pPr>
            <a:lvl7pPr>
              <a:defRPr sz="1875" b="0">
                <a:solidFill>
                  <a:srgbClr val="172A3A"/>
                </a:solidFill>
                <a:latin typeface="Arial"/>
                <a:ea typeface="Arial"/>
                <a:cs typeface="Arial"/>
              </a:defRPr>
            </a:lvl7pPr>
            <a:lvl8pPr>
              <a:defRPr sz="1875" b="0">
                <a:solidFill>
                  <a:srgbClr val="172A3A"/>
                </a:solidFill>
                <a:latin typeface="Arial"/>
                <a:ea typeface="Arial"/>
                <a:cs typeface="Arial"/>
              </a:defRPr>
            </a:lvl8pPr>
            <a:lvl9pPr>
              <a:defRPr sz="1875" b="0">
                <a:solidFill>
                  <a:srgbClr val="172A3A"/>
                </a:solidFill>
                <a:latin typeface="Arial"/>
                <a:ea typeface="Arial"/>
                <a:cs typeface="Arial"/>
              </a:defRPr>
            </a:lvl9pPr>
          </a:lstStyle>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Network: current curve x, generation time t, past h → velocity v (rates of change).</a:t>
            </a:r>
          </a:p>
        </p:txBody>
      </p:sp>
      <p:sp>
        <p:nvSpPr>
          <p:cNvPr id="5" name="">
            <a:extLst xmlns:a="http://schemas.openxmlformats.org/drawingml/2006/main">
              <a:ext uri="{FF2B5EF4-FFF2-40B4-BE49-F238E27FC236}">
                <a16:creationId xmlns:a16="http://schemas.microsoft.com/office/drawing/2014/main" id="{CF4AC1EA-77EE-43BE-9FCB-3EB0484220BC}"/>
              </a:ext>
            </a:extLst>
          </p:cNvPr>
          <p:cNvSpPr>
            <a:spLocks xmlns:a="http://schemas.openxmlformats.org/drawingml/2006/main" noGrp="1"/>
          </p:cNvSpPr>
          <p:nvPr/>
        </p:nvSpPr>
        <p:spPr>
          <a:xfrm xmlns:a="http://schemas.openxmlformats.org/drawingml/2006/main">
            <a:off x="742950" y="48958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A3A"/>
                </a:solidFill>
                <a:latin typeface="Arial"/>
                <a:ea typeface="Arial"/>
                <a:cs typeface="Arial"/>
              </a:defRPr>
            </a:defPPr>
            <a:lvl1pPr>
              <a:defRPr sz="1875" b="0">
                <a:solidFill>
                  <a:srgbClr val="172A3A"/>
                </a:solidFill>
                <a:latin typeface="Arial"/>
                <a:ea typeface="Arial"/>
                <a:cs typeface="Arial"/>
              </a:defRPr>
            </a:lvl1pPr>
            <a:lvl2pPr>
              <a:defRPr sz="1875" b="0">
                <a:solidFill>
                  <a:srgbClr val="172A3A"/>
                </a:solidFill>
                <a:latin typeface="Arial"/>
                <a:ea typeface="Arial"/>
                <a:cs typeface="Arial"/>
              </a:defRPr>
            </a:lvl2pPr>
            <a:lvl3pPr>
              <a:defRPr sz="1875" b="0">
                <a:solidFill>
                  <a:srgbClr val="172A3A"/>
                </a:solidFill>
                <a:latin typeface="Arial"/>
                <a:ea typeface="Arial"/>
                <a:cs typeface="Arial"/>
              </a:defRPr>
            </a:lvl3pPr>
            <a:lvl4pPr>
              <a:defRPr sz="1875" b="0">
                <a:solidFill>
                  <a:srgbClr val="172A3A"/>
                </a:solidFill>
                <a:latin typeface="Arial"/>
                <a:ea typeface="Arial"/>
                <a:cs typeface="Arial"/>
              </a:defRPr>
            </a:lvl4pPr>
            <a:lvl5pPr>
              <a:defRPr sz="1875" b="0">
                <a:solidFill>
                  <a:srgbClr val="172A3A"/>
                </a:solidFill>
                <a:latin typeface="Arial"/>
                <a:ea typeface="Arial"/>
                <a:cs typeface="Arial"/>
              </a:defRPr>
            </a:lvl5pPr>
            <a:lvl6pPr>
              <a:defRPr sz="1875" b="0">
                <a:solidFill>
                  <a:srgbClr val="172A3A"/>
                </a:solidFill>
                <a:latin typeface="Arial"/>
                <a:ea typeface="Arial"/>
                <a:cs typeface="Arial"/>
              </a:defRPr>
            </a:lvl6pPr>
            <a:lvl7pPr>
              <a:defRPr sz="1875" b="0">
                <a:solidFill>
                  <a:srgbClr val="172A3A"/>
                </a:solidFill>
                <a:latin typeface="Arial"/>
                <a:ea typeface="Arial"/>
                <a:cs typeface="Arial"/>
              </a:defRPr>
            </a:lvl7pPr>
            <a:lvl8pPr>
              <a:defRPr sz="1875" b="0">
                <a:solidFill>
                  <a:srgbClr val="172A3A"/>
                </a:solidFill>
                <a:latin typeface="Arial"/>
                <a:ea typeface="Arial"/>
                <a:cs typeface="Arial"/>
              </a:defRPr>
            </a:lvl8pPr>
            <a:lvl9pPr>
              <a:defRPr sz="1875" b="0">
                <a:solidFill>
                  <a:srgbClr val="172A3A"/>
                </a:solidFill>
                <a:latin typeface="Arial"/>
                <a:ea typeface="Arial"/>
                <a:cs typeface="Arial"/>
              </a:defRPr>
            </a:lvl9pPr>
          </a:lstStyle>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Sampling: integrate dx/dt = v from noise to one future trajectory.</a:t>
            </a:r>
          </a:p>
        </p:txBody>
      </p:sp>
      <p:sp>
        <p:nvSpPr>
          <p:cNvPr id="6" name="">
            <a:extLst xmlns:a="http://schemas.openxmlformats.org/drawingml/2006/main">
              <a:ext uri="{FF2B5EF4-FFF2-40B4-BE49-F238E27FC236}">
                <a16:creationId xmlns:a16="http://schemas.microsoft.com/office/drawing/2014/main" id="{B9F06AB2-5DF2-414A-8799-15FB99B93631}"/>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43596C"/>
                </a:solidFill>
                <a:latin typeface="Arial"/>
                <a:ea typeface="Arial"/>
                <a:cs typeface="Arial"/>
              </a:defRPr>
            </a:defPPr>
            <a:lvl1pPr>
              <a:defRPr sz="1875" b="0">
                <a:solidFill>
                  <a:srgbClr val="43596C"/>
                </a:solidFill>
                <a:latin typeface="Arial"/>
                <a:ea typeface="Arial"/>
                <a:cs typeface="Arial"/>
              </a:defRPr>
            </a:lvl1pPr>
            <a:lvl2pPr>
              <a:defRPr sz="1875" b="0">
                <a:solidFill>
                  <a:srgbClr val="43596C"/>
                </a:solidFill>
                <a:latin typeface="Arial"/>
                <a:ea typeface="Arial"/>
                <a:cs typeface="Arial"/>
              </a:defRPr>
            </a:lvl2pPr>
            <a:lvl3pPr>
              <a:defRPr sz="1875" b="0">
                <a:solidFill>
                  <a:srgbClr val="43596C"/>
                </a:solidFill>
                <a:latin typeface="Arial"/>
                <a:ea typeface="Arial"/>
                <a:cs typeface="Arial"/>
              </a:defRPr>
            </a:lvl3pPr>
            <a:lvl4pPr>
              <a:defRPr sz="1875" b="0">
                <a:solidFill>
                  <a:srgbClr val="43596C"/>
                </a:solidFill>
                <a:latin typeface="Arial"/>
                <a:ea typeface="Arial"/>
                <a:cs typeface="Arial"/>
              </a:defRPr>
            </a:lvl4pPr>
            <a:lvl5pPr>
              <a:defRPr sz="1875" b="0">
                <a:solidFill>
                  <a:srgbClr val="43596C"/>
                </a:solidFill>
                <a:latin typeface="Arial"/>
                <a:ea typeface="Arial"/>
                <a:cs typeface="Arial"/>
              </a:defRPr>
            </a:lvl5pPr>
            <a:lvl6pPr>
              <a:defRPr sz="1875" b="0">
                <a:solidFill>
                  <a:srgbClr val="43596C"/>
                </a:solidFill>
                <a:latin typeface="Arial"/>
                <a:ea typeface="Arial"/>
                <a:cs typeface="Arial"/>
              </a:defRPr>
            </a:lvl6pPr>
            <a:lvl7pPr>
              <a:defRPr sz="1875" b="0">
                <a:solidFill>
                  <a:srgbClr val="43596C"/>
                </a:solidFill>
                <a:latin typeface="Arial"/>
                <a:ea typeface="Arial"/>
                <a:cs typeface="Arial"/>
              </a:defRPr>
            </a:lvl7pPr>
            <a:lvl8pPr>
              <a:defRPr sz="1875" b="0">
                <a:solidFill>
                  <a:srgbClr val="43596C"/>
                </a:solidFill>
                <a:latin typeface="Arial"/>
                <a:ea typeface="Arial"/>
                <a:cs typeface="Arial"/>
              </a:defRPr>
            </a:lvl8pPr>
            <a:lvl9pPr>
              <a:defRPr sz="1875" b="0">
                <a:solidFill>
                  <a:srgbClr val="43596C"/>
                </a:solidFill>
                <a:latin typeface="Arial"/>
                <a:ea typeface="Arial"/>
                <a:cs typeface="Arial"/>
              </a:defRPr>
            </a:lvl9pPr>
          </a:lstStyle>
          <a:p xmlns:a="http://schemas.openxmlformats.org/drawingml/2006/main">
            <a:pPr>
              <a:defRPr sz="1875" b="0">
                <a:solidFill>
                  <a:srgbClr val="43596C"/>
                </a:solidFill>
                <a:latin typeface="Arial"/>
                <a:ea typeface="Arial"/>
                <a:cs typeface="Arial"/>
              </a:defRPr>
            </a:pPr>
            <a:r>
              <a:rPr sz="1875" b="0">
                <a:solidFill>
                  <a:srgbClr val="43596C"/>
                </a:solidFill>
                <a:latin typeface="Arial"/>
                <a:ea typeface="Arial"/>
                <a:cs typeface="Arial"/>
              </a:rPr>
              <a:t>Generation time t runs from 0 to 1; it is not the time axis of the forecast.</a:t>
            </a:r>
          </a:p>
        </p:txBody>
      </p:sp>
      <p:sp>
        <p:nvSpPr>
          <p:cNvPr id="7" name="">
            <a:extLst xmlns:a="http://schemas.openxmlformats.org/drawingml/2006/main">
              <a:ext uri="{FF2B5EF4-FFF2-40B4-BE49-F238E27FC236}">
                <a16:creationId xmlns:a16="http://schemas.microsoft.com/office/drawing/2014/main" id="{AB40D078-FABF-404A-AFA2-CCBD26D1E8C4}"/>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3</a:t>
            </a:r>
          </a:p>
        </p:txBody>
      </p:sp>
    </p:spTree>
    <p:extLst>
      <p:ext uri="{BB962C8B-B14F-4D97-AF65-F5344CB8AC3E}">
        <p14:creationId xmlns:p14="http://schemas.microsoft.com/office/powerpoint/2010/main" val="15395319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3CCA22-31F8-469A-9C1E-D91D9B1263D3}"/>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Main experiment: two heads × two noise sources</a:t>
            </a:r>
          </a:p>
        </p:txBody>
      </p:sp>
      <p:graphicFrame>
        <p:nvGraphicFramePr>
          <p:cNvPr id="2" name="">
            <a:extLst xmlns:a="http://schemas.openxmlformats.org/drawingml/2006/main">
              <a:ext uri="{FF2B5EF4-FFF2-40B4-BE49-F238E27FC236}">
                <a16:creationId xmlns:a16="http://schemas.microsoft.com/office/drawing/2014/main" id="{AFBACAA2-2332-46E5-A314-F5668EB19EE8}"/>
              </a:ext>
            </a:extLst>
          </p:cNvPr>
          <p:cNvGraphicFramePr/>
          <p:nvPr/>
        </p:nvGraphicFramePr>
        <p:xfrm>
          <a:off xmlns:a="http://schemas.openxmlformats.org/drawingml/2006/main" x="685800" y="1676400"/>
          <a:ext xmlns:a="http://schemas.openxmlformats.org/drawingml/2006/main" cx="10820400" cy="1714500"/>
        </p:xfrm>
        <a:graphic xmlns:a="http://schemas.openxmlformats.org/drawingml/2006/main">
          <a:graphicData uri="http://schemas.openxmlformats.org/drawingml/2006/table">
            <a:tbl>
              <a:tblPr firstRow="1" bandRow="0"/>
              <a:tblGrid>
                <a:gridCol w="3429000"/>
                <a:gridCol w="3695700"/>
                <a:gridCol w="3695700"/>
              </a:tblGrid>
              <a:tr h="571500">
                <a:tc>
                  <a:txBody>
                    <a:bodyPr/>
                    <a:lstStyle/>
                    <a:p>
                      <a:r>
                        <a:rPr sz="1800" b="1">
                          <a:solidFill>
                            <a:srgbClr val="172A3A"/>
                          </a:solidFill>
                          <a:latin typeface="Arial"/>
                          <a:ea typeface="Arial"/>
                          <a:cs typeface="Arial"/>
                        </a:rPr>
                        <a:t>Velocity network (head)</a:t>
                      </a:r>
                    </a:p>
                  </a:txBody>
                  <a:tcPr marL="91440" marR="91440" marT="45720" marB="45720">
                    <a:lnL w="9525">
                      <a:solidFill>
                        <a:srgbClr val="D5E0E8"/>
                      </a:solidFill>
                      <a:prstDash val="solid"/>
                    </a:lnL>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800" b="1">
                          <a:solidFill>
                            <a:srgbClr val="172A3A"/>
                          </a:solidFill>
                          <a:latin typeface="Arial"/>
                          <a:ea typeface="Arial"/>
                          <a:cs typeface="Arial"/>
                        </a:rPr>
                        <a:t>White noise</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800" b="1">
                          <a:solidFill>
                            <a:srgbClr val="172A3A"/>
                          </a:solidFill>
                          <a:latin typeface="Arial"/>
                          <a:ea typeface="Arial"/>
                          <a:cs typeface="Arial"/>
                        </a:rPr>
                        <a:t>Smooth GP noise</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r>
              <a:tr h="571500">
                <a:tc>
                  <a:txBody>
                    <a:bodyPr/>
                    <a:lstStyle/>
                    <a:p>
                      <a:r>
                        <a:rPr sz="1800" b="0">
                          <a:solidFill>
                            <a:srgbClr val="172A3A"/>
                          </a:solidFill>
                          <a:latin typeface="Arial"/>
                          <a:ea typeface="Arial"/>
                          <a:cs typeface="Arial"/>
                        </a:rPr>
                        <a:t>MLP: dense network</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5 training seeds</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5 training seeds</a:t>
                      </a:r>
                    </a:p>
                  </a:txBody>
                  <a:tcPr marL="91440" marR="91440" marT="45720" marB="45720">
                    <a:lnR w="9525">
                      <a:solidFill>
                        <a:srgbClr val="D5E0E8"/>
                      </a:solidFill>
                      <a:prstDash val="solid"/>
                    </a:lnR>
                    <a:lnB w="9525">
                      <a:solidFill>
                        <a:srgbClr val="D5E0E8"/>
                      </a:solidFill>
                      <a:prstDash val="solid"/>
                    </a:lnB>
                    <a:solidFill>
                      <a:srgbClr val="FFFFFF"/>
                    </a:solidFill>
                  </a:tcPr>
                </a:tc>
              </a:tr>
              <a:tr h="571500">
                <a:tc>
                  <a:txBody>
                    <a:bodyPr/>
                    <a:lstStyle/>
                    <a:p>
                      <a:r>
                        <a:rPr sz="1800" b="0">
                          <a:solidFill>
                            <a:srgbClr val="172A3A"/>
                          </a:solidFill>
                          <a:latin typeface="Arial"/>
                          <a:ea typeface="Arial"/>
                          <a:cs typeface="Arial"/>
                        </a:rPr>
                        <a:t>S4: state-space model</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5 training seeds</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5 training seeds</a:t>
                      </a:r>
                    </a:p>
                  </a:txBody>
                  <a:tcPr marL="91440" marR="91440" marT="45720" marB="45720">
                    <a:lnR w="9525">
                      <a:solidFill>
                        <a:srgbClr val="D5E0E8"/>
                      </a:solidFill>
                      <a:prstDash val="solid"/>
                    </a:lnR>
                    <a:lnB w="9525">
                      <a:solidFill>
                        <a:srgbClr val="D5E0E8"/>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27E7235-0C56-42CC-9760-C39EF5688300}"/>
              </a:ext>
            </a:extLst>
          </p:cNvPr>
          <p:cNvSpPr>
            <a:spLocks xmlns:a="http://schemas.openxmlformats.org/drawingml/2006/main" noGrp="1"/>
          </p:cNvSpPr>
          <p:nvPr/>
        </p:nvSpPr>
        <p:spPr>
          <a:xfrm xmlns:a="http://schemas.openxmlformats.org/drawingml/2006/main">
            <a:off x="742950" y="36576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172A3A"/>
                </a:solidFill>
                <a:latin typeface="Arial"/>
                <a:ea typeface="Arial"/>
                <a:cs typeface="Arial"/>
              </a:defRPr>
            </a:defPPr>
            <a:lvl1pPr>
              <a:defRPr sz="1650" b="0">
                <a:solidFill>
                  <a:srgbClr val="172A3A"/>
                </a:solidFill>
                <a:latin typeface="Arial"/>
                <a:ea typeface="Arial"/>
                <a:cs typeface="Arial"/>
              </a:defRPr>
            </a:lvl1pPr>
            <a:lvl2pPr>
              <a:defRPr sz="1650" b="0">
                <a:solidFill>
                  <a:srgbClr val="172A3A"/>
                </a:solidFill>
                <a:latin typeface="Arial"/>
                <a:ea typeface="Arial"/>
                <a:cs typeface="Arial"/>
              </a:defRPr>
            </a:lvl2pPr>
            <a:lvl3pPr>
              <a:defRPr sz="1650" b="0">
                <a:solidFill>
                  <a:srgbClr val="172A3A"/>
                </a:solidFill>
                <a:latin typeface="Arial"/>
                <a:ea typeface="Arial"/>
                <a:cs typeface="Arial"/>
              </a:defRPr>
            </a:lvl3pPr>
            <a:lvl4pPr>
              <a:defRPr sz="1650" b="0">
                <a:solidFill>
                  <a:srgbClr val="172A3A"/>
                </a:solidFill>
                <a:latin typeface="Arial"/>
                <a:ea typeface="Arial"/>
                <a:cs typeface="Arial"/>
              </a:defRPr>
            </a:lvl4pPr>
            <a:lvl5pPr>
              <a:defRPr sz="1650" b="0">
                <a:solidFill>
                  <a:srgbClr val="172A3A"/>
                </a:solidFill>
                <a:latin typeface="Arial"/>
                <a:ea typeface="Arial"/>
                <a:cs typeface="Arial"/>
              </a:defRPr>
            </a:lvl5pPr>
            <a:lvl6pPr>
              <a:defRPr sz="1650" b="0">
                <a:solidFill>
                  <a:srgbClr val="172A3A"/>
                </a:solidFill>
                <a:latin typeface="Arial"/>
                <a:ea typeface="Arial"/>
                <a:cs typeface="Arial"/>
              </a:defRPr>
            </a:lvl6pPr>
            <a:lvl7pPr>
              <a:defRPr sz="1650" b="0">
                <a:solidFill>
                  <a:srgbClr val="172A3A"/>
                </a:solidFill>
                <a:latin typeface="Arial"/>
                <a:ea typeface="Arial"/>
                <a:cs typeface="Arial"/>
              </a:defRPr>
            </a:lvl7pPr>
            <a:lvl8pPr>
              <a:defRPr sz="1650" b="0">
                <a:solidFill>
                  <a:srgbClr val="172A3A"/>
                </a:solidFill>
                <a:latin typeface="Arial"/>
                <a:ea typeface="Arial"/>
                <a:cs typeface="Arial"/>
              </a:defRPr>
            </a:lvl8pPr>
            <a:lvl9pPr>
              <a:defRPr sz="1650" b="0">
                <a:solidFill>
                  <a:srgbClr val="172A3A"/>
                </a:solidFill>
                <a:latin typeface="Arial"/>
                <a:ea typeface="Arial"/>
                <a:cs typeface="Arial"/>
              </a:defRPr>
            </a:lvl9pPr>
          </a:lstStyle>
          <a:p xmlns:a="http://schemas.openxmlformats.org/drawingml/2006/main">
            <a:pPr>
              <a:defRPr sz="1650" b="0">
                <a:solidFill>
                  <a:srgbClr val="172A3A"/>
                </a:solidFill>
                <a:latin typeface="Arial"/>
                <a:ea typeface="Arial"/>
                <a:cs typeface="Arial"/>
              </a:defRPr>
            </a:pPr>
            <a:r>
              <a:rPr sz="1650" b="0">
                <a:solidFill>
                  <a:srgbClr val="172A3A"/>
                </a:solidFill>
                <a:latin typeface="Arial"/>
                <a:ea typeface="Arial"/>
                <a:cs typeface="Arial"/>
              </a:rPr>
              <a:t>MLP = multilayer perceptron; S4 = structured state-space sequence model.</a:t>
            </a:r>
          </a:p>
        </p:txBody>
      </p:sp>
      <p:sp>
        <p:nvSpPr>
          <p:cNvPr id="4" name="">
            <a:extLst xmlns:a="http://schemas.openxmlformats.org/drawingml/2006/main">
              <a:ext uri="{FF2B5EF4-FFF2-40B4-BE49-F238E27FC236}">
                <a16:creationId xmlns:a16="http://schemas.microsoft.com/office/drawing/2014/main" id="{04536C2C-385B-45D6-B8CB-BA8BD20E15AA}"/>
              </a:ext>
            </a:extLst>
          </p:cNvPr>
          <p:cNvSpPr>
            <a:spLocks xmlns:a="http://schemas.openxmlformats.org/drawingml/2006/main" noGrp="1"/>
          </p:cNvSpPr>
          <p:nvPr/>
        </p:nvSpPr>
        <p:spPr>
          <a:xfrm xmlns:a="http://schemas.openxmlformats.org/drawingml/2006/main">
            <a:off x="742950" y="40862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172A3A"/>
                </a:solidFill>
                <a:latin typeface="Arial"/>
                <a:ea typeface="Arial"/>
                <a:cs typeface="Arial"/>
              </a:defRPr>
            </a:defPPr>
            <a:lvl1pPr>
              <a:defRPr sz="1650" b="0">
                <a:solidFill>
                  <a:srgbClr val="172A3A"/>
                </a:solidFill>
                <a:latin typeface="Arial"/>
                <a:ea typeface="Arial"/>
                <a:cs typeface="Arial"/>
              </a:defRPr>
            </a:lvl1pPr>
            <a:lvl2pPr>
              <a:defRPr sz="1650" b="0">
                <a:solidFill>
                  <a:srgbClr val="172A3A"/>
                </a:solidFill>
                <a:latin typeface="Arial"/>
                <a:ea typeface="Arial"/>
                <a:cs typeface="Arial"/>
              </a:defRPr>
            </a:lvl2pPr>
            <a:lvl3pPr>
              <a:defRPr sz="1650" b="0">
                <a:solidFill>
                  <a:srgbClr val="172A3A"/>
                </a:solidFill>
                <a:latin typeface="Arial"/>
                <a:ea typeface="Arial"/>
                <a:cs typeface="Arial"/>
              </a:defRPr>
            </a:lvl3pPr>
            <a:lvl4pPr>
              <a:defRPr sz="1650" b="0">
                <a:solidFill>
                  <a:srgbClr val="172A3A"/>
                </a:solidFill>
                <a:latin typeface="Arial"/>
                <a:ea typeface="Arial"/>
                <a:cs typeface="Arial"/>
              </a:defRPr>
            </a:lvl4pPr>
            <a:lvl5pPr>
              <a:defRPr sz="1650" b="0">
                <a:solidFill>
                  <a:srgbClr val="172A3A"/>
                </a:solidFill>
                <a:latin typeface="Arial"/>
                <a:ea typeface="Arial"/>
                <a:cs typeface="Arial"/>
              </a:defRPr>
            </a:lvl5pPr>
            <a:lvl6pPr>
              <a:defRPr sz="1650" b="0">
                <a:solidFill>
                  <a:srgbClr val="172A3A"/>
                </a:solidFill>
                <a:latin typeface="Arial"/>
                <a:ea typeface="Arial"/>
                <a:cs typeface="Arial"/>
              </a:defRPr>
            </a:lvl6pPr>
            <a:lvl7pPr>
              <a:defRPr sz="1650" b="0">
                <a:solidFill>
                  <a:srgbClr val="172A3A"/>
                </a:solidFill>
                <a:latin typeface="Arial"/>
                <a:ea typeface="Arial"/>
                <a:cs typeface="Arial"/>
              </a:defRPr>
            </a:lvl7pPr>
            <a:lvl8pPr>
              <a:defRPr sz="1650" b="0">
                <a:solidFill>
                  <a:srgbClr val="172A3A"/>
                </a:solidFill>
                <a:latin typeface="Arial"/>
                <a:ea typeface="Arial"/>
                <a:cs typeface="Arial"/>
              </a:defRPr>
            </a:lvl8pPr>
            <a:lvl9pPr>
              <a:defRPr sz="1650" b="0">
                <a:solidFill>
                  <a:srgbClr val="172A3A"/>
                </a:solidFill>
                <a:latin typeface="Arial"/>
                <a:ea typeface="Arial"/>
                <a:cs typeface="Arial"/>
              </a:defRPr>
            </a:lvl9pPr>
          </a:lstStyle>
          <a:p xmlns:a="http://schemas.openxmlformats.org/drawingml/2006/main">
            <a:pPr>
              <a:defRPr sz="1650" b="0">
                <a:solidFill>
                  <a:srgbClr val="172A3A"/>
                </a:solidFill>
                <a:latin typeface="Arial"/>
                <a:ea typeface="Arial"/>
                <a:cs typeface="Arial"/>
              </a:defRPr>
            </a:pPr>
            <a:r>
              <a:rPr sz="1650" b="0">
                <a:solidFill>
                  <a:srgbClr val="172A3A"/>
                </a:solidFill>
                <a:latin typeface="Arial"/>
                <a:ea typeface="Arial"/>
                <a:cs typeface="Arial"/>
              </a:rPr>
              <a:t>6,000 updates per run; about 65,000 parameters. GP noise correlates future positions.</a:t>
            </a:r>
          </a:p>
        </p:txBody>
      </p:sp>
      <p:sp>
        <p:nvSpPr>
          <p:cNvPr id="5" name="">
            <a:extLst xmlns:a="http://schemas.openxmlformats.org/drawingml/2006/main">
              <a:ext uri="{FF2B5EF4-FFF2-40B4-BE49-F238E27FC236}">
                <a16:creationId xmlns:a16="http://schemas.microsoft.com/office/drawing/2014/main" id="{ACFA8164-DFD5-462E-AD92-5C99A320307F}"/>
              </a:ext>
            </a:extLst>
          </p:cNvPr>
          <p:cNvSpPr>
            <a:spLocks xmlns:a="http://schemas.openxmlformats.org/drawingml/2006/main" noGrp="1"/>
          </p:cNvSpPr>
          <p:nvPr/>
        </p:nvSpPr>
        <p:spPr>
          <a:xfrm xmlns:a="http://schemas.openxmlformats.org/drawingml/2006/main">
            <a:off x="742950" y="4514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172A3A"/>
                </a:solidFill>
                <a:latin typeface="Arial"/>
                <a:ea typeface="Arial"/>
                <a:cs typeface="Arial"/>
              </a:defRPr>
            </a:defPPr>
            <a:lvl1pPr>
              <a:defRPr sz="1650" b="0">
                <a:solidFill>
                  <a:srgbClr val="172A3A"/>
                </a:solidFill>
                <a:latin typeface="Arial"/>
                <a:ea typeface="Arial"/>
                <a:cs typeface="Arial"/>
              </a:defRPr>
            </a:lvl1pPr>
            <a:lvl2pPr>
              <a:defRPr sz="1650" b="0">
                <a:solidFill>
                  <a:srgbClr val="172A3A"/>
                </a:solidFill>
                <a:latin typeface="Arial"/>
                <a:ea typeface="Arial"/>
                <a:cs typeface="Arial"/>
              </a:defRPr>
            </a:lvl2pPr>
            <a:lvl3pPr>
              <a:defRPr sz="1650" b="0">
                <a:solidFill>
                  <a:srgbClr val="172A3A"/>
                </a:solidFill>
                <a:latin typeface="Arial"/>
                <a:ea typeface="Arial"/>
                <a:cs typeface="Arial"/>
              </a:defRPr>
            </a:lvl3pPr>
            <a:lvl4pPr>
              <a:defRPr sz="1650" b="0">
                <a:solidFill>
                  <a:srgbClr val="172A3A"/>
                </a:solidFill>
                <a:latin typeface="Arial"/>
                <a:ea typeface="Arial"/>
                <a:cs typeface="Arial"/>
              </a:defRPr>
            </a:lvl4pPr>
            <a:lvl5pPr>
              <a:defRPr sz="1650" b="0">
                <a:solidFill>
                  <a:srgbClr val="172A3A"/>
                </a:solidFill>
                <a:latin typeface="Arial"/>
                <a:ea typeface="Arial"/>
                <a:cs typeface="Arial"/>
              </a:defRPr>
            </a:lvl5pPr>
            <a:lvl6pPr>
              <a:defRPr sz="1650" b="0">
                <a:solidFill>
                  <a:srgbClr val="172A3A"/>
                </a:solidFill>
                <a:latin typeface="Arial"/>
                <a:ea typeface="Arial"/>
                <a:cs typeface="Arial"/>
              </a:defRPr>
            </a:lvl6pPr>
            <a:lvl7pPr>
              <a:defRPr sz="1650" b="0">
                <a:solidFill>
                  <a:srgbClr val="172A3A"/>
                </a:solidFill>
                <a:latin typeface="Arial"/>
                <a:ea typeface="Arial"/>
                <a:cs typeface="Arial"/>
              </a:defRPr>
            </a:lvl7pPr>
            <a:lvl8pPr>
              <a:defRPr sz="1650" b="0">
                <a:solidFill>
                  <a:srgbClr val="172A3A"/>
                </a:solidFill>
                <a:latin typeface="Arial"/>
                <a:ea typeface="Arial"/>
                <a:cs typeface="Arial"/>
              </a:defRPr>
            </a:lvl8pPr>
            <a:lvl9pPr>
              <a:defRPr sz="1650" b="0">
                <a:solidFill>
                  <a:srgbClr val="172A3A"/>
                </a:solidFill>
                <a:latin typeface="Arial"/>
                <a:ea typeface="Arial"/>
                <a:cs typeface="Arial"/>
              </a:defRPr>
            </a:lvl9pPr>
          </a:lstStyle>
          <a:p xmlns:a="http://schemas.openxmlformats.org/drawingml/2006/main">
            <a:pPr>
              <a:defRPr sz="1650" b="0">
                <a:solidFill>
                  <a:srgbClr val="172A3A"/>
                </a:solidFill>
                <a:latin typeface="Arial"/>
                <a:ea typeface="Arial"/>
                <a:cs typeface="Arial"/>
              </a:defRPr>
            </a:pPr>
            <a:r>
              <a:rPr sz="1650" b="0">
                <a:solidFill>
                  <a:srgbClr val="172A3A"/>
                </a:solidFill>
                <a:latin typeface="Arial"/>
                <a:ea typeface="Arial"/>
                <a:cs typeface="Arial"/>
              </a:rPr>
              <a:t>Whitened MLP (5 extra runs): rotate along directions of training-velocity variation;</a:t>
            </a:r>
          </a:p>
        </p:txBody>
      </p:sp>
      <p:sp>
        <p:nvSpPr>
          <p:cNvPr id="6" name="">
            <a:extLst xmlns:a="http://schemas.openxmlformats.org/drawingml/2006/main">
              <a:ext uri="{FF2B5EF4-FFF2-40B4-BE49-F238E27FC236}">
                <a16:creationId xmlns:a16="http://schemas.microsoft.com/office/drawing/2014/main" id="{E23A982E-3A92-40AF-BD41-9C0487B94B1B}"/>
              </a:ext>
            </a:extLst>
          </p:cNvPr>
          <p:cNvSpPr>
            <a:spLocks xmlns:a="http://schemas.openxmlformats.org/drawingml/2006/main" noGrp="1"/>
          </p:cNvSpPr>
          <p:nvPr/>
        </p:nvSpPr>
        <p:spPr>
          <a:xfrm xmlns:a="http://schemas.openxmlformats.org/drawingml/2006/main">
            <a:off x="742950" y="49434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172A3A"/>
                </a:solidFill>
                <a:latin typeface="Arial"/>
                <a:ea typeface="Arial"/>
                <a:cs typeface="Arial"/>
              </a:defRPr>
            </a:defPPr>
            <a:lvl1pPr>
              <a:defRPr sz="1650" b="0">
                <a:solidFill>
                  <a:srgbClr val="172A3A"/>
                </a:solidFill>
                <a:latin typeface="Arial"/>
                <a:ea typeface="Arial"/>
                <a:cs typeface="Arial"/>
              </a:defRPr>
            </a:lvl1pPr>
            <a:lvl2pPr>
              <a:defRPr sz="1650" b="0">
                <a:solidFill>
                  <a:srgbClr val="172A3A"/>
                </a:solidFill>
                <a:latin typeface="Arial"/>
                <a:ea typeface="Arial"/>
                <a:cs typeface="Arial"/>
              </a:defRPr>
            </a:lvl2pPr>
            <a:lvl3pPr>
              <a:defRPr sz="1650" b="0">
                <a:solidFill>
                  <a:srgbClr val="172A3A"/>
                </a:solidFill>
                <a:latin typeface="Arial"/>
                <a:ea typeface="Arial"/>
                <a:cs typeface="Arial"/>
              </a:defRPr>
            </a:lvl3pPr>
            <a:lvl4pPr>
              <a:defRPr sz="1650" b="0">
                <a:solidFill>
                  <a:srgbClr val="172A3A"/>
                </a:solidFill>
                <a:latin typeface="Arial"/>
                <a:ea typeface="Arial"/>
                <a:cs typeface="Arial"/>
              </a:defRPr>
            </a:lvl4pPr>
            <a:lvl5pPr>
              <a:defRPr sz="1650" b="0">
                <a:solidFill>
                  <a:srgbClr val="172A3A"/>
                </a:solidFill>
                <a:latin typeface="Arial"/>
                <a:ea typeface="Arial"/>
                <a:cs typeface="Arial"/>
              </a:defRPr>
            </a:lvl5pPr>
            <a:lvl6pPr>
              <a:defRPr sz="1650" b="0">
                <a:solidFill>
                  <a:srgbClr val="172A3A"/>
                </a:solidFill>
                <a:latin typeface="Arial"/>
                <a:ea typeface="Arial"/>
                <a:cs typeface="Arial"/>
              </a:defRPr>
            </a:lvl6pPr>
            <a:lvl7pPr>
              <a:defRPr sz="1650" b="0">
                <a:solidFill>
                  <a:srgbClr val="172A3A"/>
                </a:solidFill>
                <a:latin typeface="Arial"/>
                <a:ea typeface="Arial"/>
                <a:cs typeface="Arial"/>
              </a:defRPr>
            </a:lvl7pPr>
            <a:lvl8pPr>
              <a:defRPr sz="1650" b="0">
                <a:solidFill>
                  <a:srgbClr val="172A3A"/>
                </a:solidFill>
                <a:latin typeface="Arial"/>
                <a:ea typeface="Arial"/>
                <a:cs typeface="Arial"/>
              </a:defRPr>
            </a:lvl8pPr>
            <a:lvl9pPr>
              <a:defRPr sz="1650" b="0">
                <a:solidFill>
                  <a:srgbClr val="172A3A"/>
                </a:solidFill>
                <a:latin typeface="Arial"/>
                <a:ea typeface="Arial"/>
                <a:cs typeface="Arial"/>
              </a:defRPr>
            </a:lvl9pPr>
          </a:lstStyle>
          <a:p xmlns:a="http://schemas.openxmlformats.org/drawingml/2006/main">
            <a:pPr>
              <a:defRPr sz="1650" b="0">
                <a:solidFill>
                  <a:srgbClr val="172A3A"/>
                </a:solidFill>
                <a:latin typeface="Arial"/>
                <a:ea typeface="Arial"/>
                <a:cs typeface="Arial"/>
              </a:defRPr>
            </a:pPr>
            <a:r>
              <a:rPr sz="1650" b="0">
                <a:solidFill>
                  <a:srgbClr val="172A3A"/>
                </a:solidFill>
                <a:latin typeface="Arial"/>
                <a:ea typeface="Arial"/>
                <a:cs typeface="Arial"/>
              </a:rPr>
              <a:t>divide by their standard deviations (with a floor), then undo the transform for scoring.</a:t>
            </a:r>
          </a:p>
        </p:txBody>
      </p:sp>
      <p:sp>
        <p:nvSpPr>
          <p:cNvPr id="7" name="">
            <a:extLst xmlns:a="http://schemas.openxmlformats.org/drawingml/2006/main">
              <a:ext uri="{FF2B5EF4-FFF2-40B4-BE49-F238E27FC236}">
                <a16:creationId xmlns:a16="http://schemas.microsoft.com/office/drawing/2014/main" id="{DAA64382-13A9-4FFC-802D-AC548DEEFD64}"/>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3596C"/>
                </a:solidFill>
                <a:latin typeface="Arial"/>
                <a:ea typeface="Arial"/>
                <a:cs typeface="Arial"/>
              </a:defRPr>
            </a:defPPr>
            <a:lvl1pPr>
              <a:defRPr sz="1725" b="0">
                <a:solidFill>
                  <a:srgbClr val="43596C"/>
                </a:solidFill>
                <a:latin typeface="Arial"/>
                <a:ea typeface="Arial"/>
                <a:cs typeface="Arial"/>
              </a:defRPr>
            </a:lvl1pPr>
            <a:lvl2pPr>
              <a:defRPr sz="1725" b="0">
                <a:solidFill>
                  <a:srgbClr val="43596C"/>
                </a:solidFill>
                <a:latin typeface="Arial"/>
                <a:ea typeface="Arial"/>
                <a:cs typeface="Arial"/>
              </a:defRPr>
            </a:lvl2pPr>
            <a:lvl3pPr>
              <a:defRPr sz="1725" b="0">
                <a:solidFill>
                  <a:srgbClr val="43596C"/>
                </a:solidFill>
                <a:latin typeface="Arial"/>
                <a:ea typeface="Arial"/>
                <a:cs typeface="Arial"/>
              </a:defRPr>
            </a:lvl3pPr>
            <a:lvl4pPr>
              <a:defRPr sz="1725" b="0">
                <a:solidFill>
                  <a:srgbClr val="43596C"/>
                </a:solidFill>
                <a:latin typeface="Arial"/>
                <a:ea typeface="Arial"/>
                <a:cs typeface="Arial"/>
              </a:defRPr>
            </a:lvl4pPr>
            <a:lvl5pPr>
              <a:defRPr sz="1725" b="0">
                <a:solidFill>
                  <a:srgbClr val="43596C"/>
                </a:solidFill>
                <a:latin typeface="Arial"/>
                <a:ea typeface="Arial"/>
                <a:cs typeface="Arial"/>
              </a:defRPr>
            </a:lvl5pPr>
            <a:lvl6pPr>
              <a:defRPr sz="1725" b="0">
                <a:solidFill>
                  <a:srgbClr val="43596C"/>
                </a:solidFill>
                <a:latin typeface="Arial"/>
                <a:ea typeface="Arial"/>
                <a:cs typeface="Arial"/>
              </a:defRPr>
            </a:lvl6pPr>
            <a:lvl7pPr>
              <a:defRPr sz="1725" b="0">
                <a:solidFill>
                  <a:srgbClr val="43596C"/>
                </a:solidFill>
                <a:latin typeface="Arial"/>
                <a:ea typeface="Arial"/>
                <a:cs typeface="Arial"/>
              </a:defRPr>
            </a:lvl7pPr>
            <a:lvl8pPr>
              <a:defRPr sz="1725" b="0">
                <a:solidFill>
                  <a:srgbClr val="43596C"/>
                </a:solidFill>
                <a:latin typeface="Arial"/>
                <a:ea typeface="Arial"/>
                <a:cs typeface="Arial"/>
              </a:defRPr>
            </a:lvl8pPr>
            <a:lvl9pPr>
              <a:defRPr sz="1725" b="0">
                <a:solidFill>
                  <a:srgbClr val="43596C"/>
                </a:solidFill>
                <a:latin typeface="Arial"/>
                <a:ea typeface="Arial"/>
                <a:cs typeface="Arial"/>
              </a:defRPr>
            </a:lvl9pPr>
          </a:lstStyle>
          <a:p xmlns:a="http://schemas.openxmlformats.org/drawingml/2006/main">
            <a:pPr>
              <a:defRPr sz="1725" b="0">
                <a:solidFill>
                  <a:srgbClr val="43596C"/>
                </a:solidFill>
                <a:latin typeface="Arial"/>
                <a:ea typeface="Arial"/>
                <a:cs typeface="Arial"/>
              </a:defRPr>
            </a:pPr>
            <a:r>
              <a:rPr sz="1725" b="0">
                <a:solidFill>
                  <a:srgbClr val="43596C"/>
                </a:solidFill>
                <a:latin typeface="Arial"/>
                <a:ea typeface="Arial"/>
                <a:cs typeface="Arial"/>
              </a:rPr>
              <a:t>Hypothesis: with GP noise, S4 learns velocity directions with little variation better than MLP.</a:t>
            </a:r>
          </a:p>
        </p:txBody>
      </p:sp>
      <p:sp>
        <p:nvSpPr>
          <p:cNvPr id="8" name="">
            <a:extLst xmlns:a="http://schemas.openxmlformats.org/drawingml/2006/main">
              <a:ext uri="{FF2B5EF4-FFF2-40B4-BE49-F238E27FC236}">
                <a16:creationId xmlns:a16="http://schemas.microsoft.com/office/drawing/2014/main" id="{40A09778-9BED-4125-B278-7F9CA6CFAB29}"/>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4</a:t>
            </a:r>
          </a:p>
        </p:txBody>
      </p:sp>
    </p:spTree>
    <p:extLst>
      <p:ext uri="{BB962C8B-B14F-4D97-AF65-F5344CB8AC3E}">
        <p14:creationId xmlns:p14="http://schemas.microsoft.com/office/powerpoint/2010/main" val="9101068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2CC6A9-573B-4AF5-8093-CA18B16A0615}"/>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With GP noise, two directions contain 97.8% of velocity variance</a:t>
            </a:r>
          </a:p>
        </p:txBody>
      </p:sp>
      <p:sp>
        <p:nvSpPr>
          <p:cNvPr id="2" name="">
            <a:extLst xmlns:a="http://schemas.openxmlformats.org/drawingml/2006/main">
              <a:ext uri="{FF2B5EF4-FFF2-40B4-BE49-F238E27FC236}">
                <a16:creationId xmlns:a16="http://schemas.microsoft.com/office/drawing/2014/main" id="{394EFD6D-AA5E-4807-8863-86A8C4FAA396}"/>
              </a:ext>
            </a:extLst>
          </p:cNvPr>
          <p:cNvSpPr>
            <a:spLocks xmlns:a="http://schemas.openxmlformats.org/drawingml/2006/main" noGrp="1"/>
          </p:cNvSpPr>
          <p:nvPr/>
        </p:nvSpPr>
        <p:spPr>
          <a:xfrm xmlns:a="http://schemas.openxmlformats.org/drawingml/2006/main">
            <a:off x="952500" y="1466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PCA = principal component analysis: PC1, PC2, … rank directions by decreasing variance.</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Separate train-fitted bases for 16-point futures y and velocities u = y−ε; bars use test data.</a:t>
            </a:r>
          </a:p>
        </p:txBody>
      </p:sp>
      <p:graphicFrame>
        <p:nvGraphicFramePr>
          <p:cNvPr id="3" name="Chart">
            <a:extLst xmlns:a="http://schemas.openxmlformats.org/drawingml/2006/main">
              <a:ext uri="{FF2B5EF4-FFF2-40B4-BE49-F238E27FC236}">
                <a16:creationId xmlns:a16="http://schemas.microsoft.com/office/drawing/2014/main" id="{BFF40A4B-9CEE-434C-ACCC-13C9BEED2972}"/>
              </a:ext>
            </a:extLst>
          </p:cNvPr>
          <p:cNvGraphicFramePr/>
          <p:nvPr/>
        </p:nvGraphicFramePr>
        <p:xfrm>
          <a:off xmlns:a="http://schemas.openxmlformats.org/drawingml/2006/main" x="952500" y="2190750"/>
          <a:ext xmlns:a="http://schemas.openxmlformats.org/drawingml/2006/main" cx="10096500" cy="3143250"/>
        </p:xfrm>
        <a:graphic xmlns:a="http://schemas.openxmlformats.org/drawingml/2006/main">
          <a:graphicData uri="http://schemas.openxmlformats.org/drawingml/2006/chart">
            <c:chart xmlns:r="http://schemas.openxmlformats.org/officeDocument/2006/relationships" xmlns:c="http://schemas.openxmlformats.org/drawingml/2006/chart" r:id="R331adbf5dbf547b0"/>
          </a:graphicData>
        </a:graphic>
      </p:graphicFrame>
      <p:sp>
        <p:nvSpPr>
          <p:cNvPr id="4" name="">
            <a:extLst xmlns:a="http://schemas.openxmlformats.org/drawingml/2006/main">
              <a:ext uri="{FF2B5EF4-FFF2-40B4-BE49-F238E27FC236}">
                <a16:creationId xmlns:a16="http://schemas.microsoft.com/office/drawing/2014/main" id="{8B96EFA8-F7FF-4823-80CC-C7D2511A0B73}"/>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3596C"/>
                </a:solidFill>
                <a:latin typeface="Arial"/>
                <a:ea typeface="Arial"/>
                <a:cs typeface="Arial"/>
              </a:defRPr>
            </a:defPPr>
            <a:lvl1pPr>
              <a:defRPr sz="1725" b="0">
                <a:solidFill>
                  <a:srgbClr val="43596C"/>
                </a:solidFill>
                <a:latin typeface="Arial"/>
                <a:ea typeface="Arial"/>
                <a:cs typeface="Arial"/>
              </a:defRPr>
            </a:lvl1pPr>
            <a:lvl2pPr>
              <a:defRPr sz="1725" b="0">
                <a:solidFill>
                  <a:srgbClr val="43596C"/>
                </a:solidFill>
                <a:latin typeface="Arial"/>
                <a:ea typeface="Arial"/>
                <a:cs typeface="Arial"/>
              </a:defRPr>
            </a:lvl2pPr>
            <a:lvl3pPr>
              <a:defRPr sz="1725" b="0">
                <a:solidFill>
                  <a:srgbClr val="43596C"/>
                </a:solidFill>
                <a:latin typeface="Arial"/>
                <a:ea typeface="Arial"/>
                <a:cs typeface="Arial"/>
              </a:defRPr>
            </a:lvl3pPr>
            <a:lvl4pPr>
              <a:defRPr sz="1725" b="0">
                <a:solidFill>
                  <a:srgbClr val="43596C"/>
                </a:solidFill>
                <a:latin typeface="Arial"/>
                <a:ea typeface="Arial"/>
                <a:cs typeface="Arial"/>
              </a:defRPr>
            </a:lvl4pPr>
            <a:lvl5pPr>
              <a:defRPr sz="1725" b="0">
                <a:solidFill>
                  <a:srgbClr val="43596C"/>
                </a:solidFill>
                <a:latin typeface="Arial"/>
                <a:ea typeface="Arial"/>
                <a:cs typeface="Arial"/>
              </a:defRPr>
            </a:lvl5pPr>
            <a:lvl6pPr>
              <a:defRPr sz="1725" b="0">
                <a:solidFill>
                  <a:srgbClr val="43596C"/>
                </a:solidFill>
                <a:latin typeface="Arial"/>
                <a:ea typeface="Arial"/>
                <a:cs typeface="Arial"/>
              </a:defRPr>
            </a:lvl6pPr>
            <a:lvl7pPr>
              <a:defRPr sz="1725" b="0">
                <a:solidFill>
                  <a:srgbClr val="43596C"/>
                </a:solidFill>
                <a:latin typeface="Arial"/>
                <a:ea typeface="Arial"/>
                <a:cs typeface="Arial"/>
              </a:defRPr>
            </a:lvl7pPr>
            <a:lvl8pPr>
              <a:defRPr sz="1725" b="0">
                <a:solidFill>
                  <a:srgbClr val="43596C"/>
                </a:solidFill>
                <a:latin typeface="Arial"/>
                <a:ea typeface="Arial"/>
                <a:cs typeface="Arial"/>
              </a:defRPr>
            </a:lvl8pPr>
            <a:lvl9pPr>
              <a:defRPr sz="1725" b="0">
                <a:solidFill>
                  <a:srgbClr val="43596C"/>
                </a:solidFill>
                <a:latin typeface="Arial"/>
                <a:ea typeface="Arial"/>
                <a:cs typeface="Arial"/>
              </a:defRPr>
            </a:lvl9pPr>
          </a:lstStyle>
          <a:p xmlns:a="http://schemas.openxmlformats.org/drawingml/2006/main">
            <a:pPr>
              <a:defRPr sz="1725" b="0">
                <a:solidFill>
                  <a:srgbClr val="43596C"/>
                </a:solidFill>
                <a:latin typeface="Arial"/>
                <a:ea typeface="Arial"/>
                <a:cs typeface="Arial"/>
              </a:defRPr>
            </a:pPr>
            <a:r>
              <a:rPr sz="1725" b="0">
                <a:solidFill>
                  <a:srgbClr val="43596C"/>
                </a:solidFill>
                <a:latin typeface="Arial"/>
                <a:ea typeface="Arial"/>
                <a:cs typeface="Arial"/>
              </a:rPr>
              <a:t>GP generates the data; white or GP noise starts the forecast. Values use history mean/std.</a:t>
            </a:r>
          </a:p>
          <a:p xmlns:a="http://schemas.openxmlformats.org/drawingml/2006/main">
            <a:pPr>
              <a:defRPr sz="1725" b="0">
                <a:solidFill>
                  <a:srgbClr val="43596C"/>
                </a:solidFill>
                <a:latin typeface="Arial"/>
                <a:ea typeface="Arial"/>
                <a:cs typeface="Arial"/>
              </a:defRPr>
            </a:pPr>
            <a:r>
              <a:rPr sz="1725" b="0">
                <a:solidFill>
                  <a:srgbClr val="43596C"/>
                </a:solidFill>
                <a:latin typeface="Arial"/>
                <a:ea typeface="Arial"/>
                <a:cs typeface="Arial"/>
              </a:rPr>
              <a:t>Design check: the first two velocity PCs should explain &gt;90% of variance; GP passes.</a:t>
            </a:r>
          </a:p>
        </p:txBody>
      </p:sp>
      <p:sp>
        <p:nvSpPr>
          <p:cNvPr id="5" name="">
            <a:extLst xmlns:a="http://schemas.openxmlformats.org/drawingml/2006/main">
              <a:ext uri="{FF2B5EF4-FFF2-40B4-BE49-F238E27FC236}">
                <a16:creationId xmlns:a16="http://schemas.microsoft.com/office/drawing/2014/main" id="{2D6513FD-E5A4-48A6-8C6F-5387CF684A05}"/>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5</a:t>
            </a:r>
          </a:p>
        </p:txBody>
      </p:sp>
    </p:spTree>
    <p:extLst>
      <p:ext uri="{BB962C8B-B14F-4D97-AF65-F5344CB8AC3E}">
        <p14:creationId xmlns:p14="http://schemas.microsoft.com/office/powerpoint/2010/main" val="701557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053D760-F14F-4DD5-96C4-BEB132CAAF57}"/>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GP-source residual error: MLP is lower than S4</a:t>
            </a:r>
          </a:p>
        </p:txBody>
      </p:sp>
      <p:sp>
        <p:nvSpPr>
          <p:cNvPr id="2" name="">
            <a:extLst xmlns:a="http://schemas.openxmlformats.org/drawingml/2006/main">
              <a:ext uri="{FF2B5EF4-FFF2-40B4-BE49-F238E27FC236}">
                <a16:creationId xmlns:a16="http://schemas.microsoft.com/office/drawing/2014/main" id="{38E48BE8-5373-4AB0-927A-98E178D9650B}"/>
              </a:ext>
            </a:extLst>
          </p:cNvPr>
          <p:cNvSpPr>
            <a:spLocks xmlns:a="http://schemas.openxmlformats.org/drawingml/2006/main" noGrp="1"/>
          </p:cNvSpPr>
          <p:nvPr/>
        </p:nvSpPr>
        <p:spPr>
          <a:xfrm xmlns:a="http://schemas.openxmlformats.org/drawingml/2006/main">
            <a:off x="723900" y="213360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R₁(x) =</a:t>
            </a:r>
          </a:p>
        </p:txBody>
      </p:sp>
      <p:sp>
        <p:nvSpPr>
          <p:cNvPr id="3" name="">
            <a:extLst xmlns:a="http://schemas.openxmlformats.org/drawingml/2006/main">
              <a:ext uri="{FF2B5EF4-FFF2-40B4-BE49-F238E27FC236}">
                <a16:creationId xmlns:a16="http://schemas.microsoft.com/office/drawing/2014/main" id="{70FD86C4-7E00-4341-AB13-1B7F16CB8790}"/>
              </a:ext>
            </a:extLst>
          </p:cNvPr>
          <p:cNvSpPr>
            <a:spLocks xmlns:a="http://schemas.openxmlformats.org/drawingml/2006/main" noGrp="1"/>
          </p:cNvSpPr>
          <p:nvPr/>
        </p:nvSpPr>
        <p:spPr>
          <a:xfrm xmlns:a="http://schemas.openxmlformats.org/drawingml/2006/main">
            <a:off x="2657475" y="19335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A3A"/>
                </a:solidFill>
                <a:latin typeface="Arial"/>
                <a:ea typeface="Arial"/>
                <a:cs typeface="Arial"/>
              </a:defRPr>
            </a:defPPr>
            <a:lvl1pPr>
              <a:defRPr sz="2025" b="0">
                <a:solidFill>
                  <a:srgbClr val="172A3A"/>
                </a:solidFill>
                <a:latin typeface="Arial"/>
                <a:ea typeface="Arial"/>
                <a:cs typeface="Arial"/>
              </a:defRPr>
            </a:lvl1pPr>
            <a:lvl2pPr>
              <a:defRPr sz="2025" b="0">
                <a:solidFill>
                  <a:srgbClr val="172A3A"/>
                </a:solidFill>
                <a:latin typeface="Arial"/>
                <a:ea typeface="Arial"/>
                <a:cs typeface="Arial"/>
              </a:defRPr>
            </a:lvl2pPr>
            <a:lvl3pPr>
              <a:defRPr sz="2025" b="0">
                <a:solidFill>
                  <a:srgbClr val="172A3A"/>
                </a:solidFill>
                <a:latin typeface="Arial"/>
                <a:ea typeface="Arial"/>
                <a:cs typeface="Arial"/>
              </a:defRPr>
            </a:lvl3pPr>
            <a:lvl4pPr>
              <a:defRPr sz="2025" b="0">
                <a:solidFill>
                  <a:srgbClr val="172A3A"/>
                </a:solidFill>
                <a:latin typeface="Arial"/>
                <a:ea typeface="Arial"/>
                <a:cs typeface="Arial"/>
              </a:defRPr>
            </a:lvl4pPr>
            <a:lvl5pPr>
              <a:defRPr sz="2025" b="0">
                <a:solidFill>
                  <a:srgbClr val="172A3A"/>
                </a:solidFill>
                <a:latin typeface="Arial"/>
                <a:ea typeface="Arial"/>
                <a:cs typeface="Arial"/>
              </a:defRPr>
            </a:lvl5pPr>
            <a:lvl6pPr>
              <a:defRPr sz="2025" b="0">
                <a:solidFill>
                  <a:srgbClr val="172A3A"/>
                </a:solidFill>
                <a:latin typeface="Arial"/>
                <a:ea typeface="Arial"/>
                <a:cs typeface="Arial"/>
              </a:defRPr>
            </a:lvl6pPr>
            <a:lvl7pPr>
              <a:defRPr sz="2025" b="0">
                <a:solidFill>
                  <a:srgbClr val="172A3A"/>
                </a:solidFill>
                <a:latin typeface="Arial"/>
                <a:ea typeface="Arial"/>
                <a:cs typeface="Arial"/>
              </a:defRPr>
            </a:lvl7pPr>
            <a:lvl8pPr>
              <a:defRPr sz="2025" b="0">
                <a:solidFill>
                  <a:srgbClr val="172A3A"/>
                </a:solidFill>
                <a:latin typeface="Arial"/>
                <a:ea typeface="Arial"/>
                <a:cs typeface="Arial"/>
              </a:defRPr>
            </a:lvl8pPr>
            <a:lvl9pPr>
              <a:defRPr sz="2025" b="0">
                <a:solidFill>
                  <a:srgbClr val="172A3A"/>
                </a:solidFill>
                <a:latin typeface="Arial"/>
                <a:ea typeface="Arial"/>
                <a:cs typeface="Arial"/>
              </a:defRPr>
            </a:lvl9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F12B6A5D-77D1-4177-9DAF-B806BF3AC0D0}"/>
              </a:ext>
            </a:extLst>
          </p:cNvPr>
          <p:cNvSpPr>
            <a:spLocks xmlns:a="http://schemas.openxmlformats.org/drawingml/2006/main" noGrp="1"/>
          </p:cNvSpPr>
          <p:nvPr/>
        </p:nvSpPr>
        <p:spPr>
          <a:xfrm xmlns:a="http://schemas.openxmlformats.org/drawingml/2006/main">
            <a:off x="2371725" y="2276475"/>
            <a:ext cx="857250" cy="14288"/>
          </a:xfrm>
          <a:prstGeom xmlns:a="http://schemas.openxmlformats.org/drawingml/2006/main" prst="rect">
            <a:avLst/>
          </a:prstGeom>
          <a:solidFill xmlns:a="http://schemas.openxmlformats.org/drawingml/2006/main">
            <a:srgbClr val="172A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C28516-1260-40A6-85C0-3EFC1F1D2428}"/>
              </a:ext>
            </a:extLst>
          </p:cNvPr>
          <p:cNvSpPr>
            <a:spLocks xmlns:a="http://schemas.openxmlformats.org/drawingml/2006/main" noGrp="1"/>
          </p:cNvSpPr>
          <p:nvPr/>
        </p:nvSpPr>
        <p:spPr>
          <a:xfrm xmlns:a="http://schemas.openxmlformats.org/drawingml/2006/main">
            <a:off x="2333625" y="23145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A3A"/>
                </a:solidFill>
                <a:latin typeface="Arial"/>
                <a:ea typeface="Arial"/>
                <a:cs typeface="Arial"/>
              </a:defRPr>
            </a:defPPr>
            <a:lvl1pPr>
              <a:defRPr sz="2025" b="0">
                <a:solidFill>
                  <a:srgbClr val="172A3A"/>
                </a:solidFill>
                <a:latin typeface="Arial"/>
                <a:ea typeface="Arial"/>
                <a:cs typeface="Arial"/>
              </a:defRPr>
            </a:lvl1pPr>
            <a:lvl2pPr>
              <a:defRPr sz="2025" b="0">
                <a:solidFill>
                  <a:srgbClr val="172A3A"/>
                </a:solidFill>
                <a:latin typeface="Arial"/>
                <a:ea typeface="Arial"/>
                <a:cs typeface="Arial"/>
              </a:defRPr>
            </a:lvl2pPr>
            <a:lvl3pPr>
              <a:defRPr sz="2025" b="0">
                <a:solidFill>
                  <a:srgbClr val="172A3A"/>
                </a:solidFill>
                <a:latin typeface="Arial"/>
                <a:ea typeface="Arial"/>
                <a:cs typeface="Arial"/>
              </a:defRPr>
            </a:lvl3pPr>
            <a:lvl4pPr>
              <a:defRPr sz="2025" b="0">
                <a:solidFill>
                  <a:srgbClr val="172A3A"/>
                </a:solidFill>
                <a:latin typeface="Arial"/>
                <a:ea typeface="Arial"/>
                <a:cs typeface="Arial"/>
              </a:defRPr>
            </a:lvl4pPr>
            <a:lvl5pPr>
              <a:defRPr sz="2025" b="0">
                <a:solidFill>
                  <a:srgbClr val="172A3A"/>
                </a:solidFill>
                <a:latin typeface="Arial"/>
                <a:ea typeface="Arial"/>
                <a:cs typeface="Arial"/>
              </a:defRPr>
            </a:lvl5pPr>
            <a:lvl6pPr>
              <a:defRPr sz="2025" b="0">
                <a:solidFill>
                  <a:srgbClr val="172A3A"/>
                </a:solidFill>
                <a:latin typeface="Arial"/>
                <a:ea typeface="Arial"/>
                <a:cs typeface="Arial"/>
              </a:defRPr>
            </a:lvl6pPr>
            <a:lvl7pPr>
              <a:defRPr sz="2025" b="0">
                <a:solidFill>
                  <a:srgbClr val="172A3A"/>
                </a:solidFill>
                <a:latin typeface="Arial"/>
                <a:ea typeface="Arial"/>
                <a:cs typeface="Arial"/>
              </a:defRPr>
            </a:lvl7pPr>
            <a:lvl8pPr>
              <a:defRPr sz="2025" b="0">
                <a:solidFill>
                  <a:srgbClr val="172A3A"/>
                </a:solidFill>
                <a:latin typeface="Arial"/>
                <a:ea typeface="Arial"/>
                <a:cs typeface="Arial"/>
              </a:defRPr>
            </a:lvl8pPr>
            <a:lvl9pPr>
              <a:defRPr sz="2025" b="0">
                <a:solidFill>
                  <a:srgbClr val="172A3A"/>
                </a:solidFill>
                <a:latin typeface="Arial"/>
                <a:ea typeface="Arial"/>
                <a:cs typeface="Arial"/>
              </a:defRPr>
            </a:lvl9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H − 1</a:t>
            </a:r>
          </a:p>
        </p:txBody>
      </p:sp>
      <p:sp>
        <p:nvSpPr>
          <p:cNvPr id="6" name="">
            <a:extLst xmlns:a="http://schemas.openxmlformats.org/drawingml/2006/main">
              <a:ext uri="{FF2B5EF4-FFF2-40B4-BE49-F238E27FC236}">
                <a16:creationId xmlns:a16="http://schemas.microsoft.com/office/drawing/2014/main" id="{CB651C13-FA25-40DE-8516-3525815E5DDD}"/>
              </a:ext>
            </a:extLst>
          </p:cNvPr>
          <p:cNvSpPr>
            <a:spLocks xmlns:a="http://schemas.openxmlformats.org/drawingml/2006/main" noGrp="1"/>
          </p:cNvSpPr>
          <p:nvPr/>
        </p:nvSpPr>
        <p:spPr>
          <a:xfrm xmlns:a="http://schemas.openxmlformats.org/drawingml/2006/main">
            <a:off x="3419475" y="181927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H − 1</a:t>
            </a:r>
          </a:p>
        </p:txBody>
      </p:sp>
      <p:sp>
        <p:nvSpPr>
          <p:cNvPr id="7" name="">
            <a:extLst xmlns:a="http://schemas.openxmlformats.org/drawingml/2006/main">
              <a:ext uri="{FF2B5EF4-FFF2-40B4-BE49-F238E27FC236}">
                <a16:creationId xmlns:a16="http://schemas.microsoft.com/office/drawing/2014/main" id="{49DBC1E7-1DBB-4F6E-81B7-9985856B3D9E}"/>
              </a:ext>
            </a:extLst>
          </p:cNvPr>
          <p:cNvSpPr>
            <a:spLocks xmlns:a="http://schemas.openxmlformats.org/drawingml/2006/main" noGrp="1"/>
          </p:cNvSpPr>
          <p:nvPr/>
        </p:nvSpPr>
        <p:spPr>
          <a:xfrm xmlns:a="http://schemas.openxmlformats.org/drawingml/2006/main">
            <a:off x="3467100" y="2009775"/>
            <a:ext cx="68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75" b="0">
                <a:solidFill>
                  <a:srgbClr val="172A3A"/>
                </a:solidFill>
                <a:latin typeface="Arial"/>
                <a:ea typeface="Arial"/>
                <a:cs typeface="Arial"/>
              </a:defRPr>
            </a:defPPr>
            <a:lvl1pPr>
              <a:defRPr sz="3075" b="0">
                <a:solidFill>
                  <a:srgbClr val="172A3A"/>
                </a:solidFill>
                <a:latin typeface="Arial"/>
                <a:ea typeface="Arial"/>
                <a:cs typeface="Arial"/>
              </a:defRPr>
            </a:lvl1pPr>
            <a:lvl2pPr>
              <a:defRPr sz="3075" b="0">
                <a:solidFill>
                  <a:srgbClr val="172A3A"/>
                </a:solidFill>
                <a:latin typeface="Arial"/>
                <a:ea typeface="Arial"/>
                <a:cs typeface="Arial"/>
              </a:defRPr>
            </a:lvl2pPr>
            <a:lvl3pPr>
              <a:defRPr sz="3075" b="0">
                <a:solidFill>
                  <a:srgbClr val="172A3A"/>
                </a:solidFill>
                <a:latin typeface="Arial"/>
                <a:ea typeface="Arial"/>
                <a:cs typeface="Arial"/>
              </a:defRPr>
            </a:lvl3pPr>
            <a:lvl4pPr>
              <a:defRPr sz="3075" b="0">
                <a:solidFill>
                  <a:srgbClr val="172A3A"/>
                </a:solidFill>
                <a:latin typeface="Arial"/>
                <a:ea typeface="Arial"/>
                <a:cs typeface="Arial"/>
              </a:defRPr>
            </a:lvl4pPr>
            <a:lvl5pPr>
              <a:defRPr sz="3075" b="0">
                <a:solidFill>
                  <a:srgbClr val="172A3A"/>
                </a:solidFill>
                <a:latin typeface="Arial"/>
                <a:ea typeface="Arial"/>
                <a:cs typeface="Arial"/>
              </a:defRPr>
            </a:lvl5pPr>
            <a:lvl6pPr>
              <a:defRPr sz="3075" b="0">
                <a:solidFill>
                  <a:srgbClr val="172A3A"/>
                </a:solidFill>
                <a:latin typeface="Arial"/>
                <a:ea typeface="Arial"/>
                <a:cs typeface="Arial"/>
              </a:defRPr>
            </a:lvl6pPr>
            <a:lvl7pPr>
              <a:defRPr sz="3075" b="0">
                <a:solidFill>
                  <a:srgbClr val="172A3A"/>
                </a:solidFill>
                <a:latin typeface="Arial"/>
                <a:ea typeface="Arial"/>
                <a:cs typeface="Arial"/>
              </a:defRPr>
            </a:lvl7pPr>
            <a:lvl8pPr>
              <a:defRPr sz="3075" b="0">
                <a:solidFill>
                  <a:srgbClr val="172A3A"/>
                </a:solidFill>
                <a:latin typeface="Arial"/>
                <a:ea typeface="Arial"/>
                <a:cs typeface="Arial"/>
              </a:defRPr>
            </a:lvl8pPr>
            <a:lvl9pPr>
              <a:defRPr sz="3075" b="0">
                <a:solidFill>
                  <a:srgbClr val="172A3A"/>
                </a:solidFill>
                <a:latin typeface="Arial"/>
                <a:ea typeface="Arial"/>
                <a:cs typeface="Arial"/>
              </a:defRPr>
            </a:lvl9pPr>
          </a:lstStyle>
          <a:p xmlns:a="http://schemas.openxmlformats.org/drawingml/2006/main">
            <a:pPr>
              <a:defRPr sz="3075" b="0">
                <a:solidFill>
                  <a:srgbClr val="172A3A"/>
                </a:solidFill>
                <a:latin typeface="Arial"/>
                <a:ea typeface="Arial"/>
                <a:cs typeface="Arial"/>
              </a:defRPr>
            </a:pPr>
            <a:r>
              <a:rPr sz="3075" b="0">
                <a:solidFill>
                  <a:srgbClr val="172A3A"/>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8E302ED7-BA39-4F10-8022-7C67974DF81B}"/>
              </a:ext>
            </a:extLst>
          </p:cNvPr>
          <p:cNvSpPr>
            <a:spLocks xmlns:a="http://schemas.openxmlformats.org/drawingml/2006/main" noGrp="1"/>
          </p:cNvSpPr>
          <p:nvPr/>
        </p:nvSpPr>
        <p:spPr>
          <a:xfrm xmlns:a="http://schemas.openxmlformats.org/drawingml/2006/main">
            <a:off x="3467100" y="246697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i = 1</a:t>
            </a:r>
          </a:p>
        </p:txBody>
      </p:sp>
      <p:sp>
        <p:nvSpPr>
          <p:cNvPr id="9" name="">
            <a:extLst xmlns:a="http://schemas.openxmlformats.org/drawingml/2006/main">
              <a:ext uri="{FF2B5EF4-FFF2-40B4-BE49-F238E27FC236}">
                <a16:creationId xmlns:a16="http://schemas.microsoft.com/office/drawing/2014/main" id="{C0710000-0A26-4961-8F0A-306A475B66A9}"/>
              </a:ext>
            </a:extLst>
          </p:cNvPr>
          <p:cNvSpPr>
            <a:spLocks xmlns:a="http://schemas.openxmlformats.org/drawingml/2006/main" noGrp="1"/>
          </p:cNvSpPr>
          <p:nvPr/>
        </p:nvSpPr>
        <p:spPr>
          <a:xfrm xmlns:a="http://schemas.openxmlformats.org/drawingml/2006/main">
            <a:off x="4267200" y="2190750"/>
            <a:ext cx="14288" cy="304800"/>
          </a:xfrm>
          <a:prstGeom xmlns:a="http://schemas.openxmlformats.org/drawingml/2006/main" prst="rect">
            <a:avLst/>
          </a:prstGeom>
          <a:solidFill xmlns:a="http://schemas.openxmlformats.org/drawingml/2006/main">
            <a:srgbClr val="172A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EA90753-D7E8-43FA-9F97-4D1704F350DB}"/>
              </a:ext>
            </a:extLst>
          </p:cNvPr>
          <p:cNvSpPr>
            <a:spLocks xmlns:a="http://schemas.openxmlformats.org/drawingml/2006/main" noGrp="1"/>
          </p:cNvSpPr>
          <p:nvPr/>
        </p:nvSpPr>
        <p:spPr>
          <a:xfrm xmlns:a="http://schemas.openxmlformats.org/drawingml/2006/main">
            <a:off x="4352925" y="2133600"/>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x</a:t>
            </a:r>
          </a:p>
        </p:txBody>
      </p:sp>
      <p:sp>
        <p:nvSpPr>
          <p:cNvPr id="11" name="">
            <a:extLst xmlns:a="http://schemas.openxmlformats.org/drawingml/2006/main">
              <a:ext uri="{FF2B5EF4-FFF2-40B4-BE49-F238E27FC236}">
                <a16:creationId xmlns:a16="http://schemas.microsoft.com/office/drawing/2014/main" id="{B7E38C44-CDEF-476A-A7CB-912355F82374}"/>
              </a:ext>
            </a:extLst>
          </p:cNvPr>
          <p:cNvSpPr>
            <a:spLocks xmlns:a="http://schemas.openxmlformats.org/drawingml/2006/main" noGrp="1"/>
          </p:cNvSpPr>
          <p:nvPr/>
        </p:nvSpPr>
        <p:spPr>
          <a:xfrm xmlns:a="http://schemas.openxmlformats.org/drawingml/2006/main">
            <a:off x="4533900" y="23431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i+1</a:t>
            </a:r>
          </a:p>
        </p:txBody>
      </p:sp>
      <p:sp>
        <p:nvSpPr>
          <p:cNvPr id="12" name="">
            <a:extLst xmlns:a="http://schemas.openxmlformats.org/drawingml/2006/main">
              <a:ext uri="{FF2B5EF4-FFF2-40B4-BE49-F238E27FC236}">
                <a16:creationId xmlns:a16="http://schemas.microsoft.com/office/drawing/2014/main" id="{113334C1-EDE0-41C8-ADBD-CC37B14100CE}"/>
              </a:ext>
            </a:extLst>
          </p:cNvPr>
          <p:cNvSpPr>
            <a:spLocks xmlns:a="http://schemas.openxmlformats.org/drawingml/2006/main" noGrp="1"/>
          </p:cNvSpPr>
          <p:nvPr/>
        </p:nvSpPr>
        <p:spPr>
          <a:xfrm xmlns:a="http://schemas.openxmlformats.org/drawingml/2006/main">
            <a:off x="4981575" y="2133600"/>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994CC63B-675A-488A-B1D6-A32652007E4B}"/>
              </a:ext>
            </a:extLst>
          </p:cNvPr>
          <p:cNvSpPr>
            <a:spLocks xmlns:a="http://schemas.openxmlformats.org/drawingml/2006/main" noGrp="1"/>
          </p:cNvSpPr>
          <p:nvPr/>
        </p:nvSpPr>
        <p:spPr>
          <a:xfrm xmlns:a="http://schemas.openxmlformats.org/drawingml/2006/main">
            <a:off x="5324475" y="2133600"/>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x</a:t>
            </a:r>
          </a:p>
        </p:txBody>
      </p:sp>
      <p:sp>
        <p:nvSpPr>
          <p:cNvPr id="14" name="">
            <a:extLst xmlns:a="http://schemas.openxmlformats.org/drawingml/2006/main">
              <a:ext uri="{FF2B5EF4-FFF2-40B4-BE49-F238E27FC236}">
                <a16:creationId xmlns:a16="http://schemas.microsoft.com/office/drawing/2014/main" id="{018EEB48-4F8D-4562-B005-3DA86609760F}"/>
              </a:ext>
            </a:extLst>
          </p:cNvPr>
          <p:cNvSpPr>
            <a:spLocks xmlns:a="http://schemas.openxmlformats.org/drawingml/2006/main" noGrp="1"/>
          </p:cNvSpPr>
          <p:nvPr/>
        </p:nvSpPr>
        <p:spPr>
          <a:xfrm xmlns:a="http://schemas.openxmlformats.org/drawingml/2006/main">
            <a:off x="5505450" y="23431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i</a:t>
            </a:r>
          </a:p>
        </p:txBody>
      </p:sp>
      <p:sp>
        <p:nvSpPr>
          <p:cNvPr id="15" name="">
            <a:extLst xmlns:a="http://schemas.openxmlformats.org/drawingml/2006/main">
              <a:ext uri="{FF2B5EF4-FFF2-40B4-BE49-F238E27FC236}">
                <a16:creationId xmlns:a16="http://schemas.microsoft.com/office/drawing/2014/main" id="{7E134934-FC29-438F-B67F-03A0C0BFCB8D}"/>
              </a:ext>
            </a:extLst>
          </p:cNvPr>
          <p:cNvSpPr>
            <a:spLocks xmlns:a="http://schemas.openxmlformats.org/drawingml/2006/main" noGrp="1"/>
          </p:cNvSpPr>
          <p:nvPr/>
        </p:nvSpPr>
        <p:spPr>
          <a:xfrm xmlns:a="http://schemas.openxmlformats.org/drawingml/2006/main">
            <a:off x="5838825" y="2190750"/>
            <a:ext cx="14288" cy="304800"/>
          </a:xfrm>
          <a:prstGeom xmlns:a="http://schemas.openxmlformats.org/drawingml/2006/main" prst="rect">
            <a:avLst/>
          </a:prstGeom>
          <a:solidFill xmlns:a="http://schemas.openxmlformats.org/drawingml/2006/main">
            <a:srgbClr val="172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991CA7E-F805-4D6E-9FD4-EDB16BB9359B}"/>
              </a:ext>
            </a:extLst>
          </p:cNvPr>
          <p:cNvSpPr>
            <a:spLocks xmlns:a="http://schemas.openxmlformats.org/drawingml/2006/main" noGrp="1"/>
          </p:cNvSpPr>
          <p:nvPr/>
        </p:nvSpPr>
        <p:spPr>
          <a:xfrm xmlns:a="http://schemas.openxmlformats.org/drawingml/2006/main">
            <a:off x="7953375" y="1971675"/>
            <a:ext cx="347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x: one forecast trajectory</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H: number of future points</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i: forecast-point index</a:t>
            </a:r>
          </a:p>
        </p:txBody>
      </p:sp>
      <p:sp>
        <p:nvSpPr>
          <p:cNvPr id="17" name="">
            <a:extLst xmlns:a="http://schemas.openxmlformats.org/drawingml/2006/main">
              <a:ext uri="{FF2B5EF4-FFF2-40B4-BE49-F238E27FC236}">
                <a16:creationId xmlns:a16="http://schemas.microsoft.com/office/drawing/2014/main" id="{A0214476-7E83-4C3A-A1FA-0B373B1D991F}"/>
              </a:ext>
            </a:extLst>
          </p:cNvPr>
          <p:cNvSpPr>
            <a:spLocks xmlns:a="http://schemas.openxmlformats.org/drawingml/2006/main" noGrp="1"/>
          </p:cNvSpPr>
          <p:nvPr/>
        </p:nvSpPr>
        <p:spPr>
          <a:xfrm xmlns:a="http://schemas.openxmlformats.org/drawingml/2006/main">
            <a:off x="723900" y="27622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Reported ratio = mean R1 of generated paths / mean R1 of observed paths; 1 means a match.</a:t>
            </a:r>
          </a:p>
        </p:txBody>
      </p:sp>
      <p:sp>
        <p:nvSpPr>
          <p:cNvPr id="18" name="">
            <a:extLst xmlns:a="http://schemas.openxmlformats.org/drawingml/2006/main">
              <a:ext uri="{FF2B5EF4-FFF2-40B4-BE49-F238E27FC236}">
                <a16:creationId xmlns:a16="http://schemas.microsoft.com/office/drawing/2014/main" id="{6CC29FFD-4703-468A-83C6-082EBA9E8908}"/>
              </a:ext>
            </a:extLst>
          </p:cNvPr>
          <p:cNvSpPr>
            <a:spLocks xmlns:a="http://schemas.openxmlformats.org/drawingml/2006/main" noGrp="1"/>
          </p:cNvSpPr>
          <p:nvPr/>
        </p:nvSpPr>
        <p:spPr>
          <a:xfrm xmlns:a="http://schemas.openxmlformats.org/drawingml/2006/main">
            <a:off x="723900" y="1400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0">
                <a:solidFill>
                  <a:srgbClr val="43596C"/>
                </a:solidFill>
                <a:latin typeface="Arial"/>
                <a:ea typeface="Arial"/>
                <a:cs typeface="Arial"/>
              </a:defRPr>
            </a:defPPr>
            <a:lvl1pPr>
              <a:defRPr sz="1500" b="0">
                <a:solidFill>
                  <a:srgbClr val="43596C"/>
                </a:solidFill>
                <a:latin typeface="Arial"/>
                <a:ea typeface="Arial"/>
                <a:cs typeface="Arial"/>
              </a:defRPr>
            </a:lvl1pPr>
            <a:lvl2pPr>
              <a:defRPr sz="1500" b="0">
                <a:solidFill>
                  <a:srgbClr val="43596C"/>
                </a:solidFill>
                <a:latin typeface="Arial"/>
                <a:ea typeface="Arial"/>
                <a:cs typeface="Arial"/>
              </a:defRPr>
            </a:lvl2pPr>
            <a:lvl3pPr>
              <a:defRPr sz="1500" b="0">
                <a:solidFill>
                  <a:srgbClr val="43596C"/>
                </a:solidFill>
                <a:latin typeface="Arial"/>
                <a:ea typeface="Arial"/>
                <a:cs typeface="Arial"/>
              </a:defRPr>
            </a:lvl3pPr>
            <a:lvl4pPr>
              <a:defRPr sz="1500" b="0">
                <a:solidFill>
                  <a:srgbClr val="43596C"/>
                </a:solidFill>
                <a:latin typeface="Arial"/>
                <a:ea typeface="Arial"/>
                <a:cs typeface="Arial"/>
              </a:defRPr>
            </a:lvl4pPr>
            <a:lvl5pPr>
              <a:defRPr sz="1500" b="0">
                <a:solidFill>
                  <a:srgbClr val="43596C"/>
                </a:solidFill>
                <a:latin typeface="Arial"/>
                <a:ea typeface="Arial"/>
                <a:cs typeface="Arial"/>
              </a:defRPr>
            </a:lvl5pPr>
            <a:lvl6pPr>
              <a:defRPr sz="1500" b="0">
                <a:solidFill>
                  <a:srgbClr val="43596C"/>
                </a:solidFill>
                <a:latin typeface="Arial"/>
                <a:ea typeface="Arial"/>
                <a:cs typeface="Arial"/>
              </a:defRPr>
            </a:lvl6pPr>
            <a:lvl7pPr>
              <a:defRPr sz="1500" b="0">
                <a:solidFill>
                  <a:srgbClr val="43596C"/>
                </a:solidFill>
                <a:latin typeface="Arial"/>
                <a:ea typeface="Arial"/>
                <a:cs typeface="Arial"/>
              </a:defRPr>
            </a:lvl7pPr>
            <a:lvl8pPr>
              <a:defRPr sz="1500" b="0">
                <a:solidFill>
                  <a:srgbClr val="43596C"/>
                </a:solidFill>
                <a:latin typeface="Arial"/>
                <a:ea typeface="Arial"/>
                <a:cs typeface="Arial"/>
              </a:defRPr>
            </a:lvl8pPr>
            <a:lvl9pPr>
              <a:defRPr sz="1500" b="0">
                <a:solidFill>
                  <a:srgbClr val="43596C"/>
                </a:solidFill>
                <a:latin typeface="Arial"/>
                <a:ea typeface="Arial"/>
                <a:cs typeface="Arial"/>
              </a:defRPr>
            </a:lvl9pPr>
          </a:lstStyle>
          <a:p xmlns:a="http://schemas.openxmlformats.org/drawingml/2006/main">
            <a:pPr>
              <a:defRPr sz="1500" b="0">
                <a:solidFill>
                  <a:srgbClr val="43596C"/>
                </a:solidFill>
                <a:latin typeface="Arial"/>
                <a:ea typeface="Arial"/>
                <a:cs typeface="Arial"/>
              </a:defRPr>
            </a:pPr>
            <a:r>
              <a:rPr sz="1500" b="0">
                <a:solidFill>
                  <a:srgbClr val="43596C"/>
                </a:solidFill>
                <a:latin typeface="Arial"/>
                <a:ea typeface="Arial"/>
                <a:cs typeface="Arial"/>
              </a:rPr>
              <a:t>MSE = mean squared error of predicted velocity v against target u (lower is better).</a:t>
            </a:r>
          </a:p>
          <a:p xmlns:a="http://schemas.openxmlformats.org/drawingml/2006/main">
            <a:pPr>
              <a:defRPr sz="1500" b="0">
                <a:solidFill>
                  <a:srgbClr val="43596C"/>
                </a:solidFill>
                <a:latin typeface="Arial"/>
                <a:ea typeface="Arial"/>
                <a:cs typeface="Arial"/>
              </a:defRPr>
            </a:pPr>
            <a:r>
              <a:rPr sz="1500" b="0">
                <a:solidFill>
                  <a:srgbClr val="43596C"/>
                </a:solidFill>
                <a:latin typeface="Arial"/>
                <a:ea typeface="Arial"/>
                <a:cs typeface="Arial"/>
              </a:rPr>
              <a:t>Errors use training-velocity PCs; residual = mean over PC3–16, after the two leading directions.</a:t>
            </a:r>
          </a:p>
        </p:txBody>
      </p:sp>
      <p:graphicFrame>
        <p:nvGraphicFramePr>
          <p:cNvPr id="19" name="">
            <a:extLst xmlns:a="http://schemas.openxmlformats.org/drawingml/2006/main">
              <a:ext uri="{FF2B5EF4-FFF2-40B4-BE49-F238E27FC236}">
                <a16:creationId xmlns:a16="http://schemas.microsoft.com/office/drawing/2014/main" id="{2CE64E88-AB0D-424E-8C56-8405FD5F5A8D}"/>
              </a:ext>
            </a:extLst>
          </p:cNvPr>
          <p:cNvGraphicFramePr/>
          <p:nvPr/>
        </p:nvGraphicFramePr>
        <p:xfrm>
          <a:off xmlns:a="http://schemas.openxmlformats.org/drawingml/2006/main" x="685800" y="3143250"/>
          <a:ext xmlns:a="http://schemas.openxmlformats.org/drawingml/2006/main" cx="10820400" cy="2286000"/>
        </p:xfrm>
        <a:graphic xmlns:a="http://schemas.openxmlformats.org/drawingml/2006/main">
          <a:graphicData uri="http://schemas.openxmlformats.org/drawingml/2006/table">
            <a:tbl>
              <a:tblPr firstRow="1" bandRow="0"/>
              <a:tblGrid>
                <a:gridCol w="3810000"/>
                <a:gridCol w="2238375"/>
                <a:gridCol w="2533650"/>
                <a:gridCol w="2238375"/>
              </a:tblGrid>
              <a:tr h="381000">
                <a:tc>
                  <a:txBody>
                    <a:bodyPr/>
                    <a:lstStyle/>
                    <a:p>
                      <a:r>
                        <a:rPr sz="1575" b="1">
                          <a:solidFill>
                            <a:srgbClr val="172A3A"/>
                          </a:solidFill>
                          <a:latin typeface="Arial"/>
                          <a:ea typeface="Arial"/>
                          <a:cs typeface="Arial"/>
                        </a:rPr>
                        <a:t>Source / velocity head</a:t>
                      </a:r>
                    </a:p>
                  </a:txBody>
                  <a:tcPr marL="91440" marR="91440" marT="45720" marB="45720">
                    <a:lnL w="9525">
                      <a:solidFill>
                        <a:srgbClr val="D5E0E8"/>
                      </a:solidFill>
                      <a:prstDash val="solid"/>
                    </a:lnL>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575" b="1">
                          <a:solidFill>
                            <a:srgbClr val="172A3A"/>
                          </a:solidFill>
                          <a:latin typeface="Arial"/>
                          <a:ea typeface="Arial"/>
                          <a:cs typeface="Arial"/>
                        </a:rPr>
                        <a:t>MSE: PC1</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575" b="1">
                          <a:solidFill>
                            <a:srgbClr val="172A3A"/>
                          </a:solidFill>
                          <a:latin typeface="Arial"/>
                          <a:ea typeface="Arial"/>
                          <a:cs typeface="Arial"/>
                        </a:rPr>
                        <a:t>Mean MSE: PC3–16</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575" b="1">
                          <a:solidFill>
                            <a:srgbClr val="172A3A"/>
                          </a:solidFill>
                          <a:latin typeface="Arial"/>
                          <a:ea typeface="Arial"/>
                          <a:cs typeface="Arial"/>
                        </a:rPr>
                        <a:t>R1 ratio</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r>
              <a:tr h="381000">
                <a:tc>
                  <a:txBody>
                    <a:bodyPr/>
                    <a:lstStyle/>
                    <a:p>
                      <a:r>
                        <a:rPr sz="1575" b="0">
                          <a:solidFill>
                            <a:srgbClr val="172A3A"/>
                          </a:solidFill>
                          <a:latin typeface="Arial"/>
                          <a:ea typeface="Arial"/>
                          <a:cs typeface="Arial"/>
                        </a:rPr>
                        <a:t>WHITE / MLP</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6.677</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0.1221</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1.058</a:t>
                      </a:r>
                    </a:p>
                  </a:txBody>
                  <a:tcPr marL="91440" marR="91440" marT="45720" marB="45720">
                    <a:lnR w="9525">
                      <a:solidFill>
                        <a:srgbClr val="D5E0E8"/>
                      </a:solidFill>
                      <a:prstDash val="solid"/>
                    </a:lnR>
                    <a:lnB w="9525">
                      <a:solidFill>
                        <a:srgbClr val="D5E0E8"/>
                      </a:solidFill>
                      <a:prstDash val="solid"/>
                    </a:lnB>
                    <a:solidFill>
                      <a:srgbClr val="FFFFFF"/>
                    </a:solidFill>
                  </a:tcPr>
                </a:tc>
              </a:tr>
              <a:tr h="381000">
                <a:tc>
                  <a:txBody>
                    <a:bodyPr/>
                    <a:lstStyle/>
                    <a:p>
                      <a:r>
                        <a:rPr sz="1575" b="0">
                          <a:solidFill>
                            <a:srgbClr val="172A3A"/>
                          </a:solidFill>
                          <a:latin typeface="Arial"/>
                          <a:ea typeface="Arial"/>
                          <a:cs typeface="Arial"/>
                        </a:rPr>
                        <a:t>WHITE / S4</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7.321</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0.1249</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1.045</a:t>
                      </a:r>
                    </a:p>
                  </a:txBody>
                  <a:tcPr marL="91440" marR="91440" marT="45720" marB="45720">
                    <a:lnR w="9525">
                      <a:solidFill>
                        <a:srgbClr val="D5E0E8"/>
                      </a:solidFill>
                      <a:prstDash val="solid"/>
                    </a:lnR>
                    <a:lnB w="9525">
                      <a:solidFill>
                        <a:srgbClr val="D5E0E8"/>
                      </a:solidFill>
                      <a:prstDash val="solid"/>
                    </a:lnB>
                    <a:solidFill>
                      <a:srgbClr val="FFFFFF"/>
                    </a:solidFill>
                  </a:tcPr>
                </a:tc>
              </a:tr>
              <a:tr h="381000">
                <a:tc>
                  <a:txBody>
                    <a:bodyPr/>
                    <a:lstStyle/>
                    <a:p>
                      <a:r>
                        <a:rPr sz="1575" b="0">
                          <a:solidFill>
                            <a:srgbClr val="172A3A"/>
                          </a:solidFill>
                          <a:latin typeface="Arial"/>
                          <a:ea typeface="Arial"/>
                          <a:cs typeface="Arial"/>
                        </a:rPr>
                        <a:t>GP / MLP</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14.929</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0.0493</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1.018</a:t>
                      </a:r>
                    </a:p>
                  </a:txBody>
                  <a:tcPr marL="91440" marR="91440" marT="45720" marB="45720">
                    <a:lnR w="9525">
                      <a:solidFill>
                        <a:srgbClr val="D5E0E8"/>
                      </a:solidFill>
                      <a:prstDash val="solid"/>
                    </a:lnR>
                    <a:lnB w="9525">
                      <a:solidFill>
                        <a:srgbClr val="D5E0E8"/>
                      </a:solidFill>
                      <a:prstDash val="solid"/>
                    </a:lnB>
                    <a:solidFill>
                      <a:srgbClr val="FFFFFF"/>
                    </a:solidFill>
                  </a:tcPr>
                </a:tc>
              </a:tr>
              <a:tr h="381000">
                <a:tc>
                  <a:txBody>
                    <a:bodyPr/>
                    <a:lstStyle/>
                    <a:p>
                      <a:r>
                        <a:rPr sz="1575" b="0">
                          <a:solidFill>
                            <a:srgbClr val="172A3A"/>
                          </a:solidFill>
                          <a:latin typeface="Arial"/>
                          <a:ea typeface="Arial"/>
                          <a:cs typeface="Arial"/>
                        </a:rPr>
                        <a:t>GP / S4</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15.502</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0.0583</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1.039</a:t>
                      </a:r>
                    </a:p>
                  </a:txBody>
                  <a:tcPr marL="91440" marR="91440" marT="45720" marB="45720">
                    <a:lnR w="9525">
                      <a:solidFill>
                        <a:srgbClr val="D5E0E8"/>
                      </a:solidFill>
                      <a:prstDash val="solid"/>
                    </a:lnR>
                    <a:lnB w="9525">
                      <a:solidFill>
                        <a:srgbClr val="D5E0E8"/>
                      </a:solidFill>
                      <a:prstDash val="solid"/>
                    </a:lnB>
                    <a:solidFill>
                      <a:srgbClr val="FFFFFF"/>
                    </a:solidFill>
                  </a:tcPr>
                </a:tc>
              </a:tr>
              <a:tr h="381000">
                <a:tc>
                  <a:txBody>
                    <a:bodyPr/>
                    <a:lstStyle/>
                    <a:p>
                      <a:r>
                        <a:rPr sz="1575" b="0">
                          <a:solidFill>
                            <a:srgbClr val="172A3A"/>
                          </a:solidFill>
                          <a:latin typeface="Arial"/>
                          <a:ea typeface="Arial"/>
                          <a:cs typeface="Arial"/>
                        </a:rPr>
                        <a:t>GP / Whitened MLP</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13.618</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0.0401</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575" b="0">
                          <a:solidFill>
                            <a:srgbClr val="172A3A"/>
                          </a:solidFill>
                          <a:latin typeface="Arial"/>
                          <a:ea typeface="Arial"/>
                          <a:cs typeface="Arial"/>
                        </a:rPr>
                        <a:t>1.016</a:t>
                      </a:r>
                    </a:p>
                  </a:txBody>
                  <a:tcPr marL="91440" marR="91440" marT="45720" marB="45720">
                    <a:lnR w="9525">
                      <a:solidFill>
                        <a:srgbClr val="D5E0E8"/>
                      </a:solidFill>
                      <a:prstDash val="solid"/>
                    </a:lnR>
                    <a:lnB w="9525">
                      <a:solidFill>
                        <a:srgbClr val="D5E0E8"/>
                      </a:solidFill>
                      <a:prstDash val="solid"/>
                    </a:lnB>
                    <a:solidFill>
                      <a:srgbClr val="FFFFFF"/>
                    </a:solidFill>
                  </a:tcPr>
                </a:tc>
              </a:tr>
            </a:tbl>
          </a:graphicData>
        </a:graphic>
      </p:graphicFrame>
      <p:sp>
        <p:nvSpPr>
          <p:cNvPr id="20" name="">
            <a:extLst xmlns:a="http://schemas.openxmlformats.org/drawingml/2006/main">
              <a:ext uri="{FF2B5EF4-FFF2-40B4-BE49-F238E27FC236}">
                <a16:creationId xmlns:a16="http://schemas.microsoft.com/office/drawing/2014/main" id="{23C63715-8B4C-4D03-A328-8675BB77DBF9}"/>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43596C"/>
                </a:solidFill>
                <a:latin typeface="Arial"/>
                <a:ea typeface="Arial"/>
                <a:cs typeface="Arial"/>
              </a:defRPr>
            </a:defPPr>
            <a:lvl1pPr>
              <a:defRPr sz="1650" b="0">
                <a:solidFill>
                  <a:srgbClr val="43596C"/>
                </a:solidFill>
                <a:latin typeface="Arial"/>
                <a:ea typeface="Arial"/>
                <a:cs typeface="Arial"/>
              </a:defRPr>
            </a:lvl1pPr>
            <a:lvl2pPr>
              <a:defRPr sz="1650" b="0">
                <a:solidFill>
                  <a:srgbClr val="43596C"/>
                </a:solidFill>
                <a:latin typeface="Arial"/>
                <a:ea typeface="Arial"/>
                <a:cs typeface="Arial"/>
              </a:defRPr>
            </a:lvl2pPr>
            <a:lvl3pPr>
              <a:defRPr sz="1650" b="0">
                <a:solidFill>
                  <a:srgbClr val="43596C"/>
                </a:solidFill>
                <a:latin typeface="Arial"/>
                <a:ea typeface="Arial"/>
                <a:cs typeface="Arial"/>
              </a:defRPr>
            </a:lvl3pPr>
            <a:lvl4pPr>
              <a:defRPr sz="1650" b="0">
                <a:solidFill>
                  <a:srgbClr val="43596C"/>
                </a:solidFill>
                <a:latin typeface="Arial"/>
                <a:ea typeface="Arial"/>
                <a:cs typeface="Arial"/>
              </a:defRPr>
            </a:lvl4pPr>
            <a:lvl5pPr>
              <a:defRPr sz="1650" b="0">
                <a:solidFill>
                  <a:srgbClr val="43596C"/>
                </a:solidFill>
                <a:latin typeface="Arial"/>
                <a:ea typeface="Arial"/>
                <a:cs typeface="Arial"/>
              </a:defRPr>
            </a:lvl5pPr>
            <a:lvl6pPr>
              <a:defRPr sz="1650" b="0">
                <a:solidFill>
                  <a:srgbClr val="43596C"/>
                </a:solidFill>
                <a:latin typeface="Arial"/>
                <a:ea typeface="Arial"/>
                <a:cs typeface="Arial"/>
              </a:defRPr>
            </a:lvl6pPr>
            <a:lvl7pPr>
              <a:defRPr sz="1650" b="0">
                <a:solidFill>
                  <a:srgbClr val="43596C"/>
                </a:solidFill>
                <a:latin typeface="Arial"/>
                <a:ea typeface="Arial"/>
                <a:cs typeface="Arial"/>
              </a:defRPr>
            </a:lvl7pPr>
            <a:lvl8pPr>
              <a:defRPr sz="1650" b="0">
                <a:solidFill>
                  <a:srgbClr val="43596C"/>
                </a:solidFill>
                <a:latin typeface="Arial"/>
                <a:ea typeface="Arial"/>
                <a:cs typeface="Arial"/>
              </a:defRPr>
            </a:lvl8pPr>
            <a:lvl9pPr>
              <a:defRPr sz="1650" b="0">
                <a:solidFill>
                  <a:srgbClr val="43596C"/>
                </a:solidFill>
                <a:latin typeface="Arial"/>
                <a:ea typeface="Arial"/>
                <a:cs typeface="Arial"/>
              </a:defRPr>
            </a:lvl9pPr>
          </a:lstStyle>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Original rule: mean MSE(PC3–16)/MSE(PC1) ∈ [0.8,1.2] AND R1 ratio ∈ [0.8,1.2].</a:t>
            </a:r>
          </a:p>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Five-seed means. All 25 runs pass R1; 0/25 pass both conditions.</a:t>
            </a:r>
          </a:p>
        </p:txBody>
      </p:sp>
      <p:sp>
        <p:nvSpPr>
          <p:cNvPr id="21" name="">
            <a:extLst xmlns:a="http://schemas.openxmlformats.org/drawingml/2006/main">
              <a:ext uri="{FF2B5EF4-FFF2-40B4-BE49-F238E27FC236}">
                <a16:creationId xmlns:a16="http://schemas.microsoft.com/office/drawing/2014/main" id="{4F0B758D-84A7-42E1-AD3B-B7271663A8AD}"/>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6</a:t>
            </a:r>
          </a:p>
        </p:txBody>
      </p:sp>
    </p:spTree>
    <p:extLst>
      <p:ext uri="{BB962C8B-B14F-4D97-AF65-F5344CB8AC3E}">
        <p14:creationId xmlns:p14="http://schemas.microsoft.com/office/powerpoint/2010/main" val="1203003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F7A9920-4908-4BF6-B92D-C1CE78ED9D53}"/>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R1 misses changes in slope</a:t>
            </a:r>
          </a:p>
        </p:txBody>
      </p:sp>
      <p:sp>
        <p:nvSpPr>
          <p:cNvPr id="2" name="">
            <a:extLst xmlns:a="http://schemas.openxmlformats.org/drawingml/2006/main">
              <a:ext uri="{FF2B5EF4-FFF2-40B4-BE49-F238E27FC236}">
                <a16:creationId xmlns:a16="http://schemas.microsoft.com/office/drawing/2014/main" id="{76539BFE-77D9-43DE-A31D-A652439C9DFA}"/>
              </a:ext>
            </a:extLst>
          </p:cNvPr>
          <p:cNvSpPr>
            <a:spLocks xmlns:a="http://schemas.openxmlformats.org/drawingml/2006/main" noGrp="1"/>
          </p:cNvSpPr>
          <p:nvPr/>
        </p:nvSpPr>
        <p:spPr>
          <a:xfrm xmlns:a="http://schemas.openxmlformats.org/drawingml/2006/main">
            <a:off x="723900" y="1666875"/>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R₂(x) =</a:t>
            </a:r>
          </a:p>
        </p:txBody>
      </p:sp>
      <p:sp>
        <p:nvSpPr>
          <p:cNvPr id="3" name="">
            <a:extLst xmlns:a="http://schemas.openxmlformats.org/drawingml/2006/main">
              <a:ext uri="{FF2B5EF4-FFF2-40B4-BE49-F238E27FC236}">
                <a16:creationId xmlns:a16="http://schemas.microsoft.com/office/drawing/2014/main" id="{CE40E1F2-460D-451E-9C7B-04302D3D5C31}"/>
              </a:ext>
            </a:extLst>
          </p:cNvPr>
          <p:cNvSpPr>
            <a:spLocks xmlns:a="http://schemas.openxmlformats.org/drawingml/2006/main" noGrp="1"/>
          </p:cNvSpPr>
          <p:nvPr/>
        </p:nvSpPr>
        <p:spPr>
          <a:xfrm xmlns:a="http://schemas.openxmlformats.org/drawingml/2006/main">
            <a:off x="2657475" y="14668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A3A"/>
                </a:solidFill>
                <a:latin typeface="Arial"/>
                <a:ea typeface="Arial"/>
                <a:cs typeface="Arial"/>
              </a:defRPr>
            </a:defPPr>
            <a:lvl1pPr>
              <a:defRPr sz="2025" b="0">
                <a:solidFill>
                  <a:srgbClr val="172A3A"/>
                </a:solidFill>
                <a:latin typeface="Arial"/>
                <a:ea typeface="Arial"/>
                <a:cs typeface="Arial"/>
              </a:defRPr>
            </a:lvl1pPr>
            <a:lvl2pPr>
              <a:defRPr sz="2025" b="0">
                <a:solidFill>
                  <a:srgbClr val="172A3A"/>
                </a:solidFill>
                <a:latin typeface="Arial"/>
                <a:ea typeface="Arial"/>
                <a:cs typeface="Arial"/>
              </a:defRPr>
            </a:lvl2pPr>
            <a:lvl3pPr>
              <a:defRPr sz="2025" b="0">
                <a:solidFill>
                  <a:srgbClr val="172A3A"/>
                </a:solidFill>
                <a:latin typeface="Arial"/>
                <a:ea typeface="Arial"/>
                <a:cs typeface="Arial"/>
              </a:defRPr>
            </a:lvl3pPr>
            <a:lvl4pPr>
              <a:defRPr sz="2025" b="0">
                <a:solidFill>
                  <a:srgbClr val="172A3A"/>
                </a:solidFill>
                <a:latin typeface="Arial"/>
                <a:ea typeface="Arial"/>
                <a:cs typeface="Arial"/>
              </a:defRPr>
            </a:lvl4pPr>
            <a:lvl5pPr>
              <a:defRPr sz="2025" b="0">
                <a:solidFill>
                  <a:srgbClr val="172A3A"/>
                </a:solidFill>
                <a:latin typeface="Arial"/>
                <a:ea typeface="Arial"/>
                <a:cs typeface="Arial"/>
              </a:defRPr>
            </a:lvl5pPr>
            <a:lvl6pPr>
              <a:defRPr sz="2025" b="0">
                <a:solidFill>
                  <a:srgbClr val="172A3A"/>
                </a:solidFill>
                <a:latin typeface="Arial"/>
                <a:ea typeface="Arial"/>
                <a:cs typeface="Arial"/>
              </a:defRPr>
            </a:lvl6pPr>
            <a:lvl7pPr>
              <a:defRPr sz="2025" b="0">
                <a:solidFill>
                  <a:srgbClr val="172A3A"/>
                </a:solidFill>
                <a:latin typeface="Arial"/>
                <a:ea typeface="Arial"/>
                <a:cs typeface="Arial"/>
              </a:defRPr>
            </a:lvl7pPr>
            <a:lvl8pPr>
              <a:defRPr sz="2025" b="0">
                <a:solidFill>
                  <a:srgbClr val="172A3A"/>
                </a:solidFill>
                <a:latin typeface="Arial"/>
                <a:ea typeface="Arial"/>
                <a:cs typeface="Arial"/>
              </a:defRPr>
            </a:lvl8pPr>
            <a:lvl9pPr>
              <a:defRPr sz="2025" b="0">
                <a:solidFill>
                  <a:srgbClr val="172A3A"/>
                </a:solidFill>
                <a:latin typeface="Arial"/>
                <a:ea typeface="Arial"/>
                <a:cs typeface="Arial"/>
              </a:defRPr>
            </a:lvl9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F38B3B42-2D8A-439B-8B6B-65BEC6B39EA8}"/>
              </a:ext>
            </a:extLst>
          </p:cNvPr>
          <p:cNvSpPr>
            <a:spLocks xmlns:a="http://schemas.openxmlformats.org/drawingml/2006/main" noGrp="1"/>
          </p:cNvSpPr>
          <p:nvPr/>
        </p:nvSpPr>
        <p:spPr>
          <a:xfrm xmlns:a="http://schemas.openxmlformats.org/drawingml/2006/main">
            <a:off x="2371725" y="1809750"/>
            <a:ext cx="857250" cy="14288"/>
          </a:xfrm>
          <a:prstGeom xmlns:a="http://schemas.openxmlformats.org/drawingml/2006/main" prst="rect">
            <a:avLst/>
          </a:prstGeom>
          <a:solidFill xmlns:a="http://schemas.openxmlformats.org/drawingml/2006/main">
            <a:srgbClr val="172A3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41449B-13B3-47D2-9335-C21823A5F24E}"/>
              </a:ext>
            </a:extLst>
          </p:cNvPr>
          <p:cNvSpPr>
            <a:spLocks xmlns:a="http://schemas.openxmlformats.org/drawingml/2006/main" noGrp="1"/>
          </p:cNvSpPr>
          <p:nvPr/>
        </p:nvSpPr>
        <p:spPr>
          <a:xfrm xmlns:a="http://schemas.openxmlformats.org/drawingml/2006/main">
            <a:off x="2333625" y="1847850"/>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72A3A"/>
                </a:solidFill>
                <a:latin typeface="Arial"/>
                <a:ea typeface="Arial"/>
                <a:cs typeface="Arial"/>
              </a:defRPr>
            </a:defPPr>
            <a:lvl1pPr>
              <a:defRPr sz="2025" b="0">
                <a:solidFill>
                  <a:srgbClr val="172A3A"/>
                </a:solidFill>
                <a:latin typeface="Arial"/>
                <a:ea typeface="Arial"/>
                <a:cs typeface="Arial"/>
              </a:defRPr>
            </a:lvl1pPr>
            <a:lvl2pPr>
              <a:defRPr sz="2025" b="0">
                <a:solidFill>
                  <a:srgbClr val="172A3A"/>
                </a:solidFill>
                <a:latin typeface="Arial"/>
                <a:ea typeface="Arial"/>
                <a:cs typeface="Arial"/>
              </a:defRPr>
            </a:lvl2pPr>
            <a:lvl3pPr>
              <a:defRPr sz="2025" b="0">
                <a:solidFill>
                  <a:srgbClr val="172A3A"/>
                </a:solidFill>
                <a:latin typeface="Arial"/>
                <a:ea typeface="Arial"/>
                <a:cs typeface="Arial"/>
              </a:defRPr>
            </a:lvl3pPr>
            <a:lvl4pPr>
              <a:defRPr sz="2025" b="0">
                <a:solidFill>
                  <a:srgbClr val="172A3A"/>
                </a:solidFill>
                <a:latin typeface="Arial"/>
                <a:ea typeface="Arial"/>
                <a:cs typeface="Arial"/>
              </a:defRPr>
            </a:lvl4pPr>
            <a:lvl5pPr>
              <a:defRPr sz="2025" b="0">
                <a:solidFill>
                  <a:srgbClr val="172A3A"/>
                </a:solidFill>
                <a:latin typeface="Arial"/>
                <a:ea typeface="Arial"/>
                <a:cs typeface="Arial"/>
              </a:defRPr>
            </a:lvl5pPr>
            <a:lvl6pPr>
              <a:defRPr sz="2025" b="0">
                <a:solidFill>
                  <a:srgbClr val="172A3A"/>
                </a:solidFill>
                <a:latin typeface="Arial"/>
                <a:ea typeface="Arial"/>
                <a:cs typeface="Arial"/>
              </a:defRPr>
            </a:lvl6pPr>
            <a:lvl7pPr>
              <a:defRPr sz="2025" b="0">
                <a:solidFill>
                  <a:srgbClr val="172A3A"/>
                </a:solidFill>
                <a:latin typeface="Arial"/>
                <a:ea typeface="Arial"/>
                <a:cs typeface="Arial"/>
              </a:defRPr>
            </a:lvl7pPr>
            <a:lvl8pPr>
              <a:defRPr sz="2025" b="0">
                <a:solidFill>
                  <a:srgbClr val="172A3A"/>
                </a:solidFill>
                <a:latin typeface="Arial"/>
                <a:ea typeface="Arial"/>
                <a:cs typeface="Arial"/>
              </a:defRPr>
            </a:lvl8pPr>
            <a:lvl9pPr>
              <a:defRPr sz="2025" b="0">
                <a:solidFill>
                  <a:srgbClr val="172A3A"/>
                </a:solidFill>
                <a:latin typeface="Arial"/>
                <a:ea typeface="Arial"/>
                <a:cs typeface="Arial"/>
              </a:defRPr>
            </a:lvl9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H − 2</a:t>
            </a:r>
          </a:p>
        </p:txBody>
      </p:sp>
      <p:sp>
        <p:nvSpPr>
          <p:cNvPr id="6" name="">
            <a:extLst xmlns:a="http://schemas.openxmlformats.org/drawingml/2006/main">
              <a:ext uri="{FF2B5EF4-FFF2-40B4-BE49-F238E27FC236}">
                <a16:creationId xmlns:a16="http://schemas.microsoft.com/office/drawing/2014/main" id="{12CA097C-F88E-48CD-A066-543EACB68C41}"/>
              </a:ext>
            </a:extLst>
          </p:cNvPr>
          <p:cNvSpPr>
            <a:spLocks xmlns:a="http://schemas.openxmlformats.org/drawingml/2006/main" noGrp="1"/>
          </p:cNvSpPr>
          <p:nvPr/>
        </p:nvSpPr>
        <p:spPr>
          <a:xfrm xmlns:a="http://schemas.openxmlformats.org/drawingml/2006/main">
            <a:off x="3419475" y="1352550"/>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H − 2</a:t>
            </a:r>
          </a:p>
        </p:txBody>
      </p:sp>
      <p:sp>
        <p:nvSpPr>
          <p:cNvPr id="7" name="">
            <a:extLst xmlns:a="http://schemas.openxmlformats.org/drawingml/2006/main">
              <a:ext uri="{FF2B5EF4-FFF2-40B4-BE49-F238E27FC236}">
                <a16:creationId xmlns:a16="http://schemas.microsoft.com/office/drawing/2014/main" id="{A856072C-C85D-492A-BC42-16F7A7F1B87D}"/>
              </a:ext>
            </a:extLst>
          </p:cNvPr>
          <p:cNvSpPr>
            <a:spLocks xmlns:a="http://schemas.openxmlformats.org/drawingml/2006/main" noGrp="1"/>
          </p:cNvSpPr>
          <p:nvPr/>
        </p:nvSpPr>
        <p:spPr>
          <a:xfrm xmlns:a="http://schemas.openxmlformats.org/drawingml/2006/main">
            <a:off x="3467100" y="1543050"/>
            <a:ext cx="68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075" b="0">
                <a:solidFill>
                  <a:srgbClr val="172A3A"/>
                </a:solidFill>
                <a:latin typeface="Arial"/>
                <a:ea typeface="Arial"/>
                <a:cs typeface="Arial"/>
              </a:defRPr>
            </a:defPPr>
            <a:lvl1pPr>
              <a:defRPr sz="3075" b="0">
                <a:solidFill>
                  <a:srgbClr val="172A3A"/>
                </a:solidFill>
                <a:latin typeface="Arial"/>
                <a:ea typeface="Arial"/>
                <a:cs typeface="Arial"/>
              </a:defRPr>
            </a:lvl1pPr>
            <a:lvl2pPr>
              <a:defRPr sz="3075" b="0">
                <a:solidFill>
                  <a:srgbClr val="172A3A"/>
                </a:solidFill>
                <a:latin typeface="Arial"/>
                <a:ea typeface="Arial"/>
                <a:cs typeface="Arial"/>
              </a:defRPr>
            </a:lvl2pPr>
            <a:lvl3pPr>
              <a:defRPr sz="3075" b="0">
                <a:solidFill>
                  <a:srgbClr val="172A3A"/>
                </a:solidFill>
                <a:latin typeface="Arial"/>
                <a:ea typeface="Arial"/>
                <a:cs typeface="Arial"/>
              </a:defRPr>
            </a:lvl3pPr>
            <a:lvl4pPr>
              <a:defRPr sz="3075" b="0">
                <a:solidFill>
                  <a:srgbClr val="172A3A"/>
                </a:solidFill>
                <a:latin typeface="Arial"/>
                <a:ea typeface="Arial"/>
                <a:cs typeface="Arial"/>
              </a:defRPr>
            </a:lvl4pPr>
            <a:lvl5pPr>
              <a:defRPr sz="3075" b="0">
                <a:solidFill>
                  <a:srgbClr val="172A3A"/>
                </a:solidFill>
                <a:latin typeface="Arial"/>
                <a:ea typeface="Arial"/>
                <a:cs typeface="Arial"/>
              </a:defRPr>
            </a:lvl5pPr>
            <a:lvl6pPr>
              <a:defRPr sz="3075" b="0">
                <a:solidFill>
                  <a:srgbClr val="172A3A"/>
                </a:solidFill>
                <a:latin typeface="Arial"/>
                <a:ea typeface="Arial"/>
                <a:cs typeface="Arial"/>
              </a:defRPr>
            </a:lvl6pPr>
            <a:lvl7pPr>
              <a:defRPr sz="3075" b="0">
                <a:solidFill>
                  <a:srgbClr val="172A3A"/>
                </a:solidFill>
                <a:latin typeface="Arial"/>
                <a:ea typeface="Arial"/>
                <a:cs typeface="Arial"/>
              </a:defRPr>
            </a:lvl7pPr>
            <a:lvl8pPr>
              <a:defRPr sz="3075" b="0">
                <a:solidFill>
                  <a:srgbClr val="172A3A"/>
                </a:solidFill>
                <a:latin typeface="Arial"/>
                <a:ea typeface="Arial"/>
                <a:cs typeface="Arial"/>
              </a:defRPr>
            </a:lvl8pPr>
            <a:lvl9pPr>
              <a:defRPr sz="3075" b="0">
                <a:solidFill>
                  <a:srgbClr val="172A3A"/>
                </a:solidFill>
                <a:latin typeface="Arial"/>
                <a:ea typeface="Arial"/>
                <a:cs typeface="Arial"/>
              </a:defRPr>
            </a:lvl9pPr>
          </a:lstStyle>
          <a:p xmlns:a="http://schemas.openxmlformats.org/drawingml/2006/main">
            <a:pPr>
              <a:defRPr sz="3075" b="0">
                <a:solidFill>
                  <a:srgbClr val="172A3A"/>
                </a:solidFill>
                <a:latin typeface="Arial"/>
                <a:ea typeface="Arial"/>
                <a:cs typeface="Arial"/>
              </a:defRPr>
            </a:pPr>
            <a:r>
              <a:rPr sz="3075" b="0">
                <a:solidFill>
                  <a:srgbClr val="172A3A"/>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1C9513C6-D6EA-492A-88D7-CA41C5037CC7}"/>
              </a:ext>
            </a:extLst>
          </p:cNvPr>
          <p:cNvSpPr>
            <a:spLocks xmlns:a="http://schemas.openxmlformats.org/drawingml/2006/main" noGrp="1"/>
          </p:cNvSpPr>
          <p:nvPr/>
        </p:nvSpPr>
        <p:spPr>
          <a:xfrm xmlns:a="http://schemas.openxmlformats.org/drawingml/2006/main">
            <a:off x="3467100" y="2000250"/>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i = 1</a:t>
            </a:r>
          </a:p>
        </p:txBody>
      </p:sp>
      <p:sp>
        <p:nvSpPr>
          <p:cNvPr id="9" name="">
            <a:extLst xmlns:a="http://schemas.openxmlformats.org/drawingml/2006/main">
              <a:ext uri="{FF2B5EF4-FFF2-40B4-BE49-F238E27FC236}">
                <a16:creationId xmlns:a16="http://schemas.microsoft.com/office/drawing/2014/main" id="{B6881898-E8AC-4F84-8F8D-7A890E922D17}"/>
              </a:ext>
            </a:extLst>
          </p:cNvPr>
          <p:cNvSpPr>
            <a:spLocks xmlns:a="http://schemas.openxmlformats.org/drawingml/2006/main" noGrp="1"/>
          </p:cNvSpPr>
          <p:nvPr/>
        </p:nvSpPr>
        <p:spPr>
          <a:xfrm xmlns:a="http://schemas.openxmlformats.org/drawingml/2006/main">
            <a:off x="4267200" y="1724025"/>
            <a:ext cx="14288" cy="304800"/>
          </a:xfrm>
          <a:prstGeom xmlns:a="http://schemas.openxmlformats.org/drawingml/2006/main" prst="rect">
            <a:avLst/>
          </a:prstGeom>
          <a:solidFill xmlns:a="http://schemas.openxmlformats.org/drawingml/2006/main">
            <a:srgbClr val="172A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88E8D8E-5191-43F5-8E4F-817CEA133F17}"/>
              </a:ext>
            </a:extLst>
          </p:cNvPr>
          <p:cNvSpPr>
            <a:spLocks xmlns:a="http://schemas.openxmlformats.org/drawingml/2006/main" noGrp="1"/>
          </p:cNvSpPr>
          <p:nvPr/>
        </p:nvSpPr>
        <p:spPr>
          <a:xfrm xmlns:a="http://schemas.openxmlformats.org/drawingml/2006/main">
            <a:off x="4352925" y="1666875"/>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x</a:t>
            </a:r>
          </a:p>
        </p:txBody>
      </p:sp>
      <p:sp>
        <p:nvSpPr>
          <p:cNvPr id="11" name="">
            <a:extLst xmlns:a="http://schemas.openxmlformats.org/drawingml/2006/main">
              <a:ext uri="{FF2B5EF4-FFF2-40B4-BE49-F238E27FC236}">
                <a16:creationId xmlns:a16="http://schemas.microsoft.com/office/drawing/2014/main" id="{3FFB937A-58B7-4486-8E34-14FB9BB20975}"/>
              </a:ext>
            </a:extLst>
          </p:cNvPr>
          <p:cNvSpPr>
            <a:spLocks xmlns:a="http://schemas.openxmlformats.org/drawingml/2006/main" noGrp="1"/>
          </p:cNvSpPr>
          <p:nvPr/>
        </p:nvSpPr>
        <p:spPr>
          <a:xfrm xmlns:a="http://schemas.openxmlformats.org/drawingml/2006/main">
            <a:off x="4533900" y="18764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i+2</a:t>
            </a:r>
          </a:p>
        </p:txBody>
      </p:sp>
      <p:sp>
        <p:nvSpPr>
          <p:cNvPr id="12" name="">
            <a:extLst xmlns:a="http://schemas.openxmlformats.org/drawingml/2006/main">
              <a:ext uri="{FF2B5EF4-FFF2-40B4-BE49-F238E27FC236}">
                <a16:creationId xmlns:a16="http://schemas.microsoft.com/office/drawing/2014/main" id="{3ACAF976-3EB8-415E-9B12-094DBCD47555}"/>
              </a:ext>
            </a:extLst>
          </p:cNvPr>
          <p:cNvSpPr>
            <a:spLocks xmlns:a="http://schemas.openxmlformats.org/drawingml/2006/main" noGrp="1"/>
          </p:cNvSpPr>
          <p:nvPr/>
        </p:nvSpPr>
        <p:spPr>
          <a:xfrm xmlns:a="http://schemas.openxmlformats.org/drawingml/2006/main">
            <a:off x="4981575" y="1666875"/>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033DD507-9092-47CC-8216-8336E56D9A1A}"/>
              </a:ext>
            </a:extLst>
          </p:cNvPr>
          <p:cNvSpPr>
            <a:spLocks xmlns:a="http://schemas.openxmlformats.org/drawingml/2006/main" noGrp="1"/>
          </p:cNvSpPr>
          <p:nvPr/>
        </p:nvSpPr>
        <p:spPr>
          <a:xfrm xmlns:a="http://schemas.openxmlformats.org/drawingml/2006/main">
            <a:off x="5324475" y="1666875"/>
            <a:ext cx="21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CFBD339-47F9-4131-852A-BA45306CBEF1}"/>
              </a:ext>
            </a:extLst>
          </p:cNvPr>
          <p:cNvSpPr>
            <a:spLocks xmlns:a="http://schemas.openxmlformats.org/drawingml/2006/main" noGrp="1"/>
          </p:cNvSpPr>
          <p:nvPr/>
        </p:nvSpPr>
        <p:spPr>
          <a:xfrm xmlns:a="http://schemas.openxmlformats.org/drawingml/2006/main">
            <a:off x="5543550" y="1666875"/>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x</a:t>
            </a:r>
          </a:p>
        </p:txBody>
      </p:sp>
      <p:sp>
        <p:nvSpPr>
          <p:cNvPr id="15" name="">
            <a:extLst xmlns:a="http://schemas.openxmlformats.org/drawingml/2006/main">
              <a:ext uri="{FF2B5EF4-FFF2-40B4-BE49-F238E27FC236}">
                <a16:creationId xmlns:a16="http://schemas.microsoft.com/office/drawing/2014/main" id="{2D19518D-5596-431D-9925-C1E4695E871D}"/>
              </a:ext>
            </a:extLst>
          </p:cNvPr>
          <p:cNvSpPr>
            <a:spLocks xmlns:a="http://schemas.openxmlformats.org/drawingml/2006/main" noGrp="1"/>
          </p:cNvSpPr>
          <p:nvPr/>
        </p:nvSpPr>
        <p:spPr>
          <a:xfrm xmlns:a="http://schemas.openxmlformats.org/drawingml/2006/main">
            <a:off x="5724525" y="18764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i+1</a:t>
            </a:r>
          </a:p>
        </p:txBody>
      </p:sp>
      <p:sp>
        <p:nvSpPr>
          <p:cNvPr id="16" name="">
            <a:extLst xmlns:a="http://schemas.openxmlformats.org/drawingml/2006/main">
              <a:ext uri="{FF2B5EF4-FFF2-40B4-BE49-F238E27FC236}">
                <a16:creationId xmlns:a16="http://schemas.microsoft.com/office/drawing/2014/main" id="{9CD26D07-EE42-45ED-A113-A1C9F2CF9A84}"/>
              </a:ext>
            </a:extLst>
          </p:cNvPr>
          <p:cNvSpPr>
            <a:spLocks xmlns:a="http://schemas.openxmlformats.org/drawingml/2006/main" noGrp="1"/>
          </p:cNvSpPr>
          <p:nvPr/>
        </p:nvSpPr>
        <p:spPr>
          <a:xfrm xmlns:a="http://schemas.openxmlformats.org/drawingml/2006/main">
            <a:off x="6172200" y="1666875"/>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4D08B776-7D35-4E73-BD3F-45F08566988E}"/>
              </a:ext>
            </a:extLst>
          </p:cNvPr>
          <p:cNvSpPr>
            <a:spLocks xmlns:a="http://schemas.openxmlformats.org/drawingml/2006/main" noGrp="1"/>
          </p:cNvSpPr>
          <p:nvPr/>
        </p:nvSpPr>
        <p:spPr>
          <a:xfrm xmlns:a="http://schemas.openxmlformats.org/drawingml/2006/main">
            <a:off x="6515100" y="1666875"/>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400" b="0">
                <a:solidFill>
                  <a:srgbClr val="172A3A"/>
                </a:solidFill>
                <a:latin typeface="Arial"/>
                <a:ea typeface="Arial"/>
                <a:cs typeface="Arial"/>
              </a:defRPr>
            </a:defPPr>
            <a:lvl1pPr>
              <a:defRPr sz="2400" b="0">
                <a:solidFill>
                  <a:srgbClr val="172A3A"/>
                </a:solidFill>
                <a:latin typeface="Arial"/>
                <a:ea typeface="Arial"/>
                <a:cs typeface="Arial"/>
              </a:defRPr>
            </a:lvl1pPr>
            <a:lvl2pPr>
              <a:defRPr sz="2400" b="0">
                <a:solidFill>
                  <a:srgbClr val="172A3A"/>
                </a:solidFill>
                <a:latin typeface="Arial"/>
                <a:ea typeface="Arial"/>
                <a:cs typeface="Arial"/>
              </a:defRPr>
            </a:lvl2pPr>
            <a:lvl3pPr>
              <a:defRPr sz="2400" b="0">
                <a:solidFill>
                  <a:srgbClr val="172A3A"/>
                </a:solidFill>
                <a:latin typeface="Arial"/>
                <a:ea typeface="Arial"/>
                <a:cs typeface="Arial"/>
              </a:defRPr>
            </a:lvl3pPr>
            <a:lvl4pPr>
              <a:defRPr sz="2400" b="0">
                <a:solidFill>
                  <a:srgbClr val="172A3A"/>
                </a:solidFill>
                <a:latin typeface="Arial"/>
                <a:ea typeface="Arial"/>
                <a:cs typeface="Arial"/>
              </a:defRPr>
            </a:lvl4pPr>
            <a:lvl5pPr>
              <a:defRPr sz="2400" b="0">
                <a:solidFill>
                  <a:srgbClr val="172A3A"/>
                </a:solidFill>
                <a:latin typeface="Arial"/>
                <a:ea typeface="Arial"/>
                <a:cs typeface="Arial"/>
              </a:defRPr>
            </a:lvl5pPr>
            <a:lvl6pPr>
              <a:defRPr sz="2400" b="0">
                <a:solidFill>
                  <a:srgbClr val="172A3A"/>
                </a:solidFill>
                <a:latin typeface="Arial"/>
                <a:ea typeface="Arial"/>
                <a:cs typeface="Arial"/>
              </a:defRPr>
            </a:lvl6pPr>
            <a:lvl7pPr>
              <a:defRPr sz="2400" b="0">
                <a:solidFill>
                  <a:srgbClr val="172A3A"/>
                </a:solidFill>
                <a:latin typeface="Arial"/>
                <a:ea typeface="Arial"/>
                <a:cs typeface="Arial"/>
              </a:defRPr>
            </a:lvl7pPr>
            <a:lvl8pPr>
              <a:defRPr sz="2400" b="0">
                <a:solidFill>
                  <a:srgbClr val="172A3A"/>
                </a:solidFill>
                <a:latin typeface="Arial"/>
                <a:ea typeface="Arial"/>
                <a:cs typeface="Arial"/>
              </a:defRPr>
            </a:lvl8pPr>
            <a:lvl9pPr>
              <a:defRPr sz="2400" b="0">
                <a:solidFill>
                  <a:srgbClr val="172A3A"/>
                </a:solidFill>
                <a:latin typeface="Arial"/>
                <a:ea typeface="Arial"/>
                <a:cs typeface="Arial"/>
              </a:defRPr>
            </a:lvl9pPr>
          </a:lstStyle>
          <a:p xmlns:a="http://schemas.openxmlformats.org/drawingml/2006/main">
            <a:pPr>
              <a:defRPr sz="2400" b="0">
                <a:solidFill>
                  <a:srgbClr val="172A3A"/>
                </a:solidFill>
                <a:latin typeface="Arial"/>
                <a:ea typeface="Arial"/>
                <a:cs typeface="Arial"/>
              </a:defRPr>
            </a:pPr>
            <a:r>
              <a:rPr sz="2400" b="0">
                <a:solidFill>
                  <a:srgbClr val="172A3A"/>
                </a:solidFill>
                <a:latin typeface="Arial"/>
                <a:ea typeface="Arial"/>
                <a:cs typeface="Arial"/>
              </a:rPr>
              <a:t>x</a:t>
            </a:r>
          </a:p>
        </p:txBody>
      </p:sp>
      <p:sp>
        <p:nvSpPr>
          <p:cNvPr id="18" name="">
            <a:extLst xmlns:a="http://schemas.openxmlformats.org/drawingml/2006/main">
              <a:ext uri="{FF2B5EF4-FFF2-40B4-BE49-F238E27FC236}">
                <a16:creationId xmlns:a16="http://schemas.microsoft.com/office/drawing/2014/main" id="{DE4E277A-D269-47E1-8D14-7FE4C2D3DA5F}"/>
              </a:ext>
            </a:extLst>
          </p:cNvPr>
          <p:cNvSpPr>
            <a:spLocks xmlns:a="http://schemas.openxmlformats.org/drawingml/2006/main" noGrp="1"/>
          </p:cNvSpPr>
          <p:nvPr/>
        </p:nvSpPr>
        <p:spPr>
          <a:xfrm xmlns:a="http://schemas.openxmlformats.org/drawingml/2006/main">
            <a:off x="6696075" y="1876425"/>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172A3A"/>
                </a:solidFill>
                <a:latin typeface="Arial"/>
                <a:ea typeface="Arial"/>
                <a:cs typeface="Arial"/>
              </a:defRPr>
            </a:defPPr>
            <a:lvl1pPr>
              <a:defRPr sz="1350" b="0">
                <a:solidFill>
                  <a:srgbClr val="172A3A"/>
                </a:solidFill>
                <a:latin typeface="Arial"/>
                <a:ea typeface="Arial"/>
                <a:cs typeface="Arial"/>
              </a:defRPr>
            </a:lvl1pPr>
            <a:lvl2pPr>
              <a:defRPr sz="1350" b="0">
                <a:solidFill>
                  <a:srgbClr val="172A3A"/>
                </a:solidFill>
                <a:latin typeface="Arial"/>
                <a:ea typeface="Arial"/>
                <a:cs typeface="Arial"/>
              </a:defRPr>
            </a:lvl2pPr>
            <a:lvl3pPr>
              <a:defRPr sz="1350" b="0">
                <a:solidFill>
                  <a:srgbClr val="172A3A"/>
                </a:solidFill>
                <a:latin typeface="Arial"/>
                <a:ea typeface="Arial"/>
                <a:cs typeface="Arial"/>
              </a:defRPr>
            </a:lvl3pPr>
            <a:lvl4pPr>
              <a:defRPr sz="1350" b="0">
                <a:solidFill>
                  <a:srgbClr val="172A3A"/>
                </a:solidFill>
                <a:latin typeface="Arial"/>
                <a:ea typeface="Arial"/>
                <a:cs typeface="Arial"/>
              </a:defRPr>
            </a:lvl4pPr>
            <a:lvl5pPr>
              <a:defRPr sz="1350" b="0">
                <a:solidFill>
                  <a:srgbClr val="172A3A"/>
                </a:solidFill>
                <a:latin typeface="Arial"/>
                <a:ea typeface="Arial"/>
                <a:cs typeface="Arial"/>
              </a:defRPr>
            </a:lvl5pPr>
            <a:lvl6pPr>
              <a:defRPr sz="1350" b="0">
                <a:solidFill>
                  <a:srgbClr val="172A3A"/>
                </a:solidFill>
                <a:latin typeface="Arial"/>
                <a:ea typeface="Arial"/>
                <a:cs typeface="Arial"/>
              </a:defRPr>
            </a:lvl6pPr>
            <a:lvl7pPr>
              <a:defRPr sz="1350" b="0">
                <a:solidFill>
                  <a:srgbClr val="172A3A"/>
                </a:solidFill>
                <a:latin typeface="Arial"/>
                <a:ea typeface="Arial"/>
                <a:cs typeface="Arial"/>
              </a:defRPr>
            </a:lvl7pPr>
            <a:lvl8pPr>
              <a:defRPr sz="1350" b="0">
                <a:solidFill>
                  <a:srgbClr val="172A3A"/>
                </a:solidFill>
                <a:latin typeface="Arial"/>
                <a:ea typeface="Arial"/>
                <a:cs typeface="Arial"/>
              </a:defRPr>
            </a:lvl8pPr>
            <a:lvl9pPr>
              <a:defRPr sz="1350" b="0">
                <a:solidFill>
                  <a:srgbClr val="172A3A"/>
                </a:solidFill>
                <a:latin typeface="Arial"/>
                <a:ea typeface="Arial"/>
                <a:cs typeface="Arial"/>
              </a:defRPr>
            </a:lvl9pPr>
          </a:lstStyle>
          <a:p xmlns:a="http://schemas.openxmlformats.org/drawingml/2006/main">
            <a:pPr>
              <a:defRPr sz="1350" b="0">
                <a:solidFill>
                  <a:srgbClr val="172A3A"/>
                </a:solidFill>
                <a:latin typeface="Arial"/>
                <a:ea typeface="Arial"/>
                <a:cs typeface="Arial"/>
              </a:defRPr>
            </a:pPr>
            <a:r>
              <a:rPr sz="1350" b="0">
                <a:solidFill>
                  <a:srgbClr val="172A3A"/>
                </a:solidFill>
                <a:latin typeface="Arial"/>
                <a:ea typeface="Arial"/>
                <a:cs typeface="Arial"/>
              </a:rPr>
              <a:t>i</a:t>
            </a:r>
          </a:p>
        </p:txBody>
      </p:sp>
      <p:sp>
        <p:nvSpPr>
          <p:cNvPr id="19" name="">
            <a:extLst xmlns:a="http://schemas.openxmlformats.org/drawingml/2006/main">
              <a:ext uri="{FF2B5EF4-FFF2-40B4-BE49-F238E27FC236}">
                <a16:creationId xmlns:a16="http://schemas.microsoft.com/office/drawing/2014/main" id="{66DC36A2-AF17-40B6-ACCC-99D39B981C38}"/>
              </a:ext>
            </a:extLst>
          </p:cNvPr>
          <p:cNvSpPr>
            <a:spLocks xmlns:a="http://schemas.openxmlformats.org/drawingml/2006/main" noGrp="1"/>
          </p:cNvSpPr>
          <p:nvPr/>
        </p:nvSpPr>
        <p:spPr>
          <a:xfrm xmlns:a="http://schemas.openxmlformats.org/drawingml/2006/main">
            <a:off x="7029450" y="1724025"/>
            <a:ext cx="14288" cy="304800"/>
          </a:xfrm>
          <a:prstGeom xmlns:a="http://schemas.openxmlformats.org/drawingml/2006/main" prst="rect">
            <a:avLst/>
          </a:prstGeom>
          <a:solidFill xmlns:a="http://schemas.openxmlformats.org/drawingml/2006/main">
            <a:srgbClr val="172A3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E4532E6-B3A4-4A46-97D6-AB9DD2830B49}"/>
              </a:ext>
            </a:extLst>
          </p:cNvPr>
          <p:cNvSpPr>
            <a:spLocks xmlns:a="http://schemas.openxmlformats.org/drawingml/2006/main" noGrp="1"/>
          </p:cNvSpPr>
          <p:nvPr/>
        </p:nvSpPr>
        <p:spPr>
          <a:xfrm xmlns:a="http://schemas.openxmlformats.org/drawingml/2006/main">
            <a:off x="7953375" y="1504950"/>
            <a:ext cx="3476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x: one forecast trajectory</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H: number of future points</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i: forecast-point index</a:t>
            </a:r>
          </a:p>
        </p:txBody>
      </p:sp>
      <p:sp>
        <p:nvSpPr>
          <p:cNvPr id="21" name="">
            <a:extLst xmlns:a="http://schemas.openxmlformats.org/drawingml/2006/main">
              <a:ext uri="{FF2B5EF4-FFF2-40B4-BE49-F238E27FC236}">
                <a16:creationId xmlns:a16="http://schemas.microsoft.com/office/drawing/2014/main" id="{04621D86-7BC9-47CD-AC58-49DCD7337522}"/>
              </a:ext>
            </a:extLst>
          </p:cNvPr>
          <p:cNvSpPr>
            <a:spLocks xmlns:a="http://schemas.openxmlformats.org/drawingml/2006/main" noGrp="1"/>
          </p:cNvSpPr>
          <p:nvPr/>
        </p:nvSpPr>
        <p:spPr>
          <a:xfrm xmlns:a="http://schemas.openxmlformats.org/drawingml/2006/main">
            <a:off x="952500" y="23431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GP-source forecasts: 256 histories, 64 generated trajectories per history.</a:t>
            </a:r>
          </a:p>
        </p:txBody>
      </p:sp>
      <p:graphicFrame>
        <p:nvGraphicFramePr>
          <p:cNvPr id="22" name="Chart">
            <a:extLst xmlns:a="http://schemas.openxmlformats.org/drawingml/2006/main">
              <a:ext uri="{FF2B5EF4-FFF2-40B4-BE49-F238E27FC236}">
                <a16:creationId xmlns:a16="http://schemas.microsoft.com/office/drawing/2014/main" id="{65A68188-7F71-4A2F-AB47-69E263357101}"/>
              </a:ext>
            </a:extLst>
          </p:cNvPr>
          <p:cNvGraphicFramePr/>
          <p:nvPr/>
        </p:nvGraphicFramePr>
        <p:xfrm>
          <a:off xmlns:a="http://schemas.openxmlformats.org/drawingml/2006/main" x="952500" y="2686050"/>
          <a:ext xmlns:a="http://schemas.openxmlformats.org/drawingml/2006/main" cx="10096500" cy="2667000"/>
        </p:xfrm>
        <a:graphic xmlns:a="http://schemas.openxmlformats.org/drawingml/2006/main">
          <a:graphicData uri="http://schemas.openxmlformats.org/drawingml/2006/chart">
            <c:chart xmlns:r="http://schemas.openxmlformats.org/officeDocument/2006/relationships" xmlns:c="http://schemas.openxmlformats.org/drawingml/2006/chart" r:id="R466e7a42f0644ffb"/>
          </a:graphicData>
        </a:graphic>
      </p:graphicFrame>
      <p:sp>
        <p:nvSpPr>
          <p:cNvPr id="23" name="">
            <a:extLst xmlns:a="http://schemas.openxmlformats.org/drawingml/2006/main">
              <a:ext uri="{FF2B5EF4-FFF2-40B4-BE49-F238E27FC236}">
                <a16:creationId xmlns:a16="http://schemas.microsoft.com/office/drawing/2014/main" id="{CDC3E9A6-E73A-486D-8776-219338893E1E}"/>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3596C"/>
                </a:solidFill>
                <a:latin typeface="Arial"/>
                <a:ea typeface="Arial"/>
                <a:cs typeface="Arial"/>
              </a:defRPr>
            </a:defPPr>
            <a:lvl1pPr>
              <a:defRPr sz="1725" b="0">
                <a:solidFill>
                  <a:srgbClr val="43596C"/>
                </a:solidFill>
                <a:latin typeface="Arial"/>
                <a:ea typeface="Arial"/>
                <a:cs typeface="Arial"/>
              </a:defRPr>
            </a:lvl1pPr>
            <a:lvl2pPr>
              <a:defRPr sz="1725" b="0">
                <a:solidFill>
                  <a:srgbClr val="43596C"/>
                </a:solidFill>
                <a:latin typeface="Arial"/>
                <a:ea typeface="Arial"/>
                <a:cs typeface="Arial"/>
              </a:defRPr>
            </a:lvl2pPr>
            <a:lvl3pPr>
              <a:defRPr sz="1725" b="0">
                <a:solidFill>
                  <a:srgbClr val="43596C"/>
                </a:solidFill>
                <a:latin typeface="Arial"/>
                <a:ea typeface="Arial"/>
                <a:cs typeface="Arial"/>
              </a:defRPr>
            </a:lvl3pPr>
            <a:lvl4pPr>
              <a:defRPr sz="1725" b="0">
                <a:solidFill>
                  <a:srgbClr val="43596C"/>
                </a:solidFill>
                <a:latin typeface="Arial"/>
                <a:ea typeface="Arial"/>
                <a:cs typeface="Arial"/>
              </a:defRPr>
            </a:lvl4pPr>
            <a:lvl5pPr>
              <a:defRPr sz="1725" b="0">
                <a:solidFill>
                  <a:srgbClr val="43596C"/>
                </a:solidFill>
                <a:latin typeface="Arial"/>
                <a:ea typeface="Arial"/>
                <a:cs typeface="Arial"/>
              </a:defRPr>
            </a:lvl5pPr>
            <a:lvl6pPr>
              <a:defRPr sz="1725" b="0">
                <a:solidFill>
                  <a:srgbClr val="43596C"/>
                </a:solidFill>
                <a:latin typeface="Arial"/>
                <a:ea typeface="Arial"/>
                <a:cs typeface="Arial"/>
              </a:defRPr>
            </a:lvl6pPr>
            <a:lvl7pPr>
              <a:defRPr sz="1725" b="0">
                <a:solidFill>
                  <a:srgbClr val="43596C"/>
                </a:solidFill>
                <a:latin typeface="Arial"/>
                <a:ea typeface="Arial"/>
                <a:cs typeface="Arial"/>
              </a:defRPr>
            </a:lvl7pPr>
            <a:lvl8pPr>
              <a:defRPr sz="1725" b="0">
                <a:solidFill>
                  <a:srgbClr val="43596C"/>
                </a:solidFill>
                <a:latin typeface="Arial"/>
                <a:ea typeface="Arial"/>
                <a:cs typeface="Arial"/>
              </a:defRPr>
            </a:lvl8pPr>
            <a:lvl9pPr>
              <a:defRPr sz="1725" b="0">
                <a:solidFill>
                  <a:srgbClr val="43596C"/>
                </a:solidFill>
                <a:latin typeface="Arial"/>
                <a:ea typeface="Arial"/>
                <a:cs typeface="Arial"/>
              </a:defRPr>
            </a:lvl9pPr>
          </a:lstStyle>
          <a:p xmlns:a="http://schemas.openxmlformats.org/drawingml/2006/main">
            <a:pPr>
              <a:defRPr sz="1725" b="0">
                <a:solidFill>
                  <a:srgbClr val="43596C"/>
                </a:solidFill>
                <a:latin typeface="Arial"/>
                <a:ea typeface="Arial"/>
                <a:cs typeface="Arial"/>
              </a:defRPr>
            </a:pPr>
            <a:r>
              <a:rPr sz="1725" b="0">
                <a:solidFill>
                  <a:srgbClr val="43596C"/>
                </a:solidFill>
                <a:latin typeface="Arial"/>
                <a:ea typeface="Arial"/>
                <a:cs typeface="Arial"/>
              </a:rPr>
              <a:t>Each ratio = mean statistic of generated paths / mean statistic of observed paths.</a:t>
            </a:r>
          </a:p>
          <a:p xmlns:a="http://schemas.openxmlformats.org/drawingml/2006/main">
            <a:pPr>
              <a:defRPr sz="1725" b="0">
                <a:solidFill>
                  <a:srgbClr val="43596C"/>
                </a:solidFill>
                <a:latin typeface="Arial"/>
                <a:ea typeface="Arial"/>
                <a:cs typeface="Arial"/>
              </a:defRPr>
            </a:pPr>
            <a:r>
              <a:rPr sz="1725" b="0">
                <a:solidFill>
                  <a:srgbClr val="43596C"/>
                </a:solidFill>
                <a:latin typeface="Arial"/>
                <a:ea typeface="Arial"/>
                <a:cs typeface="Arial"/>
              </a:rPr>
              <a:t>S4 R2 ratio = 1.63. Greater curvature alone does not establish worse forecasts.</a:t>
            </a:r>
          </a:p>
        </p:txBody>
      </p:sp>
      <p:sp>
        <p:nvSpPr>
          <p:cNvPr id="24" name="">
            <a:extLst xmlns:a="http://schemas.openxmlformats.org/drawingml/2006/main">
              <a:ext uri="{FF2B5EF4-FFF2-40B4-BE49-F238E27FC236}">
                <a16:creationId xmlns:a16="http://schemas.microsoft.com/office/drawing/2014/main" id="{14AD572B-4F1D-46D2-A9A9-26D8D7A2F924}"/>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7</a:t>
            </a:r>
          </a:p>
        </p:txBody>
      </p:sp>
    </p:spTree>
    <p:extLst>
      <p:ext uri="{BB962C8B-B14F-4D97-AF65-F5344CB8AC3E}">
        <p14:creationId xmlns:p14="http://schemas.microsoft.com/office/powerpoint/2010/main" val="17540663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9B3AC4-5C63-4B36-9FF2-75EF43299F75}"/>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GP-source forecasts: shape and predictive scores differ</a:t>
            </a:r>
          </a:p>
        </p:txBody>
      </p:sp>
      <p:sp>
        <p:nvSpPr>
          <p:cNvPr id="2" name="">
            <a:extLst xmlns:a="http://schemas.openxmlformats.org/drawingml/2006/main">
              <a:ext uri="{FF2B5EF4-FFF2-40B4-BE49-F238E27FC236}">
                <a16:creationId xmlns:a16="http://schemas.microsoft.com/office/drawing/2014/main" id="{740D95B5-3DBD-4CC2-B1CC-E9267C0D61B5}"/>
              </a:ext>
            </a:extLst>
          </p:cNvPr>
          <p:cNvSpPr>
            <a:spLocks xmlns:a="http://schemas.openxmlformats.org/drawingml/2006/main" noGrp="1"/>
          </p:cNvSpPr>
          <p:nvPr/>
        </p:nvSpPr>
        <p:spPr>
          <a:xfrm xmlns:a="http://schemas.openxmlformats.org/drawingml/2006/main">
            <a:off x="723900" y="14097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CRPS = continuous ranked probability score: predicted values at each future time.</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VS = variogram score: predicted differences between times. Lower scores are better.</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“Fair” corrects for the finite number of generated trajectories per history.</a:t>
            </a:r>
          </a:p>
        </p:txBody>
      </p:sp>
      <p:pic>
        <p:nvPicPr>
          <p:cNvPr id="3" name="">
            <a:extLst xmlns:a="http://schemas.openxmlformats.org/drawingml/2006/main">
              <a:ext uri="{FF2B5EF4-FFF2-40B4-BE49-F238E27FC236}">
                <a16:creationId xmlns:a16="http://schemas.microsoft.com/office/drawing/2014/main" id="{E2E8724C-7D06-4EC0-A922-4AFA9A89F5E6}"/>
              </a:ext>
            </a:extLst>
          </p:cNvPr>
          <p:cNvPicPr>
            <a:picLocks xmlns:a="http://schemas.openxmlformats.org/drawingml/2006/main" noChangeAspect="1"/>
          </p:cNvPicPr>
          <p:nvPr/>
        </p:nvPicPr>
        <p:blipFill>
          <a:blip xmlns:r="http://schemas.openxmlformats.org/officeDocument/2006/relationships" xmlns:a="http://schemas.openxmlformats.org/drawingml/2006/main" r:embed="Rd5bbc830d03c47bc"/>
          <a:stretch xmlns:a="http://schemas.openxmlformats.org/drawingml/2006/main"/>
        </p:blipFill>
        <p:spPr>
          <a:xfrm xmlns:a="http://schemas.openxmlformats.org/drawingml/2006/main">
            <a:off x="619125" y="2143125"/>
            <a:ext cx="10953750" cy="3524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B94DE1-D6CC-4CBB-886E-B264760290C8}"/>
              </a:ext>
            </a:extLst>
          </p:cNvPr>
          <p:cNvSpPr>
            <a:spLocks xmlns:a="http://schemas.openxmlformats.org/drawingml/2006/main" noGrp="1"/>
          </p:cNvSpPr>
          <p:nvPr/>
        </p:nvSpPr>
        <p:spPr>
          <a:xfrm xmlns:a="http://schemas.openxmlformats.org/drawingml/2006/main">
            <a:off x="723900" y="5772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S4 intervals cross zero; whitening lowers VS. Negative differences favour that model.</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95% confidence intervals resample histories while holding the fitted models fixed.</a:t>
            </a:r>
          </a:p>
        </p:txBody>
      </p:sp>
      <p:sp>
        <p:nvSpPr>
          <p:cNvPr id="5" name="">
            <a:extLst xmlns:a="http://schemas.openxmlformats.org/drawingml/2006/main">
              <a:ext uri="{FF2B5EF4-FFF2-40B4-BE49-F238E27FC236}">
                <a16:creationId xmlns:a16="http://schemas.microsoft.com/office/drawing/2014/main" id="{1E0AB265-62CC-4CD4-A506-8488A87F5FDA}"/>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8</a:t>
            </a:r>
          </a:p>
        </p:txBody>
      </p:sp>
    </p:spTree>
    <p:extLst>
      <p:ext uri="{BB962C8B-B14F-4D97-AF65-F5344CB8AC3E}">
        <p14:creationId xmlns:p14="http://schemas.microsoft.com/office/powerpoint/2010/main" val="16955177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DAC30B-78D6-409E-867B-D4AF3DEAC0E0}"/>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A wider MLP greatly reduces roughness at horizon 64</a:t>
            </a:r>
          </a:p>
        </p:txBody>
      </p:sp>
      <p:pic>
        <p:nvPicPr>
          <p:cNvPr id="2" name="">
            <a:extLst xmlns:a="http://schemas.openxmlformats.org/drawingml/2006/main">
              <a:ext uri="{FF2B5EF4-FFF2-40B4-BE49-F238E27FC236}">
                <a16:creationId xmlns:a16="http://schemas.microsoft.com/office/drawing/2014/main" id="{8E5ECB6C-4888-42CB-947C-29E948753DF3}"/>
              </a:ext>
            </a:extLst>
          </p:cNvPr>
          <p:cNvPicPr>
            <a:picLocks xmlns:a="http://schemas.openxmlformats.org/drawingml/2006/main" noChangeAspect="1"/>
          </p:cNvPicPr>
          <p:nvPr/>
        </p:nvPicPr>
        <p:blipFill>
          <a:blip xmlns:r="http://schemas.openxmlformats.org/officeDocument/2006/relationships" xmlns:a="http://schemas.openxmlformats.org/drawingml/2006/main" r:embed="R679010d3539c4134"/>
          <a:stretch xmlns:a="http://schemas.openxmlformats.org/drawingml/2006/main"/>
        </p:blipFill>
        <p:spPr>
          <a:xfrm xmlns:a="http://schemas.openxmlformats.org/drawingml/2006/main">
            <a:off x="609600" y="1630390"/>
            <a:ext cx="10972800" cy="362579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B79333F-8EC6-45BE-8E9C-7E4A12334C4B}"/>
              </a:ext>
            </a:extLst>
          </p:cNvPr>
          <p:cNvSpPr>
            <a:spLocks xmlns:a="http://schemas.openxmlformats.org/drawingml/2006/main" noGrp="1"/>
          </p:cNvSpPr>
          <p:nvPr/>
        </p:nvSpPr>
        <p:spPr>
          <a:xfrm xmlns:a="http://schemas.openxmlformats.org/drawingml/2006/main">
            <a:off x="723900" y="55340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43596C"/>
                </a:solidFill>
                <a:latin typeface="Arial"/>
                <a:ea typeface="Arial"/>
                <a:cs typeface="Arial"/>
              </a:defRPr>
            </a:defPPr>
            <a:lvl1pPr>
              <a:defRPr sz="1650" b="0">
                <a:solidFill>
                  <a:srgbClr val="43596C"/>
                </a:solidFill>
                <a:latin typeface="Arial"/>
                <a:ea typeface="Arial"/>
                <a:cs typeface="Arial"/>
              </a:defRPr>
            </a:lvl1pPr>
            <a:lvl2pPr>
              <a:defRPr sz="1650" b="0">
                <a:solidFill>
                  <a:srgbClr val="43596C"/>
                </a:solidFill>
                <a:latin typeface="Arial"/>
                <a:ea typeface="Arial"/>
                <a:cs typeface="Arial"/>
              </a:defRPr>
            </a:lvl2pPr>
            <a:lvl3pPr>
              <a:defRPr sz="1650" b="0">
                <a:solidFill>
                  <a:srgbClr val="43596C"/>
                </a:solidFill>
                <a:latin typeface="Arial"/>
                <a:ea typeface="Arial"/>
                <a:cs typeface="Arial"/>
              </a:defRPr>
            </a:lvl3pPr>
            <a:lvl4pPr>
              <a:defRPr sz="1650" b="0">
                <a:solidFill>
                  <a:srgbClr val="43596C"/>
                </a:solidFill>
                <a:latin typeface="Arial"/>
                <a:ea typeface="Arial"/>
                <a:cs typeface="Arial"/>
              </a:defRPr>
            </a:lvl4pPr>
            <a:lvl5pPr>
              <a:defRPr sz="1650" b="0">
                <a:solidFill>
                  <a:srgbClr val="43596C"/>
                </a:solidFill>
                <a:latin typeface="Arial"/>
                <a:ea typeface="Arial"/>
                <a:cs typeface="Arial"/>
              </a:defRPr>
            </a:lvl5pPr>
            <a:lvl6pPr>
              <a:defRPr sz="1650" b="0">
                <a:solidFill>
                  <a:srgbClr val="43596C"/>
                </a:solidFill>
                <a:latin typeface="Arial"/>
                <a:ea typeface="Arial"/>
                <a:cs typeface="Arial"/>
              </a:defRPr>
            </a:lvl6pPr>
            <a:lvl7pPr>
              <a:defRPr sz="1650" b="0">
                <a:solidFill>
                  <a:srgbClr val="43596C"/>
                </a:solidFill>
                <a:latin typeface="Arial"/>
                <a:ea typeface="Arial"/>
                <a:cs typeface="Arial"/>
              </a:defRPr>
            </a:lvl7pPr>
            <a:lvl8pPr>
              <a:defRPr sz="1650" b="0">
                <a:solidFill>
                  <a:srgbClr val="43596C"/>
                </a:solidFill>
                <a:latin typeface="Arial"/>
                <a:ea typeface="Arial"/>
                <a:cs typeface="Arial"/>
              </a:defRPr>
            </a:lvl8pPr>
            <a:lvl9pPr>
              <a:defRPr sz="1650" b="0">
                <a:solidFill>
                  <a:srgbClr val="43596C"/>
                </a:solidFill>
                <a:latin typeface="Arial"/>
                <a:ea typeface="Arial"/>
                <a:cs typeface="Arial"/>
              </a:defRPr>
            </a:lvl9pPr>
          </a:lstStyle>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Separate check: 128 past / 64 future points, white noise, 12,000 updates.</a:t>
            </a:r>
          </a:p>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Width = units in each MLP hidden layer; depth and the 64-value output stay fixed.</a:t>
            </a:r>
          </a:p>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Across 3 new datasets, width 56 → 72 lowers mean R2 ratio from 19.09 to 1.60.</a:t>
            </a:r>
          </a:p>
        </p:txBody>
      </p:sp>
      <p:sp>
        <p:nvSpPr>
          <p:cNvPr id="4" name="">
            <a:extLst xmlns:a="http://schemas.openxmlformats.org/drawingml/2006/main">
              <a:ext uri="{FF2B5EF4-FFF2-40B4-BE49-F238E27FC236}">
                <a16:creationId xmlns:a16="http://schemas.microsoft.com/office/drawing/2014/main" id="{B57814DA-85F4-4A7F-B680-A86C11C91F69}"/>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9</a:t>
            </a:r>
          </a:p>
        </p:txBody>
      </p:sp>
    </p:spTree>
    <p:extLst>
      <p:ext uri="{BB962C8B-B14F-4D97-AF65-F5344CB8AC3E}">
        <p14:creationId xmlns:p14="http://schemas.microsoft.com/office/powerpoint/2010/main" val="13728623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27E4A7-A6D7-43B2-B956-AA46336087F2}"/>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History centering sharply reduces the ETTh1 head gap</a:t>
            </a:r>
          </a:p>
        </p:txBody>
      </p:sp>
      <p:sp>
        <p:nvSpPr>
          <p:cNvPr id="2" name="">
            <a:extLst xmlns:a="http://schemas.openxmlformats.org/drawingml/2006/main">
              <a:ext uri="{FF2B5EF4-FFF2-40B4-BE49-F238E27FC236}">
                <a16:creationId xmlns:a16="http://schemas.microsoft.com/office/drawing/2014/main" id="{8572B64F-689F-48E6-91BA-A0AFF5024D54}"/>
              </a:ext>
            </a:extLst>
          </p:cNvPr>
          <p:cNvSpPr>
            <a:spLocks xmlns:a="http://schemas.openxmlformats.org/drawingml/2006/main" noGrp="1"/>
          </p:cNvSpPr>
          <p:nvPr/>
        </p:nvSpPr>
        <p:spPr>
          <a:xfrm xmlns:a="http://schemas.openxmlformats.org/drawingml/2006/main">
            <a:off x="952500" y="1466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ETTh1: hourly transformer-oil temperature · 48 past / 24 future points · GP noise</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6,000 updates; scores mapped back to training-standard-deviation units.</a:t>
            </a:r>
          </a:p>
        </p:txBody>
      </p:sp>
      <p:graphicFrame>
        <p:nvGraphicFramePr>
          <p:cNvPr id="3" name="Chart">
            <a:extLst xmlns:a="http://schemas.openxmlformats.org/drawingml/2006/main">
              <a:ext uri="{FF2B5EF4-FFF2-40B4-BE49-F238E27FC236}">
                <a16:creationId xmlns:a16="http://schemas.microsoft.com/office/drawing/2014/main" id="{B608ACB0-C03D-4B44-B960-D2C0A8DE9D49}"/>
              </a:ext>
            </a:extLst>
          </p:cNvPr>
          <p:cNvGraphicFramePr/>
          <p:nvPr/>
        </p:nvGraphicFramePr>
        <p:xfrm>
          <a:off xmlns:a="http://schemas.openxmlformats.org/drawingml/2006/main" x="952500" y="2190750"/>
          <a:ext xmlns:a="http://schemas.openxmlformats.org/drawingml/2006/main" cx="10096500" cy="3143250"/>
        </p:xfrm>
        <a:graphic xmlns:a="http://schemas.openxmlformats.org/drawingml/2006/main">
          <a:graphicData uri="http://schemas.openxmlformats.org/drawingml/2006/chart">
            <c:chart xmlns:r="http://schemas.openxmlformats.org/officeDocument/2006/relationships" xmlns:c="http://schemas.openxmlformats.org/drawingml/2006/chart" r:id="R1ec1ecd5bc44406e"/>
          </a:graphicData>
        </a:graphic>
      </p:graphicFrame>
      <p:sp>
        <p:nvSpPr>
          <p:cNvPr id="4" name="">
            <a:extLst xmlns:a="http://schemas.openxmlformats.org/drawingml/2006/main">
              <a:ext uri="{FF2B5EF4-FFF2-40B4-BE49-F238E27FC236}">
                <a16:creationId xmlns:a16="http://schemas.microsoft.com/office/drawing/2014/main" id="{851E8818-DCC3-451B-B6CC-21282C58C498}"/>
              </a:ext>
            </a:extLst>
          </p:cNvPr>
          <p:cNvSpPr>
            <a:spLocks xmlns:a="http://schemas.openxmlformats.org/drawingml/2006/main" noGrp="1"/>
          </p:cNvSpPr>
          <p:nvPr/>
        </p:nvSpPr>
        <p:spPr>
          <a:xfrm xmlns:a="http://schemas.openxmlformats.org/drawingml/2006/main">
            <a:off x="723900" y="55340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Centering subtracts the observed history mean; mean/std also divides by its standard deviation.</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Ridge = regularized linear prediction + sampled training residuals, with history normalization.</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Ridge CRPS: 0.0936 on the same 118 test windows.</a:t>
            </a:r>
          </a:p>
        </p:txBody>
      </p:sp>
      <p:sp>
        <p:nvSpPr>
          <p:cNvPr id="5" name="">
            <a:extLst xmlns:a="http://schemas.openxmlformats.org/drawingml/2006/main">
              <a:ext uri="{FF2B5EF4-FFF2-40B4-BE49-F238E27FC236}">
                <a16:creationId xmlns:a16="http://schemas.microsoft.com/office/drawing/2014/main" id="{EAE4FF87-D01A-45FD-B09D-E2D71FB0E6A0}"/>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10</a:t>
            </a:r>
          </a:p>
        </p:txBody>
      </p:sp>
    </p:spTree>
    <p:extLst>
      <p:ext uri="{BB962C8B-B14F-4D97-AF65-F5344CB8AC3E}">
        <p14:creationId xmlns:p14="http://schemas.microsoft.com/office/powerpoint/2010/main" val="13413805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A44498-5077-45FE-88A4-5C1668527864}"/>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Whitening helps synthetic GP, but hurts real multichannel forecasts</a:t>
            </a:r>
          </a:p>
        </p:txBody>
      </p:sp>
      <p:sp>
        <p:nvSpPr>
          <p:cNvPr id="2" name="">
            <a:extLst xmlns:a="http://schemas.openxmlformats.org/drawingml/2006/main">
              <a:ext uri="{FF2B5EF4-FFF2-40B4-BE49-F238E27FC236}">
                <a16:creationId xmlns:a16="http://schemas.microsoft.com/office/drawing/2014/main" id="{23567C6E-BB6C-43C8-85A5-2778B1347E61}"/>
              </a:ext>
            </a:extLst>
          </p:cNvPr>
          <p:cNvSpPr>
            <a:spLocks xmlns:a="http://schemas.openxmlformats.org/drawingml/2006/main" noGrp="1"/>
          </p:cNvSpPr>
          <p:nvPr/>
        </p:nvSpPr>
        <p:spPr>
          <a:xfrm xmlns:a="http://schemas.openxmlformats.org/drawingml/2006/main">
            <a:off x="952500" y="14668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Channels = variables: GP simulations; hourly transformer measurements; daily exchange rates.</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Each channel uses training mean/std; CRPS averages over forecast times and channels.</a:t>
            </a:r>
          </a:p>
        </p:txBody>
      </p:sp>
      <p:graphicFrame>
        <p:nvGraphicFramePr>
          <p:cNvPr id="3" name="Chart">
            <a:extLst xmlns:a="http://schemas.openxmlformats.org/drawingml/2006/main">
              <a:ext uri="{FF2B5EF4-FFF2-40B4-BE49-F238E27FC236}">
                <a16:creationId xmlns:a16="http://schemas.microsoft.com/office/drawing/2014/main" id="{A10DA134-7A29-410D-82D1-A29ED4CB5958}"/>
              </a:ext>
            </a:extLst>
          </p:cNvPr>
          <p:cNvGraphicFramePr/>
          <p:nvPr/>
        </p:nvGraphicFramePr>
        <p:xfrm>
          <a:off xmlns:a="http://schemas.openxmlformats.org/drawingml/2006/main" x="952500" y="2190750"/>
          <a:ext xmlns:a="http://schemas.openxmlformats.org/drawingml/2006/main" cx="10096500" cy="3143250"/>
        </p:xfrm>
        <a:graphic xmlns:a="http://schemas.openxmlformats.org/drawingml/2006/main">
          <a:graphicData uri="http://schemas.openxmlformats.org/drawingml/2006/chart">
            <c:chart xmlns:r="http://schemas.openxmlformats.org/officeDocument/2006/relationships" xmlns:c="http://schemas.openxmlformats.org/drawingml/2006/chart" r:id="R32b2ea662b46483b"/>
          </a:graphicData>
        </a:graphic>
      </p:graphicFrame>
      <p:sp>
        <p:nvSpPr>
          <p:cNvPr id="4" name="">
            <a:extLst xmlns:a="http://schemas.openxmlformats.org/drawingml/2006/main">
              <a:ext uri="{FF2B5EF4-FFF2-40B4-BE49-F238E27FC236}">
                <a16:creationId xmlns:a16="http://schemas.microsoft.com/office/drawing/2014/main" id="{E1EE08B8-7C07-4D99-B42E-77C45992887B}"/>
              </a:ext>
            </a:extLst>
          </p:cNvPr>
          <p:cNvSpPr>
            <a:spLocks xmlns:a="http://schemas.openxmlformats.org/drawingml/2006/main" noGrp="1"/>
          </p:cNvSpPr>
          <p:nvPr/>
        </p:nvSpPr>
        <p:spPr>
          <a:xfrm xmlns:a="http://schemas.openxmlformats.org/drawingml/2006/main">
            <a:off x="723900" y="55340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75" b="0">
                <a:solidFill>
                  <a:srgbClr val="43596C"/>
                </a:solidFill>
                <a:latin typeface="Arial"/>
                <a:ea typeface="Arial"/>
                <a:cs typeface="Arial"/>
              </a:defRPr>
            </a:defPPr>
            <a:lvl1pPr>
              <a:defRPr sz="1575" b="0">
                <a:solidFill>
                  <a:srgbClr val="43596C"/>
                </a:solidFill>
                <a:latin typeface="Arial"/>
                <a:ea typeface="Arial"/>
                <a:cs typeface="Arial"/>
              </a:defRPr>
            </a:lvl1pPr>
            <a:lvl2pPr>
              <a:defRPr sz="1575" b="0">
                <a:solidFill>
                  <a:srgbClr val="43596C"/>
                </a:solidFill>
                <a:latin typeface="Arial"/>
                <a:ea typeface="Arial"/>
                <a:cs typeface="Arial"/>
              </a:defRPr>
            </a:lvl2pPr>
            <a:lvl3pPr>
              <a:defRPr sz="1575" b="0">
                <a:solidFill>
                  <a:srgbClr val="43596C"/>
                </a:solidFill>
                <a:latin typeface="Arial"/>
                <a:ea typeface="Arial"/>
                <a:cs typeface="Arial"/>
              </a:defRPr>
            </a:lvl3pPr>
            <a:lvl4pPr>
              <a:defRPr sz="1575" b="0">
                <a:solidFill>
                  <a:srgbClr val="43596C"/>
                </a:solidFill>
                <a:latin typeface="Arial"/>
                <a:ea typeface="Arial"/>
                <a:cs typeface="Arial"/>
              </a:defRPr>
            </a:lvl4pPr>
            <a:lvl5pPr>
              <a:defRPr sz="1575" b="0">
                <a:solidFill>
                  <a:srgbClr val="43596C"/>
                </a:solidFill>
                <a:latin typeface="Arial"/>
                <a:ea typeface="Arial"/>
                <a:cs typeface="Arial"/>
              </a:defRPr>
            </a:lvl5pPr>
            <a:lvl6pPr>
              <a:defRPr sz="1575" b="0">
                <a:solidFill>
                  <a:srgbClr val="43596C"/>
                </a:solidFill>
                <a:latin typeface="Arial"/>
                <a:ea typeface="Arial"/>
                <a:cs typeface="Arial"/>
              </a:defRPr>
            </a:lvl6pPr>
            <a:lvl7pPr>
              <a:defRPr sz="1575" b="0">
                <a:solidFill>
                  <a:srgbClr val="43596C"/>
                </a:solidFill>
                <a:latin typeface="Arial"/>
                <a:ea typeface="Arial"/>
                <a:cs typeface="Arial"/>
              </a:defRPr>
            </a:lvl7pPr>
            <a:lvl8pPr>
              <a:defRPr sz="1575" b="0">
                <a:solidFill>
                  <a:srgbClr val="43596C"/>
                </a:solidFill>
                <a:latin typeface="Arial"/>
                <a:ea typeface="Arial"/>
                <a:cs typeface="Arial"/>
              </a:defRPr>
            </a:lvl8pPr>
            <a:lvl9pPr>
              <a:defRPr sz="1575" b="0">
                <a:solidFill>
                  <a:srgbClr val="43596C"/>
                </a:solidFill>
                <a:latin typeface="Arial"/>
                <a:ea typeface="Arial"/>
                <a:cs typeface="Arial"/>
              </a:defRPr>
            </a:lvl9pPr>
          </a:lstStyle>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Energy score evaluates the whole future vector; lower is better and confirms the whitening trend.</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Ridge + sampled training residual vectors: CRPS 0.193 / 0.093 / 0.287 / 0.068 (left to right).</a:t>
            </a:r>
          </a:p>
          <a:p xmlns:a="http://schemas.openxmlformats.org/drawingml/2006/main">
            <a:pPr>
              <a:defRPr sz="1575" b="0">
                <a:solidFill>
                  <a:srgbClr val="43596C"/>
                </a:solidFill>
                <a:latin typeface="Arial"/>
                <a:ea typeface="Arial"/>
                <a:cs typeface="Arial"/>
              </a:defRPr>
            </a:pPr>
            <a:r>
              <a:rPr sz="1575" b="0">
                <a:solidFill>
                  <a:srgbClr val="43596C"/>
                </a:solidFill>
                <a:latin typeface="Arial"/>
                <a:ea typeface="Arial"/>
                <a:cs typeface="Arial"/>
              </a:rPr>
              <a:t>Parentheses give channel counts. Compare heads within a task. GP noise; 2,000 training updates.</a:t>
            </a:r>
          </a:p>
        </p:txBody>
      </p:sp>
      <p:sp>
        <p:nvSpPr>
          <p:cNvPr id="5" name="">
            <a:extLst xmlns:a="http://schemas.openxmlformats.org/drawingml/2006/main">
              <a:ext uri="{FF2B5EF4-FFF2-40B4-BE49-F238E27FC236}">
                <a16:creationId xmlns:a16="http://schemas.microsoft.com/office/drawing/2014/main" id="{FD73252E-DE1F-4029-9550-6B5EBDE49F8F}"/>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11</a:t>
            </a:r>
          </a:p>
        </p:txBody>
      </p:sp>
    </p:spTree>
    <p:extLst>
      <p:ext uri="{BB962C8B-B14F-4D97-AF65-F5344CB8AC3E}">
        <p14:creationId xmlns:p14="http://schemas.microsoft.com/office/powerpoint/2010/main" val="14858323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0BC4C1-E3B5-4A36-98FE-C9AC046A798D}"/>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Checks prompted by the review</a:t>
            </a:r>
          </a:p>
        </p:txBody>
      </p:sp>
      <p:graphicFrame>
        <p:nvGraphicFramePr>
          <p:cNvPr id="2" name="">
            <a:extLst xmlns:a="http://schemas.openxmlformats.org/drawingml/2006/main">
              <a:ext uri="{FF2B5EF4-FFF2-40B4-BE49-F238E27FC236}">
                <a16:creationId xmlns:a16="http://schemas.microsoft.com/office/drawing/2014/main" id="{D0AACD46-3148-46A6-872A-4F29023036B7}"/>
              </a:ext>
            </a:extLst>
          </p:cNvPr>
          <p:cNvGraphicFramePr/>
          <p:nvPr/>
        </p:nvGraphicFramePr>
        <p:xfrm>
          <a:off xmlns:a="http://schemas.openxmlformats.org/drawingml/2006/main" x="685800" y="1676400"/>
          <a:ext xmlns:a="http://schemas.openxmlformats.org/drawingml/2006/main" cx="10820400" cy="3333750"/>
        </p:xfrm>
        <a:graphic xmlns:a="http://schemas.openxmlformats.org/drawingml/2006/main">
          <a:graphicData uri="http://schemas.openxmlformats.org/drawingml/2006/table">
            <a:tbl>
              <a:tblPr firstRow="1" bandRow="0"/>
              <a:tblGrid>
                <a:gridCol w="2952750"/>
                <a:gridCol w="7867650"/>
              </a:tblGrid>
              <a:tr h="666750">
                <a:tc>
                  <a:txBody>
                    <a:bodyPr/>
                    <a:lstStyle/>
                    <a:p>
                      <a:r>
                        <a:rPr sz="1800" b="1">
                          <a:solidFill>
                            <a:srgbClr val="172A3A"/>
                          </a:solidFill>
                          <a:latin typeface="Arial"/>
                          <a:ea typeface="Arial"/>
                          <a:cs typeface="Arial"/>
                        </a:rPr>
                        <a:t>Review question</a:t>
                      </a:r>
                    </a:p>
                  </a:txBody>
                  <a:tcPr marL="91440" marR="91440" marT="45720" marB="45720">
                    <a:lnL w="9525">
                      <a:solidFill>
                        <a:srgbClr val="D5E0E8"/>
                      </a:solidFill>
                      <a:prstDash val="solid"/>
                    </a:lnL>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800" b="1">
                          <a:solidFill>
                            <a:srgbClr val="172A3A"/>
                          </a:solidFill>
                          <a:latin typeface="Arial"/>
                          <a:ea typeface="Arial"/>
                          <a:cs typeface="Arial"/>
                        </a:rPr>
                        <a:t>What the additional check shows</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r>
              <a:tr h="666750">
                <a:tc>
                  <a:txBody>
                    <a:bodyPr/>
                    <a:lstStyle/>
                    <a:p>
                      <a:r>
                        <a:rPr sz="1800" b="0">
                          <a:solidFill>
                            <a:srgbClr val="172A3A"/>
                          </a:solidFill>
                          <a:latin typeface="Arial"/>
                          <a:ea typeface="Arial"/>
                          <a:cs typeface="Arial"/>
                        </a:rPr>
                        <a:t>Are tiny PCA directions driving it?</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GP velocity error on PC3–6: whitened MLP &lt; MLP &lt; S4</a:t>
                      </a:r>
                    </a:p>
                  </a:txBody>
                  <a:tcPr marL="91440" marR="91440" marT="45720" marB="45720">
                    <a:lnR w="9525">
                      <a:solidFill>
                        <a:srgbClr val="D5E0E8"/>
                      </a:solidFill>
                      <a:prstDash val="solid"/>
                    </a:lnR>
                    <a:lnB w="9525">
                      <a:solidFill>
                        <a:srgbClr val="D5E0E8"/>
                      </a:solidFill>
                      <a:prstDash val="solid"/>
                    </a:lnB>
                    <a:solidFill>
                      <a:srgbClr val="FFFFFF"/>
                    </a:solidFill>
                  </a:tcPr>
                </a:tc>
              </a:tr>
              <a:tr h="666750">
                <a:tc>
                  <a:txBody>
                    <a:bodyPr/>
                    <a:lstStyle/>
                    <a:p>
                      <a:r>
                        <a:rPr sz="1800" b="0">
                          <a:solidFill>
                            <a:srgbClr val="172A3A"/>
                          </a:solidFill>
                          <a:latin typeface="Arial"/>
                          <a:ea typeface="Arial"/>
                          <a:cs typeface="Arial"/>
                        </a:rPr>
                        <a:t>Does lower velocity error mean better forecasts?</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GP forecasts: no resolved S4–MLP score gap; whitening lowers VS</a:t>
                      </a:r>
                    </a:p>
                  </a:txBody>
                  <a:tcPr marL="91440" marR="91440" marT="45720" marB="45720">
                    <a:lnR w="9525">
                      <a:solidFill>
                        <a:srgbClr val="D5E0E8"/>
                      </a:solidFill>
                      <a:prstDash val="solid"/>
                    </a:lnR>
                    <a:lnB w="9525">
                      <a:solidFill>
                        <a:srgbClr val="D5E0E8"/>
                      </a:solidFill>
                      <a:prstDash val="solid"/>
                    </a:lnB>
                    <a:solidFill>
                      <a:srgbClr val="FFFFFF"/>
                    </a:solidFill>
                  </a:tcPr>
                </a:tc>
              </a:tr>
              <a:tr h="666750">
                <a:tc>
                  <a:txBody>
                    <a:bodyPr/>
                    <a:lstStyle/>
                    <a:p>
                      <a:r>
                        <a:rPr sz="1800" b="0">
                          <a:solidFill>
                            <a:srgbClr val="172A3A"/>
                          </a:solidFill>
                          <a:latin typeface="Arial"/>
                          <a:ea typeface="Arial"/>
                          <a:cs typeface="Arial"/>
                        </a:rPr>
                        <a:t>Does the capacity effect repeat?</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Wider MLP reduces roughness on 3 new synthetic datasets</a:t>
                      </a:r>
                    </a:p>
                  </a:txBody>
                  <a:tcPr marL="91440" marR="91440" marT="45720" marB="45720">
                    <a:lnR w="9525">
                      <a:solidFill>
                        <a:srgbClr val="D5E0E8"/>
                      </a:solidFill>
                      <a:prstDash val="solid"/>
                    </a:lnR>
                    <a:lnB w="9525">
                      <a:solidFill>
                        <a:srgbClr val="D5E0E8"/>
                      </a:solidFill>
                      <a:prstDash val="solid"/>
                    </a:lnB>
                    <a:solidFill>
                      <a:srgbClr val="FFFFFF"/>
                    </a:solidFill>
                  </a:tcPr>
                </a:tc>
              </a:tr>
              <a:tr h="666750">
                <a:tc>
                  <a:txBody>
                    <a:bodyPr/>
                    <a:lstStyle/>
                    <a:p>
                      <a:r>
                        <a:rPr sz="1800" b="0">
                          <a:solidFill>
                            <a:srgbClr val="172A3A"/>
                          </a:solidFill>
                          <a:latin typeface="Arial"/>
                          <a:ea typeface="Arial"/>
                          <a:cs typeface="Arial"/>
                        </a:rPr>
                        <a:t>Is the architecture comparison isolated?</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Equal budgets; the heads still use history differently</a:t>
                      </a:r>
                    </a:p>
                  </a:txBody>
                  <a:tcPr marL="91440" marR="91440" marT="45720" marB="45720">
                    <a:lnR w="9525">
                      <a:solidFill>
                        <a:srgbClr val="D5E0E8"/>
                      </a:solidFill>
                      <a:prstDash val="solid"/>
                    </a:lnR>
                    <a:lnB w="9525">
                      <a:solidFill>
                        <a:srgbClr val="D5E0E8"/>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D15C8E7-9D0D-4BF3-BB62-B251F640B3A5}"/>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43596C"/>
                </a:solidFill>
                <a:latin typeface="Arial"/>
                <a:ea typeface="Arial"/>
                <a:cs typeface="Arial"/>
              </a:defRPr>
            </a:defPPr>
            <a:lvl1pPr>
              <a:defRPr sz="1725" b="0">
                <a:solidFill>
                  <a:srgbClr val="43596C"/>
                </a:solidFill>
                <a:latin typeface="Arial"/>
                <a:ea typeface="Arial"/>
                <a:cs typeface="Arial"/>
              </a:defRPr>
            </a:lvl1pPr>
            <a:lvl2pPr>
              <a:defRPr sz="1725" b="0">
                <a:solidFill>
                  <a:srgbClr val="43596C"/>
                </a:solidFill>
                <a:latin typeface="Arial"/>
                <a:ea typeface="Arial"/>
                <a:cs typeface="Arial"/>
              </a:defRPr>
            </a:lvl2pPr>
            <a:lvl3pPr>
              <a:defRPr sz="1725" b="0">
                <a:solidFill>
                  <a:srgbClr val="43596C"/>
                </a:solidFill>
                <a:latin typeface="Arial"/>
                <a:ea typeface="Arial"/>
                <a:cs typeface="Arial"/>
              </a:defRPr>
            </a:lvl3pPr>
            <a:lvl4pPr>
              <a:defRPr sz="1725" b="0">
                <a:solidFill>
                  <a:srgbClr val="43596C"/>
                </a:solidFill>
                <a:latin typeface="Arial"/>
                <a:ea typeface="Arial"/>
                <a:cs typeface="Arial"/>
              </a:defRPr>
            </a:lvl4pPr>
            <a:lvl5pPr>
              <a:defRPr sz="1725" b="0">
                <a:solidFill>
                  <a:srgbClr val="43596C"/>
                </a:solidFill>
                <a:latin typeface="Arial"/>
                <a:ea typeface="Arial"/>
                <a:cs typeface="Arial"/>
              </a:defRPr>
            </a:lvl5pPr>
            <a:lvl6pPr>
              <a:defRPr sz="1725" b="0">
                <a:solidFill>
                  <a:srgbClr val="43596C"/>
                </a:solidFill>
                <a:latin typeface="Arial"/>
                <a:ea typeface="Arial"/>
                <a:cs typeface="Arial"/>
              </a:defRPr>
            </a:lvl6pPr>
            <a:lvl7pPr>
              <a:defRPr sz="1725" b="0">
                <a:solidFill>
                  <a:srgbClr val="43596C"/>
                </a:solidFill>
                <a:latin typeface="Arial"/>
                <a:ea typeface="Arial"/>
                <a:cs typeface="Arial"/>
              </a:defRPr>
            </a:lvl7pPr>
            <a:lvl8pPr>
              <a:defRPr sz="1725" b="0">
                <a:solidFill>
                  <a:srgbClr val="43596C"/>
                </a:solidFill>
                <a:latin typeface="Arial"/>
                <a:ea typeface="Arial"/>
                <a:cs typeface="Arial"/>
              </a:defRPr>
            </a:lvl8pPr>
            <a:lvl9pPr>
              <a:defRPr sz="1725" b="0">
                <a:solidFill>
                  <a:srgbClr val="43596C"/>
                </a:solidFill>
                <a:latin typeface="Arial"/>
                <a:ea typeface="Arial"/>
                <a:cs typeface="Arial"/>
              </a:defRPr>
            </a:lvl9pPr>
          </a:lstStyle>
          <a:p xmlns:a="http://schemas.openxmlformats.org/drawingml/2006/main">
            <a:pPr>
              <a:defRPr sz="1725" b="0">
                <a:solidFill>
                  <a:srgbClr val="43596C"/>
                </a:solidFill>
                <a:latin typeface="Arial"/>
                <a:ea typeface="Arial"/>
                <a:cs typeface="Arial"/>
              </a:defRPr>
            </a:pPr>
            <a:r>
              <a:rPr sz="1725" b="0">
                <a:solidFill>
                  <a:srgbClr val="43596C"/>
                </a:solidFill>
                <a:latin typeface="Arial"/>
                <a:ea typeface="Arial"/>
                <a:cs typeface="Arial"/>
              </a:rPr>
              <a:t>Analytic reference = mean velocity given current x, time t and past h, from the known data law.</a:t>
            </a:r>
          </a:p>
          <a:p xmlns:a="http://schemas.openxmlformats.org/drawingml/2006/main">
            <a:pPr>
              <a:defRPr sz="1725" b="0">
                <a:solidFill>
                  <a:srgbClr val="43596C"/>
                </a:solidFill>
                <a:latin typeface="Arial"/>
                <a:ea typeface="Arial"/>
                <a:cs typeface="Arial"/>
              </a:defRPr>
            </a:pPr>
            <a:r>
              <a:rPr sz="1725" b="0">
                <a:solidFill>
                  <a:srgbClr val="43596C"/>
                </a:solidFill>
                <a:latin typeface="Arial"/>
                <a:ea typeface="Arial"/>
                <a:cs typeface="Arial"/>
              </a:rPr>
              <a:t>Broader per-head tuning and the whitening rescaling floor remain limitations.</a:t>
            </a:r>
          </a:p>
        </p:txBody>
      </p:sp>
      <p:sp>
        <p:nvSpPr>
          <p:cNvPr id="4" name="">
            <a:extLst xmlns:a="http://schemas.openxmlformats.org/drawingml/2006/main">
              <a:ext uri="{FF2B5EF4-FFF2-40B4-BE49-F238E27FC236}">
                <a16:creationId xmlns:a16="http://schemas.microsoft.com/office/drawing/2014/main" id="{902FCCB8-BAA2-4F16-80DC-4DC1FC206898}"/>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12</a:t>
            </a:r>
          </a:p>
        </p:txBody>
      </p:sp>
    </p:spTree>
    <p:extLst>
      <p:ext uri="{BB962C8B-B14F-4D97-AF65-F5344CB8AC3E}">
        <p14:creationId xmlns:p14="http://schemas.microsoft.com/office/powerpoint/2010/main" val="53139508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A8FF0F-0B85-4402-AC4A-D47EE7538E10}"/>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Smooth starting noise alone does not justify switching to S4</a:t>
            </a:r>
          </a:p>
        </p:txBody>
      </p:sp>
      <p:sp>
        <p:nvSpPr>
          <p:cNvPr id="2" name="">
            <a:extLst xmlns:a="http://schemas.openxmlformats.org/drawingml/2006/main">
              <a:ext uri="{FF2B5EF4-FFF2-40B4-BE49-F238E27FC236}">
                <a16:creationId xmlns:a16="http://schemas.microsoft.com/office/drawing/2014/main" id="{36D5D286-8240-41A1-82DC-390DA1A7E466}"/>
              </a:ext>
            </a:extLst>
          </p:cNvPr>
          <p:cNvSpPr>
            <a:spLocks xmlns:a="http://schemas.openxmlformats.org/drawingml/2006/main" noGrp="1"/>
          </p:cNvSpPr>
          <p:nvPr/>
        </p:nvSpPr>
        <p:spPr>
          <a:xfrm xmlns:a="http://schemas.openxmlformats.org/drawingml/2006/main">
            <a:off x="742950" y="1714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A3A"/>
                </a:solidFill>
                <a:latin typeface="Arial"/>
                <a:ea typeface="Arial"/>
                <a:cs typeface="Arial"/>
              </a:defRPr>
            </a:defPPr>
            <a:lvl1pPr>
              <a:defRPr sz="2175" b="0">
                <a:solidFill>
                  <a:srgbClr val="172A3A"/>
                </a:solidFill>
                <a:latin typeface="Arial"/>
                <a:ea typeface="Arial"/>
                <a:cs typeface="Arial"/>
              </a:defRPr>
            </a:lvl1pPr>
            <a:lvl2pPr>
              <a:defRPr sz="2175" b="0">
                <a:solidFill>
                  <a:srgbClr val="172A3A"/>
                </a:solidFill>
                <a:latin typeface="Arial"/>
                <a:ea typeface="Arial"/>
                <a:cs typeface="Arial"/>
              </a:defRPr>
            </a:lvl2pPr>
            <a:lvl3pPr>
              <a:defRPr sz="2175" b="0">
                <a:solidFill>
                  <a:srgbClr val="172A3A"/>
                </a:solidFill>
                <a:latin typeface="Arial"/>
                <a:ea typeface="Arial"/>
                <a:cs typeface="Arial"/>
              </a:defRPr>
            </a:lvl3pPr>
            <a:lvl4pPr>
              <a:defRPr sz="2175" b="0">
                <a:solidFill>
                  <a:srgbClr val="172A3A"/>
                </a:solidFill>
                <a:latin typeface="Arial"/>
                <a:ea typeface="Arial"/>
                <a:cs typeface="Arial"/>
              </a:defRPr>
            </a:lvl4pPr>
            <a:lvl5pPr>
              <a:defRPr sz="2175" b="0">
                <a:solidFill>
                  <a:srgbClr val="172A3A"/>
                </a:solidFill>
                <a:latin typeface="Arial"/>
                <a:ea typeface="Arial"/>
                <a:cs typeface="Arial"/>
              </a:defRPr>
            </a:lvl5pPr>
            <a:lvl6pPr>
              <a:defRPr sz="2175" b="0">
                <a:solidFill>
                  <a:srgbClr val="172A3A"/>
                </a:solidFill>
                <a:latin typeface="Arial"/>
                <a:ea typeface="Arial"/>
                <a:cs typeface="Arial"/>
              </a:defRPr>
            </a:lvl6pPr>
            <a:lvl7pPr>
              <a:defRPr sz="2175" b="0">
                <a:solidFill>
                  <a:srgbClr val="172A3A"/>
                </a:solidFill>
                <a:latin typeface="Arial"/>
                <a:ea typeface="Arial"/>
                <a:cs typeface="Arial"/>
              </a:defRPr>
            </a:lvl7pPr>
            <a:lvl8pPr>
              <a:defRPr sz="2175" b="0">
                <a:solidFill>
                  <a:srgbClr val="172A3A"/>
                </a:solidFill>
                <a:latin typeface="Arial"/>
                <a:ea typeface="Arial"/>
                <a:cs typeface="Arial"/>
              </a:defRPr>
            </a:lvl8pPr>
            <a:lvl9pPr>
              <a:defRPr sz="2175" b="0">
                <a:solidFill>
                  <a:srgbClr val="172A3A"/>
                </a:solidFill>
                <a:latin typeface="Arial"/>
                <a:ea typeface="Arial"/>
                <a:cs typeface="Arial"/>
              </a:defRPr>
            </a:lvl9pPr>
          </a:lstStyle>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Smooth GP noise did not produce the predicted S4 residual-error advantage.</a:t>
            </a:r>
          </a:p>
        </p:txBody>
      </p:sp>
      <p:sp>
        <p:nvSpPr>
          <p:cNvPr id="3" name="">
            <a:extLst xmlns:a="http://schemas.openxmlformats.org/drawingml/2006/main">
              <a:ext uri="{FF2B5EF4-FFF2-40B4-BE49-F238E27FC236}">
                <a16:creationId xmlns:a16="http://schemas.microsoft.com/office/drawing/2014/main" id="{2251A708-09DE-44CB-8DB3-4EFFD6709E2A}"/>
              </a:ext>
            </a:extLst>
          </p:cNvPr>
          <p:cNvSpPr>
            <a:spLocks xmlns:a="http://schemas.openxmlformats.org/drawingml/2006/main" noGrp="1"/>
          </p:cNvSpPr>
          <p:nvPr/>
        </p:nvSpPr>
        <p:spPr>
          <a:xfrm xmlns:a="http://schemas.openxmlformats.org/drawingml/2006/main">
            <a:off x="742950" y="26670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A3A"/>
                </a:solidFill>
                <a:latin typeface="Arial"/>
                <a:ea typeface="Arial"/>
                <a:cs typeface="Arial"/>
              </a:defRPr>
            </a:defPPr>
            <a:lvl1pPr>
              <a:defRPr sz="2175" b="0">
                <a:solidFill>
                  <a:srgbClr val="172A3A"/>
                </a:solidFill>
                <a:latin typeface="Arial"/>
                <a:ea typeface="Arial"/>
                <a:cs typeface="Arial"/>
              </a:defRPr>
            </a:lvl1pPr>
            <a:lvl2pPr>
              <a:defRPr sz="2175" b="0">
                <a:solidFill>
                  <a:srgbClr val="172A3A"/>
                </a:solidFill>
                <a:latin typeface="Arial"/>
                <a:ea typeface="Arial"/>
                <a:cs typeface="Arial"/>
              </a:defRPr>
            </a:lvl2pPr>
            <a:lvl3pPr>
              <a:defRPr sz="2175" b="0">
                <a:solidFill>
                  <a:srgbClr val="172A3A"/>
                </a:solidFill>
                <a:latin typeface="Arial"/>
                <a:ea typeface="Arial"/>
                <a:cs typeface="Arial"/>
              </a:defRPr>
            </a:lvl3pPr>
            <a:lvl4pPr>
              <a:defRPr sz="2175" b="0">
                <a:solidFill>
                  <a:srgbClr val="172A3A"/>
                </a:solidFill>
                <a:latin typeface="Arial"/>
                <a:ea typeface="Arial"/>
                <a:cs typeface="Arial"/>
              </a:defRPr>
            </a:lvl4pPr>
            <a:lvl5pPr>
              <a:defRPr sz="2175" b="0">
                <a:solidFill>
                  <a:srgbClr val="172A3A"/>
                </a:solidFill>
                <a:latin typeface="Arial"/>
                <a:ea typeface="Arial"/>
                <a:cs typeface="Arial"/>
              </a:defRPr>
            </a:lvl5pPr>
            <a:lvl6pPr>
              <a:defRPr sz="2175" b="0">
                <a:solidFill>
                  <a:srgbClr val="172A3A"/>
                </a:solidFill>
                <a:latin typeface="Arial"/>
                <a:ea typeface="Arial"/>
                <a:cs typeface="Arial"/>
              </a:defRPr>
            </a:lvl6pPr>
            <a:lvl7pPr>
              <a:defRPr sz="2175" b="0">
                <a:solidFill>
                  <a:srgbClr val="172A3A"/>
                </a:solidFill>
                <a:latin typeface="Arial"/>
                <a:ea typeface="Arial"/>
                <a:cs typeface="Arial"/>
              </a:defRPr>
            </a:lvl7pPr>
            <a:lvl8pPr>
              <a:defRPr sz="2175" b="0">
                <a:solidFill>
                  <a:srgbClr val="172A3A"/>
                </a:solidFill>
                <a:latin typeface="Arial"/>
                <a:ea typeface="Arial"/>
                <a:cs typeface="Arial"/>
              </a:defRPr>
            </a:lvl8pPr>
            <a:lvl9pPr>
              <a:defRPr sz="2175" b="0">
                <a:solidFill>
                  <a:srgbClr val="172A3A"/>
                </a:solidFill>
                <a:latin typeface="Arial"/>
                <a:ea typeface="Arial"/>
                <a:cs typeface="Arial"/>
              </a:defRPr>
            </a:lvl9pPr>
          </a:lstStyle>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Check both trajectory shape and forecast scores: they can tell different stories.</a:t>
            </a:r>
          </a:p>
        </p:txBody>
      </p:sp>
      <p:sp>
        <p:nvSpPr>
          <p:cNvPr id="4" name="">
            <a:extLst xmlns:a="http://schemas.openxmlformats.org/drawingml/2006/main">
              <a:ext uri="{FF2B5EF4-FFF2-40B4-BE49-F238E27FC236}">
                <a16:creationId xmlns:a16="http://schemas.microsoft.com/office/drawing/2014/main" id="{D514A556-CF2B-42B3-9825-2BCD02143D66}"/>
              </a:ext>
            </a:extLst>
          </p:cNvPr>
          <p:cNvSpPr>
            <a:spLocks xmlns:a="http://schemas.openxmlformats.org/drawingml/2006/main" noGrp="1"/>
          </p:cNvSpPr>
          <p:nvPr/>
        </p:nvSpPr>
        <p:spPr>
          <a:xfrm xmlns:a="http://schemas.openxmlformats.org/drawingml/2006/main">
            <a:off x="742950" y="3619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A3A"/>
                </a:solidFill>
                <a:latin typeface="Arial"/>
                <a:ea typeface="Arial"/>
                <a:cs typeface="Arial"/>
              </a:defRPr>
            </a:defPPr>
            <a:lvl1pPr>
              <a:defRPr sz="2175" b="0">
                <a:solidFill>
                  <a:srgbClr val="172A3A"/>
                </a:solidFill>
                <a:latin typeface="Arial"/>
                <a:ea typeface="Arial"/>
                <a:cs typeface="Arial"/>
              </a:defRPr>
            </a:lvl1pPr>
            <a:lvl2pPr>
              <a:defRPr sz="2175" b="0">
                <a:solidFill>
                  <a:srgbClr val="172A3A"/>
                </a:solidFill>
                <a:latin typeface="Arial"/>
                <a:ea typeface="Arial"/>
                <a:cs typeface="Arial"/>
              </a:defRPr>
            </a:lvl2pPr>
            <a:lvl3pPr>
              <a:defRPr sz="2175" b="0">
                <a:solidFill>
                  <a:srgbClr val="172A3A"/>
                </a:solidFill>
                <a:latin typeface="Arial"/>
                <a:ea typeface="Arial"/>
                <a:cs typeface="Arial"/>
              </a:defRPr>
            </a:lvl3pPr>
            <a:lvl4pPr>
              <a:defRPr sz="2175" b="0">
                <a:solidFill>
                  <a:srgbClr val="172A3A"/>
                </a:solidFill>
                <a:latin typeface="Arial"/>
                <a:ea typeface="Arial"/>
                <a:cs typeface="Arial"/>
              </a:defRPr>
            </a:lvl4pPr>
            <a:lvl5pPr>
              <a:defRPr sz="2175" b="0">
                <a:solidFill>
                  <a:srgbClr val="172A3A"/>
                </a:solidFill>
                <a:latin typeface="Arial"/>
                <a:ea typeface="Arial"/>
                <a:cs typeface="Arial"/>
              </a:defRPr>
            </a:lvl5pPr>
            <a:lvl6pPr>
              <a:defRPr sz="2175" b="0">
                <a:solidFill>
                  <a:srgbClr val="172A3A"/>
                </a:solidFill>
                <a:latin typeface="Arial"/>
                <a:ea typeface="Arial"/>
                <a:cs typeface="Arial"/>
              </a:defRPr>
            </a:lvl6pPr>
            <a:lvl7pPr>
              <a:defRPr sz="2175" b="0">
                <a:solidFill>
                  <a:srgbClr val="172A3A"/>
                </a:solidFill>
                <a:latin typeface="Arial"/>
                <a:ea typeface="Arial"/>
                <a:cs typeface="Arial"/>
              </a:defRPr>
            </a:lvl7pPr>
            <a:lvl8pPr>
              <a:defRPr sz="2175" b="0">
                <a:solidFill>
                  <a:srgbClr val="172A3A"/>
                </a:solidFill>
                <a:latin typeface="Arial"/>
                <a:ea typeface="Arial"/>
                <a:cs typeface="Arial"/>
              </a:defRPr>
            </a:lvl8pPr>
            <a:lvl9pPr>
              <a:defRPr sz="2175" b="0">
                <a:solidFill>
                  <a:srgbClr val="172A3A"/>
                </a:solidFill>
                <a:latin typeface="Arial"/>
                <a:ea typeface="Arial"/>
                <a:cs typeface="Arial"/>
              </a:defRPr>
            </a:lvl9pPr>
          </a:lstStyle>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Capacity and normalization substantially change particular head comparisons.</a:t>
            </a:r>
          </a:p>
        </p:txBody>
      </p:sp>
      <p:sp>
        <p:nvSpPr>
          <p:cNvPr id="5" name="">
            <a:extLst xmlns:a="http://schemas.openxmlformats.org/drawingml/2006/main">
              <a:ext uri="{FF2B5EF4-FFF2-40B4-BE49-F238E27FC236}">
                <a16:creationId xmlns:a16="http://schemas.microsoft.com/office/drawing/2014/main" id="{052D7EC0-DF20-4ED2-8335-6D2C47F22E97}"/>
              </a:ext>
            </a:extLst>
          </p:cNvPr>
          <p:cNvSpPr>
            <a:spLocks xmlns:a="http://schemas.openxmlformats.org/drawingml/2006/main" noGrp="1"/>
          </p:cNvSpPr>
          <p:nvPr/>
        </p:nvSpPr>
        <p:spPr>
          <a:xfrm xmlns:a="http://schemas.openxmlformats.org/drawingml/2006/main">
            <a:off x="742950" y="45720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A3A"/>
                </a:solidFill>
                <a:latin typeface="Arial"/>
                <a:ea typeface="Arial"/>
                <a:cs typeface="Arial"/>
              </a:defRPr>
            </a:defPPr>
            <a:lvl1pPr>
              <a:defRPr sz="2175" b="0">
                <a:solidFill>
                  <a:srgbClr val="172A3A"/>
                </a:solidFill>
                <a:latin typeface="Arial"/>
                <a:ea typeface="Arial"/>
                <a:cs typeface="Arial"/>
              </a:defRPr>
            </a:lvl1pPr>
            <a:lvl2pPr>
              <a:defRPr sz="2175" b="0">
                <a:solidFill>
                  <a:srgbClr val="172A3A"/>
                </a:solidFill>
                <a:latin typeface="Arial"/>
                <a:ea typeface="Arial"/>
                <a:cs typeface="Arial"/>
              </a:defRPr>
            </a:lvl2pPr>
            <a:lvl3pPr>
              <a:defRPr sz="2175" b="0">
                <a:solidFill>
                  <a:srgbClr val="172A3A"/>
                </a:solidFill>
                <a:latin typeface="Arial"/>
                <a:ea typeface="Arial"/>
                <a:cs typeface="Arial"/>
              </a:defRPr>
            </a:lvl3pPr>
            <a:lvl4pPr>
              <a:defRPr sz="2175" b="0">
                <a:solidFill>
                  <a:srgbClr val="172A3A"/>
                </a:solidFill>
                <a:latin typeface="Arial"/>
                <a:ea typeface="Arial"/>
                <a:cs typeface="Arial"/>
              </a:defRPr>
            </a:lvl4pPr>
            <a:lvl5pPr>
              <a:defRPr sz="2175" b="0">
                <a:solidFill>
                  <a:srgbClr val="172A3A"/>
                </a:solidFill>
                <a:latin typeface="Arial"/>
                <a:ea typeface="Arial"/>
                <a:cs typeface="Arial"/>
              </a:defRPr>
            </a:lvl5pPr>
            <a:lvl6pPr>
              <a:defRPr sz="2175" b="0">
                <a:solidFill>
                  <a:srgbClr val="172A3A"/>
                </a:solidFill>
                <a:latin typeface="Arial"/>
                <a:ea typeface="Arial"/>
                <a:cs typeface="Arial"/>
              </a:defRPr>
            </a:lvl6pPr>
            <a:lvl7pPr>
              <a:defRPr sz="2175" b="0">
                <a:solidFill>
                  <a:srgbClr val="172A3A"/>
                </a:solidFill>
                <a:latin typeface="Arial"/>
                <a:ea typeface="Arial"/>
                <a:cs typeface="Arial"/>
              </a:defRPr>
            </a:lvl7pPr>
            <a:lvl8pPr>
              <a:defRPr sz="2175" b="0">
                <a:solidFill>
                  <a:srgbClr val="172A3A"/>
                </a:solidFill>
                <a:latin typeface="Arial"/>
                <a:ea typeface="Arial"/>
                <a:cs typeface="Arial"/>
              </a:defRPr>
            </a:lvl8pPr>
            <a:lvl9pPr>
              <a:defRPr sz="2175" b="0">
                <a:solidFill>
                  <a:srgbClr val="172A3A"/>
                </a:solidFill>
                <a:latin typeface="Arial"/>
                <a:ea typeface="Arial"/>
                <a:cs typeface="Arial"/>
              </a:defRPr>
            </a:lvl9pPr>
          </a:lstStyle>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Whitening helps some tasks, but hurts both real multichannel tasks tested here.</a:t>
            </a:r>
          </a:p>
        </p:txBody>
      </p:sp>
      <p:sp>
        <p:nvSpPr>
          <p:cNvPr id="6" name="">
            <a:extLst xmlns:a="http://schemas.openxmlformats.org/drawingml/2006/main">
              <a:ext uri="{FF2B5EF4-FFF2-40B4-BE49-F238E27FC236}">
                <a16:creationId xmlns:a16="http://schemas.microsoft.com/office/drawing/2014/main" id="{D1FAEA18-C3F5-4464-8D37-5CCC718F4C2F}"/>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43596C"/>
                </a:solidFill>
                <a:latin typeface="Arial"/>
                <a:ea typeface="Arial"/>
                <a:cs typeface="Arial"/>
              </a:defRPr>
            </a:defPPr>
            <a:lvl1pPr>
              <a:defRPr sz="1875" b="0">
                <a:solidFill>
                  <a:srgbClr val="43596C"/>
                </a:solidFill>
                <a:latin typeface="Arial"/>
                <a:ea typeface="Arial"/>
                <a:cs typeface="Arial"/>
              </a:defRPr>
            </a:lvl1pPr>
            <a:lvl2pPr>
              <a:defRPr sz="1875" b="0">
                <a:solidFill>
                  <a:srgbClr val="43596C"/>
                </a:solidFill>
                <a:latin typeface="Arial"/>
                <a:ea typeface="Arial"/>
                <a:cs typeface="Arial"/>
              </a:defRPr>
            </a:lvl2pPr>
            <a:lvl3pPr>
              <a:defRPr sz="1875" b="0">
                <a:solidFill>
                  <a:srgbClr val="43596C"/>
                </a:solidFill>
                <a:latin typeface="Arial"/>
                <a:ea typeface="Arial"/>
                <a:cs typeface="Arial"/>
              </a:defRPr>
            </a:lvl3pPr>
            <a:lvl4pPr>
              <a:defRPr sz="1875" b="0">
                <a:solidFill>
                  <a:srgbClr val="43596C"/>
                </a:solidFill>
                <a:latin typeface="Arial"/>
                <a:ea typeface="Arial"/>
                <a:cs typeface="Arial"/>
              </a:defRPr>
            </a:lvl4pPr>
            <a:lvl5pPr>
              <a:defRPr sz="1875" b="0">
                <a:solidFill>
                  <a:srgbClr val="43596C"/>
                </a:solidFill>
                <a:latin typeface="Arial"/>
                <a:ea typeface="Arial"/>
                <a:cs typeface="Arial"/>
              </a:defRPr>
            </a:lvl5pPr>
            <a:lvl6pPr>
              <a:defRPr sz="1875" b="0">
                <a:solidFill>
                  <a:srgbClr val="43596C"/>
                </a:solidFill>
                <a:latin typeface="Arial"/>
                <a:ea typeface="Arial"/>
                <a:cs typeface="Arial"/>
              </a:defRPr>
            </a:lvl6pPr>
            <a:lvl7pPr>
              <a:defRPr sz="1875" b="0">
                <a:solidFill>
                  <a:srgbClr val="43596C"/>
                </a:solidFill>
                <a:latin typeface="Arial"/>
                <a:ea typeface="Arial"/>
                <a:cs typeface="Arial"/>
              </a:defRPr>
            </a:lvl7pPr>
            <a:lvl8pPr>
              <a:defRPr sz="1875" b="0">
                <a:solidFill>
                  <a:srgbClr val="43596C"/>
                </a:solidFill>
                <a:latin typeface="Arial"/>
                <a:ea typeface="Arial"/>
                <a:cs typeface="Arial"/>
              </a:defRPr>
            </a:lvl8pPr>
            <a:lvl9pPr>
              <a:defRPr sz="1875" b="0">
                <a:solidFill>
                  <a:srgbClr val="43596C"/>
                </a:solidFill>
                <a:latin typeface="Arial"/>
                <a:ea typeface="Arial"/>
                <a:cs typeface="Arial"/>
              </a:defRPr>
            </a:lvl9pPr>
          </a:lstStyle>
          <a:p xmlns:a="http://schemas.openxmlformats.org/drawingml/2006/main">
            <a:pPr>
              <a:defRPr sz="1875" b="0">
                <a:solidFill>
                  <a:srgbClr val="43596C"/>
                </a:solidFill>
                <a:latin typeface="Arial"/>
                <a:ea typeface="Arial"/>
                <a:cs typeface="Arial"/>
              </a:defRPr>
            </a:pPr>
            <a:r>
              <a:rPr sz="1875" b="0">
                <a:solidFill>
                  <a:srgbClr val="43596C"/>
                </a:solidFill>
                <a:latin typeface="Arial"/>
                <a:ea typeface="Arial"/>
                <a:cs typeface="Arial"/>
              </a:rPr>
              <a:t>Use a simple linear baseline too. These are conclusions from fixed-budget experiments.</a:t>
            </a:r>
          </a:p>
        </p:txBody>
      </p:sp>
      <p:sp>
        <p:nvSpPr>
          <p:cNvPr id="7" name="">
            <a:extLst xmlns:a="http://schemas.openxmlformats.org/drawingml/2006/main">
              <a:ext uri="{FF2B5EF4-FFF2-40B4-BE49-F238E27FC236}">
                <a16:creationId xmlns:a16="http://schemas.microsoft.com/office/drawing/2014/main" id="{47224A34-B383-4F85-ACD6-6A4F070E46AA}"/>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13</a:t>
            </a:r>
          </a:p>
        </p:txBody>
      </p:sp>
    </p:spTree>
    <p:extLst>
      <p:ext uri="{BB962C8B-B14F-4D97-AF65-F5344CB8AC3E}">
        <p14:creationId xmlns:p14="http://schemas.microsoft.com/office/powerpoint/2010/main" val="11686295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483E953-F8D6-4134-A76B-C7A87C085CE7}"/>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Team contributions</a:t>
            </a:r>
          </a:p>
        </p:txBody>
      </p:sp>
      <p:graphicFrame>
        <p:nvGraphicFramePr>
          <p:cNvPr id="2" name="">
            <a:extLst xmlns:a="http://schemas.openxmlformats.org/drawingml/2006/main">
              <a:ext uri="{FF2B5EF4-FFF2-40B4-BE49-F238E27FC236}">
                <a16:creationId xmlns:a16="http://schemas.microsoft.com/office/drawing/2014/main" id="{E0D8865C-21E7-46B8-A38A-A39FDA795D63}"/>
              </a:ext>
            </a:extLst>
          </p:cNvPr>
          <p:cNvGraphicFramePr/>
          <p:nvPr/>
        </p:nvGraphicFramePr>
        <p:xfrm>
          <a:off xmlns:a="http://schemas.openxmlformats.org/drawingml/2006/main" x="685800" y="1676400"/>
          <a:ext xmlns:a="http://schemas.openxmlformats.org/drawingml/2006/main" cx="10820400" cy="3333750"/>
        </p:xfrm>
        <a:graphic xmlns:a="http://schemas.openxmlformats.org/drawingml/2006/main">
          <a:graphicData uri="http://schemas.openxmlformats.org/drawingml/2006/table">
            <a:tbl>
              <a:tblPr firstRow="1" bandRow="0"/>
              <a:tblGrid>
                <a:gridCol w="2952750"/>
                <a:gridCol w="7867650"/>
              </a:tblGrid>
              <a:tr h="666750">
                <a:tc>
                  <a:txBody>
                    <a:bodyPr/>
                    <a:lstStyle/>
                    <a:p>
                      <a:r>
                        <a:rPr sz="1800" b="1">
                          <a:solidFill>
                            <a:srgbClr val="172A3A"/>
                          </a:solidFill>
                          <a:latin typeface="Arial"/>
                          <a:ea typeface="Arial"/>
                          <a:cs typeface="Arial"/>
                        </a:rPr>
                        <a:t>Team member</a:t>
                      </a:r>
                    </a:p>
                  </a:txBody>
                  <a:tcPr marL="91440" marR="91440" marT="45720" marB="45720">
                    <a:lnL w="9525">
                      <a:solidFill>
                        <a:srgbClr val="D5E0E8"/>
                      </a:solidFill>
                      <a:prstDash val="solid"/>
                    </a:lnL>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800" b="1">
                          <a:solidFill>
                            <a:srgbClr val="172A3A"/>
                          </a:solidFill>
                          <a:latin typeface="Arial"/>
                          <a:ea typeface="Arial"/>
                          <a:cs typeface="Arial"/>
                        </a:rPr>
                        <a:t>Contribution</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r>
              <a:tr h="666750">
                <a:tc>
                  <a:txBody>
                    <a:bodyPr/>
                    <a:lstStyle/>
                    <a:p>
                      <a:r>
                        <a:rPr sz="1800" b="0">
                          <a:solidFill>
                            <a:srgbClr val="172A3A"/>
                          </a:solidFill>
                          <a:latin typeface="Arial"/>
                          <a:ea typeface="Arial"/>
                          <a:cs typeface="Arial"/>
                        </a:rPr>
                        <a:t>Egor Serov</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MLP and training pipeline; controlled comparisons; decoder width and capacity.</a:t>
                      </a:r>
                    </a:p>
                  </a:txBody>
                  <a:tcPr marL="91440" marR="91440" marT="45720" marB="45720">
                    <a:lnR w="9525">
                      <a:solidFill>
                        <a:srgbClr val="D5E0E8"/>
                      </a:solidFill>
                      <a:prstDash val="solid"/>
                    </a:lnR>
                    <a:lnB w="9525">
                      <a:solidFill>
                        <a:srgbClr val="D5E0E8"/>
                      </a:solidFill>
                      <a:prstDash val="solid"/>
                    </a:lnB>
                    <a:solidFill>
                      <a:srgbClr val="FFFFFF"/>
                    </a:solidFill>
                  </a:tcPr>
                </a:tc>
              </a:tr>
              <a:tr h="666750">
                <a:tc>
                  <a:txBody>
                    <a:bodyPr/>
                    <a:lstStyle/>
                    <a:p>
                      <a:r>
                        <a:rPr sz="1800" b="0">
                          <a:solidFill>
                            <a:srgbClr val="172A3A"/>
                          </a:solidFill>
                          <a:latin typeface="Arial"/>
                          <a:ea typeface="Arial"/>
                          <a:cs typeface="Arial"/>
                        </a:rPr>
                        <a:t>Kirill Frolov</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Data and PCA; R2 / Variogram Score; forecast checks and final synthesis.</a:t>
                      </a:r>
                    </a:p>
                  </a:txBody>
                  <a:tcPr marL="91440" marR="91440" marT="45720" marB="45720">
                    <a:lnR w="9525">
                      <a:solidFill>
                        <a:srgbClr val="D5E0E8"/>
                      </a:solidFill>
                      <a:prstDash val="solid"/>
                    </a:lnR>
                    <a:lnB w="9525">
                      <a:solidFill>
                        <a:srgbClr val="D5E0E8"/>
                      </a:solidFill>
                      <a:prstDash val="solid"/>
                    </a:lnB>
                    <a:solidFill>
                      <a:srgbClr val="FFFFFF"/>
                    </a:solidFill>
                  </a:tcPr>
                </a:tc>
              </a:tr>
              <a:tr h="666750">
                <a:tc>
                  <a:txBody>
                    <a:bodyPr/>
                    <a:lstStyle/>
                    <a:p>
                      <a:r>
                        <a:rPr sz="1800" b="0">
                          <a:solidFill>
                            <a:srgbClr val="172A3A"/>
                          </a:solidFill>
                          <a:latin typeface="Arial"/>
                          <a:ea typeface="Arial"/>
                          <a:cs typeface="Arial"/>
                        </a:rPr>
                        <a:t>Daniil Koblov</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S4 and structured heads; joint multichannel forecasting; transfer to real data.</a:t>
                      </a:r>
                    </a:p>
                  </a:txBody>
                  <a:tcPr marL="91440" marR="91440" marT="45720" marB="45720">
                    <a:lnR w="9525">
                      <a:solidFill>
                        <a:srgbClr val="D5E0E8"/>
                      </a:solidFill>
                      <a:prstDash val="solid"/>
                    </a:lnR>
                    <a:lnB w="9525">
                      <a:solidFill>
                        <a:srgbClr val="D5E0E8"/>
                      </a:solidFill>
                      <a:prstDash val="solid"/>
                    </a:lnB>
                    <a:solidFill>
                      <a:srgbClr val="FFFFFF"/>
                    </a:solidFill>
                  </a:tcPr>
                </a:tc>
              </a:tr>
              <a:tr h="666750">
                <a:tc>
                  <a:txBody>
                    <a:bodyPr/>
                    <a:lstStyle/>
                    <a:p>
                      <a:r>
                        <a:rPr sz="1800" b="0">
                          <a:solidFill>
                            <a:srgbClr val="172A3A"/>
                          </a:solidFill>
                          <a:latin typeface="Arial"/>
                          <a:ea typeface="Arial"/>
                          <a:cs typeface="Arial"/>
                        </a:rPr>
                        <a:t>Vasilii Lyamin</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Whitening and normalization; Jacobian / kernel diagnostics; interpretation and plots.</a:t>
                      </a:r>
                    </a:p>
                  </a:txBody>
                  <a:tcPr marL="91440" marR="91440" marT="45720" marB="45720">
                    <a:lnR w="9525">
                      <a:solidFill>
                        <a:srgbClr val="D5E0E8"/>
                      </a:solidFill>
                      <a:prstDash val="solid"/>
                    </a:lnR>
                    <a:lnB w="9525">
                      <a:solidFill>
                        <a:srgbClr val="D5E0E8"/>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76FE3E9-7791-4672-8FE2-BF75F677FF55}"/>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43596C"/>
                </a:solidFill>
                <a:latin typeface="Arial"/>
                <a:ea typeface="Arial"/>
                <a:cs typeface="Arial"/>
              </a:defRPr>
            </a:defPPr>
            <a:lvl1pPr>
              <a:defRPr sz="1650" b="0">
                <a:solidFill>
                  <a:srgbClr val="43596C"/>
                </a:solidFill>
                <a:latin typeface="Arial"/>
                <a:ea typeface="Arial"/>
                <a:cs typeface="Arial"/>
              </a:defRPr>
            </a:lvl1pPr>
            <a:lvl2pPr>
              <a:defRPr sz="1650" b="0">
                <a:solidFill>
                  <a:srgbClr val="43596C"/>
                </a:solidFill>
                <a:latin typeface="Arial"/>
                <a:ea typeface="Arial"/>
                <a:cs typeface="Arial"/>
              </a:defRPr>
            </a:lvl2pPr>
            <a:lvl3pPr>
              <a:defRPr sz="1650" b="0">
                <a:solidFill>
                  <a:srgbClr val="43596C"/>
                </a:solidFill>
                <a:latin typeface="Arial"/>
                <a:ea typeface="Arial"/>
                <a:cs typeface="Arial"/>
              </a:defRPr>
            </a:lvl3pPr>
            <a:lvl4pPr>
              <a:defRPr sz="1650" b="0">
                <a:solidFill>
                  <a:srgbClr val="43596C"/>
                </a:solidFill>
                <a:latin typeface="Arial"/>
                <a:ea typeface="Arial"/>
                <a:cs typeface="Arial"/>
              </a:defRPr>
            </a:lvl4pPr>
            <a:lvl5pPr>
              <a:defRPr sz="1650" b="0">
                <a:solidFill>
                  <a:srgbClr val="43596C"/>
                </a:solidFill>
                <a:latin typeface="Arial"/>
                <a:ea typeface="Arial"/>
                <a:cs typeface="Arial"/>
              </a:defRPr>
            </a:lvl5pPr>
            <a:lvl6pPr>
              <a:defRPr sz="1650" b="0">
                <a:solidFill>
                  <a:srgbClr val="43596C"/>
                </a:solidFill>
                <a:latin typeface="Arial"/>
                <a:ea typeface="Arial"/>
                <a:cs typeface="Arial"/>
              </a:defRPr>
            </a:lvl6pPr>
            <a:lvl7pPr>
              <a:defRPr sz="1650" b="0">
                <a:solidFill>
                  <a:srgbClr val="43596C"/>
                </a:solidFill>
                <a:latin typeface="Arial"/>
                <a:ea typeface="Arial"/>
                <a:cs typeface="Arial"/>
              </a:defRPr>
            </a:lvl7pPr>
            <a:lvl8pPr>
              <a:defRPr sz="1650" b="0">
                <a:solidFill>
                  <a:srgbClr val="43596C"/>
                </a:solidFill>
                <a:latin typeface="Arial"/>
                <a:ea typeface="Arial"/>
                <a:cs typeface="Arial"/>
              </a:defRPr>
            </a:lvl8pPr>
            <a:lvl9pPr>
              <a:defRPr sz="1650" b="0">
                <a:solidFill>
                  <a:srgbClr val="43596C"/>
                </a:solidFill>
                <a:latin typeface="Arial"/>
                <a:ea typeface="Arial"/>
                <a:cs typeface="Arial"/>
              </a:defRPr>
            </a:lvl9pPr>
          </a:lstStyle>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Jacobian: velocity sensitivity to the current curve. Kernel: GP covariance function.</a:t>
            </a:r>
          </a:p>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AI assisted implementation, analysis and writing; the authors remain responsible.</a:t>
            </a:r>
          </a:p>
        </p:txBody>
      </p:sp>
      <p:sp>
        <p:nvSpPr>
          <p:cNvPr id="4" name="">
            <a:extLst xmlns:a="http://schemas.openxmlformats.org/drawingml/2006/main">
              <a:ext uri="{FF2B5EF4-FFF2-40B4-BE49-F238E27FC236}">
                <a16:creationId xmlns:a16="http://schemas.microsoft.com/office/drawing/2014/main" id="{1DAF1F5A-D089-41B1-8B24-D3FE84FF2432}"/>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14</a:t>
            </a:r>
          </a:p>
        </p:txBody>
      </p:sp>
    </p:spTree>
    <p:extLst>
      <p:ext uri="{BB962C8B-B14F-4D97-AF65-F5344CB8AC3E}">
        <p14:creationId xmlns:p14="http://schemas.microsoft.com/office/powerpoint/2010/main" val="12893540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0447B6-3254-4F07-AB53-A37E41781A73}"/>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Backup: the literal success rule</a:t>
            </a:r>
          </a:p>
        </p:txBody>
      </p:sp>
      <p:sp>
        <p:nvSpPr>
          <p:cNvPr id="2" name="">
            <a:extLst xmlns:a="http://schemas.openxmlformats.org/drawingml/2006/main">
              <a:ext uri="{FF2B5EF4-FFF2-40B4-BE49-F238E27FC236}">
                <a16:creationId xmlns:a16="http://schemas.microsoft.com/office/drawing/2014/main" id="{E7C8A654-880B-4C28-A066-798B57747278}"/>
              </a:ext>
            </a:extLst>
          </p:cNvPr>
          <p:cNvSpPr>
            <a:spLocks xmlns:a="http://schemas.openxmlformats.org/drawingml/2006/main" noGrp="1"/>
          </p:cNvSpPr>
          <p:nvPr/>
        </p:nvSpPr>
        <p:spPr>
          <a:xfrm xmlns:a="http://schemas.openxmlformats.org/drawingml/2006/main">
            <a:off x="742950" y="1714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A3A"/>
                </a:solidFill>
                <a:latin typeface="Arial"/>
                <a:ea typeface="Arial"/>
                <a:cs typeface="Arial"/>
              </a:defRPr>
            </a:defPPr>
            <a:lvl1pPr>
              <a:defRPr sz="2175" b="0">
                <a:solidFill>
                  <a:srgbClr val="172A3A"/>
                </a:solidFill>
                <a:latin typeface="Arial"/>
                <a:ea typeface="Arial"/>
                <a:cs typeface="Arial"/>
              </a:defRPr>
            </a:lvl1pPr>
            <a:lvl2pPr>
              <a:defRPr sz="2175" b="0">
                <a:solidFill>
                  <a:srgbClr val="172A3A"/>
                </a:solidFill>
                <a:latin typeface="Arial"/>
                <a:ea typeface="Arial"/>
                <a:cs typeface="Arial"/>
              </a:defRPr>
            </a:lvl2pPr>
            <a:lvl3pPr>
              <a:defRPr sz="2175" b="0">
                <a:solidFill>
                  <a:srgbClr val="172A3A"/>
                </a:solidFill>
                <a:latin typeface="Arial"/>
                <a:ea typeface="Arial"/>
                <a:cs typeface="Arial"/>
              </a:defRPr>
            </a:lvl3pPr>
            <a:lvl4pPr>
              <a:defRPr sz="2175" b="0">
                <a:solidFill>
                  <a:srgbClr val="172A3A"/>
                </a:solidFill>
                <a:latin typeface="Arial"/>
                <a:ea typeface="Arial"/>
                <a:cs typeface="Arial"/>
              </a:defRPr>
            </a:lvl4pPr>
            <a:lvl5pPr>
              <a:defRPr sz="2175" b="0">
                <a:solidFill>
                  <a:srgbClr val="172A3A"/>
                </a:solidFill>
                <a:latin typeface="Arial"/>
                <a:ea typeface="Arial"/>
                <a:cs typeface="Arial"/>
              </a:defRPr>
            </a:lvl5pPr>
            <a:lvl6pPr>
              <a:defRPr sz="2175" b="0">
                <a:solidFill>
                  <a:srgbClr val="172A3A"/>
                </a:solidFill>
                <a:latin typeface="Arial"/>
                <a:ea typeface="Arial"/>
                <a:cs typeface="Arial"/>
              </a:defRPr>
            </a:lvl6pPr>
            <a:lvl7pPr>
              <a:defRPr sz="2175" b="0">
                <a:solidFill>
                  <a:srgbClr val="172A3A"/>
                </a:solidFill>
                <a:latin typeface="Arial"/>
                <a:ea typeface="Arial"/>
                <a:cs typeface="Arial"/>
              </a:defRPr>
            </a:lvl7pPr>
            <a:lvl8pPr>
              <a:defRPr sz="2175" b="0">
                <a:solidFill>
                  <a:srgbClr val="172A3A"/>
                </a:solidFill>
                <a:latin typeface="Arial"/>
                <a:ea typeface="Arial"/>
                <a:cs typeface="Arial"/>
              </a:defRPr>
            </a:lvl8pPr>
            <a:lvl9pPr>
              <a:defRPr sz="2175" b="0">
                <a:solidFill>
                  <a:srgbClr val="172A3A"/>
                </a:solidFill>
                <a:latin typeface="Arial"/>
                <a:ea typeface="Arial"/>
                <a:cs typeface="Arial"/>
              </a:defRPr>
            </a:lvl9pPr>
          </a:lstStyle>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Original rule: mean MSE(PC3–16) / MSE(PC1) must lie in [0.8, 1.2].</a:t>
            </a:r>
          </a:p>
        </p:txBody>
      </p:sp>
      <p:sp>
        <p:nvSpPr>
          <p:cNvPr id="3" name="">
            <a:extLst xmlns:a="http://schemas.openxmlformats.org/drawingml/2006/main">
              <a:ext uri="{FF2B5EF4-FFF2-40B4-BE49-F238E27FC236}">
                <a16:creationId xmlns:a16="http://schemas.microsoft.com/office/drawing/2014/main" id="{200D475F-9A3C-4972-A312-1F478F68F77A}"/>
              </a:ext>
            </a:extLst>
          </p:cNvPr>
          <p:cNvSpPr>
            <a:spLocks xmlns:a="http://schemas.openxmlformats.org/drawingml/2006/main" noGrp="1"/>
          </p:cNvSpPr>
          <p:nvPr/>
        </p:nvSpPr>
        <p:spPr>
          <a:xfrm xmlns:a="http://schemas.openxmlformats.org/drawingml/2006/main">
            <a:off x="742950" y="26670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A3A"/>
                </a:solidFill>
                <a:latin typeface="Arial"/>
                <a:ea typeface="Arial"/>
                <a:cs typeface="Arial"/>
              </a:defRPr>
            </a:defPPr>
            <a:lvl1pPr>
              <a:defRPr sz="2175" b="0">
                <a:solidFill>
                  <a:srgbClr val="172A3A"/>
                </a:solidFill>
                <a:latin typeface="Arial"/>
                <a:ea typeface="Arial"/>
                <a:cs typeface="Arial"/>
              </a:defRPr>
            </a:lvl1pPr>
            <a:lvl2pPr>
              <a:defRPr sz="2175" b="0">
                <a:solidFill>
                  <a:srgbClr val="172A3A"/>
                </a:solidFill>
                <a:latin typeface="Arial"/>
                <a:ea typeface="Arial"/>
                <a:cs typeface="Arial"/>
              </a:defRPr>
            </a:lvl2pPr>
            <a:lvl3pPr>
              <a:defRPr sz="2175" b="0">
                <a:solidFill>
                  <a:srgbClr val="172A3A"/>
                </a:solidFill>
                <a:latin typeface="Arial"/>
                <a:ea typeface="Arial"/>
                <a:cs typeface="Arial"/>
              </a:defRPr>
            </a:lvl3pPr>
            <a:lvl4pPr>
              <a:defRPr sz="2175" b="0">
                <a:solidFill>
                  <a:srgbClr val="172A3A"/>
                </a:solidFill>
                <a:latin typeface="Arial"/>
                <a:ea typeface="Arial"/>
                <a:cs typeface="Arial"/>
              </a:defRPr>
            </a:lvl4pPr>
            <a:lvl5pPr>
              <a:defRPr sz="2175" b="0">
                <a:solidFill>
                  <a:srgbClr val="172A3A"/>
                </a:solidFill>
                <a:latin typeface="Arial"/>
                <a:ea typeface="Arial"/>
                <a:cs typeface="Arial"/>
              </a:defRPr>
            </a:lvl5pPr>
            <a:lvl6pPr>
              <a:defRPr sz="2175" b="0">
                <a:solidFill>
                  <a:srgbClr val="172A3A"/>
                </a:solidFill>
                <a:latin typeface="Arial"/>
                <a:ea typeface="Arial"/>
                <a:cs typeface="Arial"/>
              </a:defRPr>
            </a:lvl6pPr>
            <a:lvl7pPr>
              <a:defRPr sz="2175" b="0">
                <a:solidFill>
                  <a:srgbClr val="172A3A"/>
                </a:solidFill>
                <a:latin typeface="Arial"/>
                <a:ea typeface="Arial"/>
                <a:cs typeface="Arial"/>
              </a:defRPr>
            </a:lvl7pPr>
            <a:lvl8pPr>
              <a:defRPr sz="2175" b="0">
                <a:solidFill>
                  <a:srgbClr val="172A3A"/>
                </a:solidFill>
                <a:latin typeface="Arial"/>
                <a:ea typeface="Arial"/>
                <a:cs typeface="Arial"/>
              </a:defRPr>
            </a:lvl8pPr>
            <a:lvl9pPr>
              <a:defRPr sz="2175" b="0">
                <a:solidFill>
                  <a:srgbClr val="172A3A"/>
                </a:solidFill>
                <a:latin typeface="Arial"/>
                <a:ea typeface="Arial"/>
                <a:cs typeface="Arial"/>
              </a:defRPr>
            </a:lvl9pPr>
          </a:lstStyle>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Generated R1 / target R1 must also lie in [0.8, 1.2].</a:t>
            </a:r>
          </a:p>
        </p:txBody>
      </p:sp>
      <p:sp>
        <p:nvSpPr>
          <p:cNvPr id="4" name="">
            <a:extLst xmlns:a="http://schemas.openxmlformats.org/drawingml/2006/main">
              <a:ext uri="{FF2B5EF4-FFF2-40B4-BE49-F238E27FC236}">
                <a16:creationId xmlns:a16="http://schemas.microsoft.com/office/drawing/2014/main" id="{DDDBB71E-5750-49FF-A37C-96FAB1A28A47}"/>
              </a:ext>
            </a:extLst>
          </p:cNvPr>
          <p:cNvSpPr>
            <a:spLocks xmlns:a="http://schemas.openxmlformats.org/drawingml/2006/main" noGrp="1"/>
          </p:cNvSpPr>
          <p:nvPr/>
        </p:nvSpPr>
        <p:spPr>
          <a:xfrm xmlns:a="http://schemas.openxmlformats.org/drawingml/2006/main">
            <a:off x="742950" y="3619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A3A"/>
                </a:solidFill>
                <a:latin typeface="Arial"/>
                <a:ea typeface="Arial"/>
                <a:cs typeface="Arial"/>
              </a:defRPr>
            </a:defPPr>
            <a:lvl1pPr>
              <a:defRPr sz="2175" b="0">
                <a:solidFill>
                  <a:srgbClr val="172A3A"/>
                </a:solidFill>
                <a:latin typeface="Arial"/>
                <a:ea typeface="Arial"/>
                <a:cs typeface="Arial"/>
              </a:defRPr>
            </a:lvl1pPr>
            <a:lvl2pPr>
              <a:defRPr sz="2175" b="0">
                <a:solidFill>
                  <a:srgbClr val="172A3A"/>
                </a:solidFill>
                <a:latin typeface="Arial"/>
                <a:ea typeface="Arial"/>
                <a:cs typeface="Arial"/>
              </a:defRPr>
            </a:lvl2pPr>
            <a:lvl3pPr>
              <a:defRPr sz="2175" b="0">
                <a:solidFill>
                  <a:srgbClr val="172A3A"/>
                </a:solidFill>
                <a:latin typeface="Arial"/>
                <a:ea typeface="Arial"/>
                <a:cs typeface="Arial"/>
              </a:defRPr>
            </a:lvl3pPr>
            <a:lvl4pPr>
              <a:defRPr sz="2175" b="0">
                <a:solidFill>
                  <a:srgbClr val="172A3A"/>
                </a:solidFill>
                <a:latin typeface="Arial"/>
                <a:ea typeface="Arial"/>
                <a:cs typeface="Arial"/>
              </a:defRPr>
            </a:lvl4pPr>
            <a:lvl5pPr>
              <a:defRPr sz="2175" b="0">
                <a:solidFill>
                  <a:srgbClr val="172A3A"/>
                </a:solidFill>
                <a:latin typeface="Arial"/>
                <a:ea typeface="Arial"/>
                <a:cs typeface="Arial"/>
              </a:defRPr>
            </a:lvl5pPr>
            <a:lvl6pPr>
              <a:defRPr sz="2175" b="0">
                <a:solidFill>
                  <a:srgbClr val="172A3A"/>
                </a:solidFill>
                <a:latin typeface="Arial"/>
                <a:ea typeface="Arial"/>
                <a:cs typeface="Arial"/>
              </a:defRPr>
            </a:lvl6pPr>
            <a:lvl7pPr>
              <a:defRPr sz="2175" b="0">
                <a:solidFill>
                  <a:srgbClr val="172A3A"/>
                </a:solidFill>
                <a:latin typeface="Arial"/>
                <a:ea typeface="Arial"/>
                <a:cs typeface="Arial"/>
              </a:defRPr>
            </a:lvl7pPr>
            <a:lvl8pPr>
              <a:defRPr sz="2175" b="0">
                <a:solidFill>
                  <a:srgbClr val="172A3A"/>
                </a:solidFill>
                <a:latin typeface="Arial"/>
                <a:ea typeface="Arial"/>
                <a:cs typeface="Arial"/>
              </a:defRPr>
            </a:lvl8pPr>
            <a:lvl9pPr>
              <a:defRPr sz="2175" b="0">
                <a:solidFill>
                  <a:srgbClr val="172A3A"/>
                </a:solidFill>
                <a:latin typeface="Arial"/>
                <a:ea typeface="Arial"/>
                <a:cs typeface="Arial"/>
              </a:defRPr>
            </a:lvl9pPr>
          </a:lstStyle>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All 25 runs pass the roughness part; 0 / 25 pass the full rule.</a:t>
            </a:r>
          </a:p>
        </p:txBody>
      </p:sp>
      <p:sp>
        <p:nvSpPr>
          <p:cNvPr id="5" name="">
            <a:extLst xmlns:a="http://schemas.openxmlformats.org/drawingml/2006/main">
              <a:ext uri="{FF2B5EF4-FFF2-40B4-BE49-F238E27FC236}">
                <a16:creationId xmlns:a16="http://schemas.microsoft.com/office/drawing/2014/main" id="{9F426E2B-729B-4210-AD6F-10CC54B0000C}"/>
              </a:ext>
            </a:extLst>
          </p:cNvPr>
          <p:cNvSpPr>
            <a:spLocks xmlns:a="http://schemas.openxmlformats.org/drawingml/2006/main" noGrp="1"/>
          </p:cNvSpPr>
          <p:nvPr/>
        </p:nvSpPr>
        <p:spPr>
          <a:xfrm xmlns:a="http://schemas.openxmlformats.org/drawingml/2006/main">
            <a:off x="742950" y="45720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72A3A"/>
                </a:solidFill>
                <a:latin typeface="Arial"/>
                <a:ea typeface="Arial"/>
                <a:cs typeface="Arial"/>
              </a:defRPr>
            </a:defPPr>
            <a:lvl1pPr>
              <a:defRPr sz="2175" b="0">
                <a:solidFill>
                  <a:srgbClr val="172A3A"/>
                </a:solidFill>
                <a:latin typeface="Arial"/>
                <a:ea typeface="Arial"/>
                <a:cs typeface="Arial"/>
              </a:defRPr>
            </a:lvl1pPr>
            <a:lvl2pPr>
              <a:defRPr sz="2175" b="0">
                <a:solidFill>
                  <a:srgbClr val="172A3A"/>
                </a:solidFill>
                <a:latin typeface="Arial"/>
                <a:ea typeface="Arial"/>
                <a:cs typeface="Arial"/>
              </a:defRPr>
            </a:lvl2pPr>
            <a:lvl3pPr>
              <a:defRPr sz="2175" b="0">
                <a:solidFill>
                  <a:srgbClr val="172A3A"/>
                </a:solidFill>
                <a:latin typeface="Arial"/>
                <a:ea typeface="Arial"/>
                <a:cs typeface="Arial"/>
              </a:defRPr>
            </a:lvl3pPr>
            <a:lvl4pPr>
              <a:defRPr sz="2175" b="0">
                <a:solidFill>
                  <a:srgbClr val="172A3A"/>
                </a:solidFill>
                <a:latin typeface="Arial"/>
                <a:ea typeface="Arial"/>
                <a:cs typeface="Arial"/>
              </a:defRPr>
            </a:lvl4pPr>
            <a:lvl5pPr>
              <a:defRPr sz="2175" b="0">
                <a:solidFill>
                  <a:srgbClr val="172A3A"/>
                </a:solidFill>
                <a:latin typeface="Arial"/>
                <a:ea typeface="Arial"/>
                <a:cs typeface="Arial"/>
              </a:defRPr>
            </a:lvl5pPr>
            <a:lvl6pPr>
              <a:defRPr sz="2175" b="0">
                <a:solidFill>
                  <a:srgbClr val="172A3A"/>
                </a:solidFill>
                <a:latin typeface="Arial"/>
                <a:ea typeface="Arial"/>
                <a:cs typeface="Arial"/>
              </a:defRPr>
            </a:lvl6pPr>
            <a:lvl7pPr>
              <a:defRPr sz="2175" b="0">
                <a:solidFill>
                  <a:srgbClr val="172A3A"/>
                </a:solidFill>
                <a:latin typeface="Arial"/>
                <a:ea typeface="Arial"/>
                <a:cs typeface="Arial"/>
              </a:defRPr>
            </a:lvl7pPr>
            <a:lvl8pPr>
              <a:defRPr sz="2175" b="0">
                <a:solidFill>
                  <a:srgbClr val="172A3A"/>
                </a:solidFill>
                <a:latin typeface="Arial"/>
                <a:ea typeface="Arial"/>
                <a:cs typeface="Arial"/>
              </a:defRPr>
            </a:lvl8pPr>
            <a:lvl9pPr>
              <a:defRPr sz="2175" b="0">
                <a:solidFill>
                  <a:srgbClr val="172A3A"/>
                </a:solidFill>
                <a:latin typeface="Arial"/>
                <a:ea typeface="Arial"/>
                <a:cs typeface="Arial"/>
              </a:defRPr>
            </a:lvl9pPr>
          </a:lstStyle>
          <a:p xmlns:a="http://schemas.openxmlformats.org/drawingml/2006/main">
            <a:pPr>
              <a:defRPr sz="2175" b="0">
                <a:solidFill>
                  <a:srgbClr val="172A3A"/>
                </a:solidFill>
                <a:latin typeface="Arial"/>
                <a:ea typeface="Arial"/>
                <a:cs typeface="Arial"/>
              </a:defRPr>
            </a:pPr>
            <a:r>
              <a:rPr sz="2175" b="0">
                <a:solidFill>
                  <a:srgbClr val="172A3A"/>
                </a:solidFill>
                <a:latin typeface="Arial"/>
                <a:ea typeface="Arial"/>
                <a:cs typeface="Arial"/>
              </a:rPr>
              <a:t>Earlier analytic reference also fails: it knows the generating law and the full raw history.</a:t>
            </a:r>
          </a:p>
        </p:txBody>
      </p:sp>
      <p:sp>
        <p:nvSpPr>
          <p:cNvPr id="6" name="">
            <a:extLst xmlns:a="http://schemas.openxmlformats.org/drawingml/2006/main">
              <a:ext uri="{FF2B5EF4-FFF2-40B4-BE49-F238E27FC236}">
                <a16:creationId xmlns:a16="http://schemas.microsoft.com/office/drawing/2014/main" id="{EB3FC318-B682-401F-8CB9-97AFB9620CD0}"/>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43596C"/>
                </a:solidFill>
                <a:latin typeface="Arial"/>
                <a:ea typeface="Arial"/>
                <a:cs typeface="Arial"/>
              </a:defRPr>
            </a:defPPr>
            <a:lvl1pPr>
              <a:defRPr sz="1875" b="0">
                <a:solidFill>
                  <a:srgbClr val="43596C"/>
                </a:solidFill>
                <a:latin typeface="Arial"/>
                <a:ea typeface="Arial"/>
                <a:cs typeface="Arial"/>
              </a:defRPr>
            </a:lvl1pPr>
            <a:lvl2pPr>
              <a:defRPr sz="1875" b="0">
                <a:solidFill>
                  <a:srgbClr val="43596C"/>
                </a:solidFill>
                <a:latin typeface="Arial"/>
                <a:ea typeface="Arial"/>
                <a:cs typeface="Arial"/>
              </a:defRPr>
            </a:lvl2pPr>
            <a:lvl3pPr>
              <a:defRPr sz="1875" b="0">
                <a:solidFill>
                  <a:srgbClr val="43596C"/>
                </a:solidFill>
                <a:latin typeface="Arial"/>
                <a:ea typeface="Arial"/>
                <a:cs typeface="Arial"/>
              </a:defRPr>
            </a:lvl3pPr>
            <a:lvl4pPr>
              <a:defRPr sz="1875" b="0">
                <a:solidFill>
                  <a:srgbClr val="43596C"/>
                </a:solidFill>
                <a:latin typeface="Arial"/>
                <a:ea typeface="Arial"/>
                <a:cs typeface="Arial"/>
              </a:defRPr>
            </a:lvl4pPr>
            <a:lvl5pPr>
              <a:defRPr sz="1875" b="0">
                <a:solidFill>
                  <a:srgbClr val="43596C"/>
                </a:solidFill>
                <a:latin typeface="Arial"/>
                <a:ea typeface="Arial"/>
                <a:cs typeface="Arial"/>
              </a:defRPr>
            </a:lvl5pPr>
            <a:lvl6pPr>
              <a:defRPr sz="1875" b="0">
                <a:solidFill>
                  <a:srgbClr val="43596C"/>
                </a:solidFill>
                <a:latin typeface="Arial"/>
                <a:ea typeface="Arial"/>
                <a:cs typeface="Arial"/>
              </a:defRPr>
            </a:lvl6pPr>
            <a:lvl7pPr>
              <a:defRPr sz="1875" b="0">
                <a:solidFill>
                  <a:srgbClr val="43596C"/>
                </a:solidFill>
                <a:latin typeface="Arial"/>
                <a:ea typeface="Arial"/>
                <a:cs typeface="Arial"/>
              </a:defRPr>
            </a:lvl7pPr>
            <a:lvl8pPr>
              <a:defRPr sz="1875" b="0">
                <a:solidFill>
                  <a:srgbClr val="43596C"/>
                </a:solidFill>
                <a:latin typeface="Arial"/>
                <a:ea typeface="Arial"/>
                <a:cs typeface="Arial"/>
              </a:defRPr>
            </a:lvl8pPr>
            <a:lvl9pPr>
              <a:defRPr sz="1875" b="0">
                <a:solidFill>
                  <a:srgbClr val="43596C"/>
                </a:solidFill>
                <a:latin typeface="Arial"/>
                <a:ea typeface="Arial"/>
                <a:cs typeface="Arial"/>
              </a:defRPr>
            </a:lvl9pPr>
          </a:lstStyle>
          <a:p xmlns:a="http://schemas.openxmlformats.org/drawingml/2006/main">
            <a:pPr>
              <a:defRPr sz="1875" b="0">
                <a:solidFill>
                  <a:srgbClr val="43596C"/>
                </a:solidFill>
                <a:latin typeface="Arial"/>
                <a:ea typeface="Arial"/>
                <a:cs typeface="Arial"/>
              </a:defRPr>
            </a:pPr>
            <a:r>
              <a:rPr sz="1875" b="0">
                <a:solidFill>
                  <a:srgbClr val="43596C"/>
                </a:solidFill>
                <a:latin typeface="Arial"/>
                <a:ea typeface="Arial"/>
                <a:cs typeface="Arial"/>
              </a:rPr>
              <a:t>Keep the declared result. Diagnose why equality between unequal-variance directions is uninformative.</a:t>
            </a:r>
          </a:p>
        </p:txBody>
      </p:sp>
      <p:sp>
        <p:nvSpPr>
          <p:cNvPr id="7" name="">
            <a:extLst xmlns:a="http://schemas.openxmlformats.org/drawingml/2006/main">
              <a:ext uri="{FF2B5EF4-FFF2-40B4-BE49-F238E27FC236}">
                <a16:creationId xmlns:a16="http://schemas.microsoft.com/office/drawing/2014/main" id="{F973E031-5255-426B-886A-0D62EDC73796}"/>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15</a:t>
            </a:r>
          </a:p>
        </p:txBody>
      </p:sp>
    </p:spTree>
    <p:extLst>
      <p:ext uri="{BB962C8B-B14F-4D97-AF65-F5344CB8AC3E}">
        <p14:creationId xmlns:p14="http://schemas.microsoft.com/office/powerpoint/2010/main" val="20398028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D15A53-C998-4350-9105-189ABE67E2A5}"/>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Backup: velocity errors restricted to PC3–6</a:t>
            </a:r>
          </a:p>
        </p:txBody>
      </p:sp>
      <p:sp>
        <p:nvSpPr>
          <p:cNvPr id="2" name="">
            <a:extLst xmlns:a="http://schemas.openxmlformats.org/drawingml/2006/main">
              <a:ext uri="{FF2B5EF4-FFF2-40B4-BE49-F238E27FC236}">
                <a16:creationId xmlns:a16="http://schemas.microsoft.com/office/drawing/2014/main" id="{9D702184-D624-4A22-A57E-8DC9A4B481D6}"/>
              </a:ext>
            </a:extLst>
          </p:cNvPr>
          <p:cNvSpPr>
            <a:spLocks xmlns:a="http://schemas.openxmlformats.org/drawingml/2006/main" noGrp="1"/>
          </p:cNvSpPr>
          <p:nvPr/>
        </p:nvSpPr>
        <p:spPr>
          <a:xfrm xmlns:a="http://schemas.openxmlformats.org/drawingml/2006/main">
            <a:off x="723900" y="14287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43596C"/>
                </a:solidFill>
                <a:latin typeface="Arial"/>
                <a:ea typeface="Arial"/>
                <a:cs typeface="Arial"/>
              </a:defRPr>
            </a:defPPr>
            <a:lvl1pPr>
              <a:defRPr sz="1650" b="0">
                <a:solidFill>
                  <a:srgbClr val="43596C"/>
                </a:solidFill>
                <a:latin typeface="Arial"/>
                <a:ea typeface="Arial"/>
                <a:cs typeface="Arial"/>
              </a:defRPr>
            </a:lvl1pPr>
            <a:lvl2pPr>
              <a:defRPr sz="1650" b="0">
                <a:solidFill>
                  <a:srgbClr val="43596C"/>
                </a:solidFill>
                <a:latin typeface="Arial"/>
                <a:ea typeface="Arial"/>
                <a:cs typeface="Arial"/>
              </a:defRPr>
            </a:lvl2pPr>
            <a:lvl3pPr>
              <a:defRPr sz="1650" b="0">
                <a:solidFill>
                  <a:srgbClr val="43596C"/>
                </a:solidFill>
                <a:latin typeface="Arial"/>
                <a:ea typeface="Arial"/>
                <a:cs typeface="Arial"/>
              </a:defRPr>
            </a:lvl3pPr>
            <a:lvl4pPr>
              <a:defRPr sz="1650" b="0">
                <a:solidFill>
                  <a:srgbClr val="43596C"/>
                </a:solidFill>
                <a:latin typeface="Arial"/>
                <a:ea typeface="Arial"/>
                <a:cs typeface="Arial"/>
              </a:defRPr>
            </a:lvl4pPr>
            <a:lvl5pPr>
              <a:defRPr sz="1650" b="0">
                <a:solidFill>
                  <a:srgbClr val="43596C"/>
                </a:solidFill>
                <a:latin typeface="Arial"/>
                <a:ea typeface="Arial"/>
                <a:cs typeface="Arial"/>
              </a:defRPr>
            </a:lvl5pPr>
            <a:lvl6pPr>
              <a:defRPr sz="1650" b="0">
                <a:solidFill>
                  <a:srgbClr val="43596C"/>
                </a:solidFill>
                <a:latin typeface="Arial"/>
                <a:ea typeface="Arial"/>
                <a:cs typeface="Arial"/>
              </a:defRPr>
            </a:lvl6pPr>
            <a:lvl7pPr>
              <a:defRPr sz="1650" b="0">
                <a:solidFill>
                  <a:srgbClr val="43596C"/>
                </a:solidFill>
                <a:latin typeface="Arial"/>
                <a:ea typeface="Arial"/>
                <a:cs typeface="Arial"/>
              </a:defRPr>
            </a:lvl7pPr>
            <a:lvl8pPr>
              <a:defRPr sz="1650" b="0">
                <a:solidFill>
                  <a:srgbClr val="43596C"/>
                </a:solidFill>
                <a:latin typeface="Arial"/>
                <a:ea typeface="Arial"/>
                <a:cs typeface="Arial"/>
              </a:defRPr>
            </a:lvl8pPr>
            <a:lvl9pPr>
              <a:defRPr sz="1650" b="0">
                <a:solidFill>
                  <a:srgbClr val="43596C"/>
                </a:solidFill>
                <a:latin typeface="Arial"/>
                <a:ea typeface="Arial"/>
                <a:cs typeface="Arial"/>
              </a:defRPr>
            </a:lvl9pPr>
          </a:lstStyle>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Both columns average squared errors over PC3–6 of training velocities.</a:t>
            </a:r>
          </a:p>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Left: (v−u)² against target u=y−ε. Right: (v−v*)² against analytic mean v*=E[u|x,t,h].</a:t>
            </a:r>
          </a:p>
        </p:txBody>
      </p:sp>
      <p:graphicFrame>
        <p:nvGraphicFramePr>
          <p:cNvPr id="3" name="">
            <a:extLst xmlns:a="http://schemas.openxmlformats.org/drawingml/2006/main">
              <a:ext uri="{FF2B5EF4-FFF2-40B4-BE49-F238E27FC236}">
                <a16:creationId xmlns:a16="http://schemas.microsoft.com/office/drawing/2014/main" id="{1E7F5FEB-5DA9-4C1D-A0F0-4F1793934CAB}"/>
              </a:ext>
            </a:extLst>
          </p:cNvPr>
          <p:cNvGraphicFramePr/>
          <p:nvPr/>
        </p:nvGraphicFramePr>
        <p:xfrm>
          <a:off xmlns:a="http://schemas.openxmlformats.org/drawingml/2006/main" x="685800" y="2286000"/>
          <a:ext xmlns:a="http://schemas.openxmlformats.org/drawingml/2006/main" cx="10820400" cy="2667000"/>
        </p:xfrm>
        <a:graphic xmlns:a="http://schemas.openxmlformats.org/drawingml/2006/main">
          <a:graphicData uri="http://schemas.openxmlformats.org/drawingml/2006/table">
            <a:tbl>
              <a:tblPr firstRow="1" bandRow="0"/>
              <a:tblGrid>
                <a:gridCol w="3905250"/>
                <a:gridCol w="3533775"/>
                <a:gridCol w="3381375"/>
              </a:tblGrid>
              <a:tr h="666750">
                <a:tc>
                  <a:txBody>
                    <a:bodyPr/>
                    <a:lstStyle/>
                    <a:p>
                      <a:r>
                        <a:rPr sz="1800" b="1">
                          <a:solidFill>
                            <a:srgbClr val="172A3A"/>
                          </a:solidFill>
                          <a:latin typeface="Arial"/>
                          <a:ea typeface="Arial"/>
                          <a:cs typeface="Arial"/>
                        </a:rPr>
                        <a:t>GP-source head</a:t>
                      </a:r>
                    </a:p>
                  </a:txBody>
                  <a:tcPr marL="91440" marR="91440" marT="45720" marB="45720">
                    <a:lnL w="9525">
                      <a:solidFill>
                        <a:srgbClr val="D5E0E8"/>
                      </a:solidFill>
                      <a:prstDash val="solid"/>
                    </a:lnL>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800" b="1">
                          <a:solidFill>
                            <a:srgbClr val="172A3A"/>
                          </a:solidFill>
                          <a:latin typeface="Arial"/>
                          <a:ea typeface="Arial"/>
                          <a:cs typeface="Arial"/>
                        </a:rPr>
                        <a:t>Original velocity MSE</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800" b="1">
                          <a:solidFill>
                            <a:srgbClr val="172A3A"/>
                          </a:solidFill>
                          <a:latin typeface="Arial"/>
                          <a:ea typeface="Arial"/>
                          <a:cs typeface="Arial"/>
                        </a:rPr>
                        <a:t>Squared gap to analytic field</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r>
              <a:tr h="666750">
                <a:tc>
                  <a:txBody>
                    <a:bodyPr/>
                    <a:lstStyle/>
                    <a:p>
                      <a:r>
                        <a:rPr sz="1800" b="0">
                          <a:solidFill>
                            <a:srgbClr val="172A3A"/>
                          </a:solidFill>
                          <a:latin typeface="Arial"/>
                          <a:ea typeface="Arial"/>
                          <a:cs typeface="Arial"/>
                        </a:rPr>
                        <a:t>MLP</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0.172429</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0.057731</a:t>
                      </a:r>
                    </a:p>
                  </a:txBody>
                  <a:tcPr marL="91440" marR="91440" marT="45720" marB="45720">
                    <a:lnR w="9525">
                      <a:solidFill>
                        <a:srgbClr val="D5E0E8"/>
                      </a:solidFill>
                      <a:prstDash val="solid"/>
                    </a:lnR>
                    <a:lnB w="9525">
                      <a:solidFill>
                        <a:srgbClr val="D5E0E8"/>
                      </a:solidFill>
                      <a:prstDash val="solid"/>
                    </a:lnB>
                    <a:solidFill>
                      <a:srgbClr val="FFFFFF"/>
                    </a:solidFill>
                  </a:tcPr>
                </a:tc>
              </a:tr>
              <a:tr h="666750">
                <a:tc>
                  <a:txBody>
                    <a:bodyPr/>
                    <a:lstStyle/>
                    <a:p>
                      <a:r>
                        <a:rPr sz="1800" b="0">
                          <a:solidFill>
                            <a:srgbClr val="172A3A"/>
                          </a:solidFill>
                          <a:latin typeface="Arial"/>
                          <a:ea typeface="Arial"/>
                          <a:cs typeface="Arial"/>
                        </a:rPr>
                        <a:t>S4</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0.196926</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0.076748</a:t>
                      </a:r>
                    </a:p>
                  </a:txBody>
                  <a:tcPr marL="91440" marR="91440" marT="45720" marB="45720">
                    <a:lnR w="9525">
                      <a:solidFill>
                        <a:srgbClr val="D5E0E8"/>
                      </a:solidFill>
                      <a:prstDash val="solid"/>
                    </a:lnR>
                    <a:lnB w="9525">
                      <a:solidFill>
                        <a:srgbClr val="D5E0E8"/>
                      </a:solidFill>
                      <a:prstDash val="solid"/>
                    </a:lnB>
                    <a:solidFill>
                      <a:srgbClr val="FFFFFF"/>
                    </a:solidFill>
                  </a:tcPr>
                </a:tc>
              </a:tr>
              <a:tr h="666750">
                <a:tc>
                  <a:txBody>
                    <a:bodyPr/>
                    <a:lstStyle/>
                    <a:p>
                      <a:r>
                        <a:rPr sz="1800" b="0">
                          <a:solidFill>
                            <a:srgbClr val="172A3A"/>
                          </a:solidFill>
                          <a:latin typeface="Arial"/>
                          <a:ea typeface="Arial"/>
                          <a:cs typeface="Arial"/>
                        </a:rPr>
                        <a:t>Whitened MLP</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0.140330</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800" b="0">
                          <a:solidFill>
                            <a:srgbClr val="172A3A"/>
                          </a:solidFill>
                          <a:latin typeface="Arial"/>
                          <a:ea typeface="Arial"/>
                          <a:cs typeface="Arial"/>
                        </a:rPr>
                        <a:t>0.022755</a:t>
                      </a:r>
                    </a:p>
                  </a:txBody>
                  <a:tcPr marL="91440" marR="91440" marT="45720" marB="45720">
                    <a:lnR w="9525">
                      <a:solidFill>
                        <a:srgbClr val="D5E0E8"/>
                      </a:solidFill>
                      <a:prstDash val="solid"/>
                    </a:lnR>
                    <a:lnB w="9525">
                      <a:solidFill>
                        <a:srgbClr val="D5E0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BCCE04C-8096-467D-B205-3F52458F6765}"/>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43596C"/>
                </a:solidFill>
                <a:latin typeface="Arial"/>
                <a:ea typeface="Arial"/>
                <a:cs typeface="Arial"/>
              </a:defRPr>
            </a:defPPr>
            <a:lvl1pPr>
              <a:defRPr sz="1875" b="0">
                <a:solidFill>
                  <a:srgbClr val="43596C"/>
                </a:solidFill>
                <a:latin typeface="Arial"/>
                <a:ea typeface="Arial"/>
                <a:cs typeface="Arial"/>
              </a:defRPr>
            </a:lvl1pPr>
            <a:lvl2pPr>
              <a:defRPr sz="1875" b="0">
                <a:solidFill>
                  <a:srgbClr val="43596C"/>
                </a:solidFill>
                <a:latin typeface="Arial"/>
                <a:ea typeface="Arial"/>
                <a:cs typeface="Arial"/>
              </a:defRPr>
            </a:lvl2pPr>
            <a:lvl3pPr>
              <a:defRPr sz="1875" b="0">
                <a:solidFill>
                  <a:srgbClr val="43596C"/>
                </a:solidFill>
                <a:latin typeface="Arial"/>
                <a:ea typeface="Arial"/>
                <a:cs typeface="Arial"/>
              </a:defRPr>
            </a:lvl3pPr>
            <a:lvl4pPr>
              <a:defRPr sz="1875" b="0">
                <a:solidFill>
                  <a:srgbClr val="43596C"/>
                </a:solidFill>
                <a:latin typeface="Arial"/>
                <a:ea typeface="Arial"/>
                <a:cs typeface="Arial"/>
              </a:defRPr>
            </a:lvl4pPr>
            <a:lvl5pPr>
              <a:defRPr sz="1875" b="0">
                <a:solidFill>
                  <a:srgbClr val="43596C"/>
                </a:solidFill>
                <a:latin typeface="Arial"/>
                <a:ea typeface="Arial"/>
                <a:cs typeface="Arial"/>
              </a:defRPr>
            </a:lvl5pPr>
            <a:lvl6pPr>
              <a:defRPr sz="1875" b="0">
                <a:solidFill>
                  <a:srgbClr val="43596C"/>
                </a:solidFill>
                <a:latin typeface="Arial"/>
                <a:ea typeface="Arial"/>
                <a:cs typeface="Arial"/>
              </a:defRPr>
            </a:lvl6pPr>
            <a:lvl7pPr>
              <a:defRPr sz="1875" b="0">
                <a:solidFill>
                  <a:srgbClr val="43596C"/>
                </a:solidFill>
                <a:latin typeface="Arial"/>
                <a:ea typeface="Arial"/>
                <a:cs typeface="Arial"/>
              </a:defRPr>
            </a:lvl7pPr>
            <a:lvl8pPr>
              <a:defRPr sz="1875" b="0">
                <a:solidFill>
                  <a:srgbClr val="43596C"/>
                </a:solidFill>
                <a:latin typeface="Arial"/>
                <a:ea typeface="Arial"/>
                <a:cs typeface="Arial"/>
              </a:defRPr>
            </a:lvl8pPr>
            <a:lvl9pPr>
              <a:defRPr sz="1875" b="0">
                <a:solidFill>
                  <a:srgbClr val="43596C"/>
                </a:solidFill>
                <a:latin typeface="Arial"/>
                <a:ea typeface="Arial"/>
                <a:cs typeface="Arial"/>
              </a:defRPr>
            </a:lvl9pPr>
          </a:lstStyle>
          <a:p xmlns:a="http://schemas.openxmlformats.org/drawingml/2006/main">
            <a:pPr>
              <a:defRPr sz="1875" b="0">
                <a:solidFill>
                  <a:srgbClr val="43596C"/>
                </a:solidFill>
                <a:latin typeface="Arial"/>
                <a:ea typeface="Arial"/>
                <a:cs typeface="Arial"/>
              </a:defRPr>
            </a:pPr>
            <a:r>
              <a:rPr sz="1875" b="0">
                <a:solidFill>
                  <a:srgbClr val="43596C"/>
                </a:solidFill>
                <a:latin typeface="Arial"/>
                <a:ea typeface="Arial"/>
                <a:cs typeface="Arial"/>
              </a:rPr>
              <a:t>PC3–6 only. Original test: 8,192 windows; analytic comparison: 2,048 fresh windows.</a:t>
            </a:r>
          </a:p>
        </p:txBody>
      </p:sp>
      <p:sp>
        <p:nvSpPr>
          <p:cNvPr id="5" name="">
            <a:extLst xmlns:a="http://schemas.openxmlformats.org/drawingml/2006/main">
              <a:ext uri="{FF2B5EF4-FFF2-40B4-BE49-F238E27FC236}">
                <a16:creationId xmlns:a16="http://schemas.microsoft.com/office/drawing/2014/main" id="{F61AED3C-162B-4201-8B5B-B0023BD5D992}"/>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16</a:t>
            </a:r>
          </a:p>
        </p:txBody>
      </p:sp>
    </p:spTree>
    <p:extLst>
      <p:ext uri="{BB962C8B-B14F-4D97-AF65-F5344CB8AC3E}">
        <p14:creationId xmlns:p14="http://schemas.microsoft.com/office/powerpoint/2010/main" val="201901134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0289EA-06E7-4C23-8CD9-CA16B04FBCC5}"/>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Backup: averaged training labels improve forecasts modestly</a:t>
            </a:r>
          </a:p>
        </p:txBody>
      </p:sp>
      <p:sp>
        <p:nvSpPr>
          <p:cNvPr id="2" name="">
            <a:extLst xmlns:a="http://schemas.openxmlformats.org/drawingml/2006/main">
              <a:ext uri="{FF2B5EF4-FFF2-40B4-BE49-F238E27FC236}">
                <a16:creationId xmlns:a16="http://schemas.microsoft.com/office/drawing/2014/main" id="{EA90362D-B68B-4700-BE71-4A7C15B19E40}"/>
              </a:ext>
            </a:extLst>
          </p:cNvPr>
          <p:cNvSpPr>
            <a:spLocks xmlns:a="http://schemas.openxmlformats.org/drawingml/2006/main" noGrp="1"/>
          </p:cNvSpPr>
          <p:nvPr/>
        </p:nvSpPr>
        <p:spPr>
          <a:xfrm xmlns:a="http://schemas.openxmlformats.org/drawingml/2006/main">
            <a:off x="723900" y="14287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43596C"/>
                </a:solidFill>
                <a:latin typeface="Arial"/>
                <a:ea typeface="Arial"/>
                <a:cs typeface="Arial"/>
              </a:defRPr>
            </a:defPPr>
            <a:lvl1pPr>
              <a:defRPr sz="1650" b="0">
                <a:solidFill>
                  <a:srgbClr val="43596C"/>
                </a:solidFill>
                <a:latin typeface="Arial"/>
                <a:ea typeface="Arial"/>
                <a:cs typeface="Arial"/>
              </a:defRPr>
            </a:lvl1pPr>
            <a:lvl2pPr>
              <a:defRPr sz="1650" b="0">
                <a:solidFill>
                  <a:srgbClr val="43596C"/>
                </a:solidFill>
                <a:latin typeface="Arial"/>
                <a:ea typeface="Arial"/>
                <a:cs typeface="Arial"/>
              </a:defRPr>
            </a:lvl2pPr>
            <a:lvl3pPr>
              <a:defRPr sz="1650" b="0">
                <a:solidFill>
                  <a:srgbClr val="43596C"/>
                </a:solidFill>
                <a:latin typeface="Arial"/>
                <a:ea typeface="Arial"/>
                <a:cs typeface="Arial"/>
              </a:defRPr>
            </a:lvl3pPr>
            <a:lvl4pPr>
              <a:defRPr sz="1650" b="0">
                <a:solidFill>
                  <a:srgbClr val="43596C"/>
                </a:solidFill>
                <a:latin typeface="Arial"/>
                <a:ea typeface="Arial"/>
                <a:cs typeface="Arial"/>
              </a:defRPr>
            </a:lvl4pPr>
            <a:lvl5pPr>
              <a:defRPr sz="1650" b="0">
                <a:solidFill>
                  <a:srgbClr val="43596C"/>
                </a:solidFill>
                <a:latin typeface="Arial"/>
                <a:ea typeface="Arial"/>
                <a:cs typeface="Arial"/>
              </a:defRPr>
            </a:lvl5pPr>
            <a:lvl6pPr>
              <a:defRPr sz="1650" b="0">
                <a:solidFill>
                  <a:srgbClr val="43596C"/>
                </a:solidFill>
                <a:latin typeface="Arial"/>
                <a:ea typeface="Arial"/>
                <a:cs typeface="Arial"/>
              </a:defRPr>
            </a:lvl6pPr>
            <a:lvl7pPr>
              <a:defRPr sz="1650" b="0">
                <a:solidFill>
                  <a:srgbClr val="43596C"/>
                </a:solidFill>
                <a:latin typeface="Arial"/>
                <a:ea typeface="Arial"/>
                <a:cs typeface="Arial"/>
              </a:defRPr>
            </a:lvl7pPr>
            <a:lvl8pPr>
              <a:defRPr sz="1650" b="0">
                <a:solidFill>
                  <a:srgbClr val="43596C"/>
                </a:solidFill>
                <a:latin typeface="Arial"/>
                <a:ea typeface="Arial"/>
                <a:cs typeface="Arial"/>
              </a:defRPr>
            </a:lvl8pPr>
            <a:lvl9pPr>
              <a:defRPr sz="1650" b="0">
                <a:solidFill>
                  <a:srgbClr val="43596C"/>
                </a:solidFill>
                <a:latin typeface="Arial"/>
                <a:ea typeface="Arial"/>
                <a:cs typeface="Arial"/>
              </a:defRPr>
            </a:lvl9pPr>
          </a:lstStyle>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Random labels: target u=y−ε for one sampled future/noise pair.</a:t>
            </a:r>
          </a:p>
          <a:p xmlns:a="http://schemas.openxmlformats.org/drawingml/2006/main">
            <a:pPr>
              <a:defRPr sz="1650" b="0">
                <a:solidFill>
                  <a:srgbClr val="43596C"/>
                </a:solidFill>
                <a:latin typeface="Arial"/>
                <a:ea typeface="Arial"/>
                <a:cs typeface="Arial"/>
              </a:defRPr>
            </a:pPr>
            <a:r>
              <a:rPr sz="1650" b="0">
                <a:solidFill>
                  <a:srgbClr val="43596C"/>
                </a:solidFill>
                <a:latin typeface="Arial"/>
                <a:ea typeface="Arial"/>
                <a:cs typeface="Arial"/>
              </a:rPr>
              <a:t>Mean-velocity labels: average u over possible pairs at fixed curve x, time t and past h.</a:t>
            </a:r>
          </a:p>
        </p:txBody>
      </p:sp>
      <p:graphicFrame>
        <p:nvGraphicFramePr>
          <p:cNvPr id="3" name="">
            <a:extLst xmlns:a="http://schemas.openxmlformats.org/drawingml/2006/main">
              <a:ext uri="{FF2B5EF4-FFF2-40B4-BE49-F238E27FC236}">
                <a16:creationId xmlns:a16="http://schemas.microsoft.com/office/drawing/2014/main" id="{9CC1912E-2670-4706-954D-74E6307281B4}"/>
              </a:ext>
            </a:extLst>
          </p:cNvPr>
          <p:cNvGraphicFramePr/>
          <p:nvPr/>
        </p:nvGraphicFramePr>
        <p:xfrm>
          <a:off xmlns:a="http://schemas.openxmlformats.org/drawingml/2006/main" x="685800" y="2286000"/>
          <a:ext xmlns:a="http://schemas.openxmlformats.org/drawingml/2006/main" cx="10820400" cy="2952750"/>
        </p:xfrm>
        <a:graphic xmlns:a="http://schemas.openxmlformats.org/drawingml/2006/main">
          <a:graphicData uri="http://schemas.openxmlformats.org/drawingml/2006/table">
            <a:tbl>
              <a:tblPr firstRow="1" bandRow="0"/>
              <a:tblGrid>
                <a:gridCol w="4191000"/>
                <a:gridCol w="2095500"/>
                <a:gridCol w="2266950"/>
                <a:gridCol w="2266950"/>
              </a:tblGrid>
              <a:tr h="590550">
                <a:tc>
                  <a:txBody>
                    <a:bodyPr/>
                    <a:lstStyle/>
                    <a:p>
                      <a:r>
                        <a:rPr sz="1650" b="1">
                          <a:solidFill>
                            <a:srgbClr val="172A3A"/>
                          </a:solidFill>
                          <a:latin typeface="Arial"/>
                          <a:ea typeface="Arial"/>
                          <a:cs typeface="Arial"/>
                        </a:rPr>
                        <a:t>GP-source model</a:t>
                      </a:r>
                    </a:p>
                  </a:txBody>
                  <a:tcPr marL="91440" marR="91440" marT="45720" marB="45720">
                    <a:lnL w="9525">
                      <a:solidFill>
                        <a:srgbClr val="D5E0E8"/>
                      </a:solidFill>
                      <a:prstDash val="solid"/>
                    </a:lnL>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650" b="1">
                          <a:solidFill>
                            <a:srgbClr val="172A3A"/>
                          </a:solidFill>
                          <a:latin typeface="Arial"/>
                          <a:ea typeface="Arial"/>
                          <a:cs typeface="Arial"/>
                        </a:rPr>
                        <a:t>Fair CRPS ↓</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650" b="1">
                          <a:solidFill>
                            <a:srgbClr val="172A3A"/>
                          </a:solidFill>
                          <a:latin typeface="Arial"/>
                          <a:ea typeface="Arial"/>
                          <a:cs typeface="Arial"/>
                        </a:rPr>
                        <a:t>R2 ratio</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c>
                  <a:txBody>
                    <a:bodyPr/>
                    <a:lstStyle/>
                    <a:p>
                      <a:r>
                        <a:rPr sz="1650" b="1">
                          <a:solidFill>
                            <a:srgbClr val="172A3A"/>
                          </a:solidFill>
                          <a:latin typeface="Arial"/>
                          <a:ea typeface="Arial"/>
                          <a:cs typeface="Arial"/>
                        </a:rPr>
                        <a:t>Fair VS ↓</a:t>
                      </a:r>
                    </a:p>
                  </a:txBody>
                  <a:tcPr marL="91440" marR="91440" marT="45720" marB="45720">
                    <a:lnR w="9525">
                      <a:solidFill>
                        <a:srgbClr val="D5E0E8"/>
                      </a:solidFill>
                      <a:prstDash val="solid"/>
                    </a:lnR>
                    <a:lnT w="9525">
                      <a:solidFill>
                        <a:srgbClr val="D5E0E8"/>
                      </a:solidFill>
                      <a:prstDash val="solid"/>
                    </a:lnT>
                    <a:lnB w="9525">
                      <a:solidFill>
                        <a:srgbClr val="D5E0E8"/>
                      </a:solidFill>
                      <a:prstDash val="solid"/>
                    </a:lnB>
                    <a:solidFill>
                      <a:srgbClr val="E5EFF6"/>
                    </a:solidFill>
                  </a:tcPr>
                </a:tc>
              </a:tr>
              <a:tr h="590550">
                <a:tc>
                  <a:txBody>
                    <a:bodyPr/>
                    <a:lstStyle/>
                    <a:p>
                      <a:r>
                        <a:rPr sz="1650" b="0">
                          <a:solidFill>
                            <a:srgbClr val="172A3A"/>
                          </a:solidFill>
                          <a:latin typeface="Arial"/>
                          <a:ea typeface="Arial"/>
                          <a:cs typeface="Arial"/>
                        </a:rPr>
                        <a:t>MLP / random labels</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0.4932</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1.031</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0.0714</a:t>
                      </a:r>
                    </a:p>
                  </a:txBody>
                  <a:tcPr marL="91440" marR="91440" marT="45720" marB="45720">
                    <a:lnR w="9525">
                      <a:solidFill>
                        <a:srgbClr val="D5E0E8"/>
                      </a:solidFill>
                      <a:prstDash val="solid"/>
                    </a:lnR>
                    <a:lnB w="9525">
                      <a:solidFill>
                        <a:srgbClr val="D5E0E8"/>
                      </a:solidFill>
                      <a:prstDash val="solid"/>
                    </a:lnB>
                    <a:solidFill>
                      <a:srgbClr val="FFFFFF"/>
                    </a:solidFill>
                  </a:tcPr>
                </a:tc>
              </a:tr>
              <a:tr h="590550">
                <a:tc>
                  <a:txBody>
                    <a:bodyPr/>
                    <a:lstStyle/>
                    <a:p>
                      <a:r>
                        <a:rPr sz="1650" b="0">
                          <a:solidFill>
                            <a:srgbClr val="172A3A"/>
                          </a:solidFill>
                          <a:latin typeface="Arial"/>
                          <a:ea typeface="Arial"/>
                          <a:cs typeface="Arial"/>
                        </a:rPr>
                        <a:t>MLP / mean-velocity labels</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0.4785</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1.028</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0.0688</a:t>
                      </a:r>
                    </a:p>
                  </a:txBody>
                  <a:tcPr marL="91440" marR="91440" marT="45720" marB="45720">
                    <a:lnR w="9525">
                      <a:solidFill>
                        <a:srgbClr val="D5E0E8"/>
                      </a:solidFill>
                      <a:prstDash val="solid"/>
                    </a:lnR>
                    <a:lnB w="9525">
                      <a:solidFill>
                        <a:srgbClr val="D5E0E8"/>
                      </a:solidFill>
                      <a:prstDash val="solid"/>
                    </a:lnB>
                    <a:solidFill>
                      <a:srgbClr val="FFFFFF"/>
                    </a:solidFill>
                  </a:tcPr>
                </a:tc>
              </a:tr>
              <a:tr h="590550">
                <a:tc>
                  <a:txBody>
                    <a:bodyPr/>
                    <a:lstStyle/>
                    <a:p>
                      <a:r>
                        <a:rPr sz="1650" b="0">
                          <a:solidFill>
                            <a:srgbClr val="172A3A"/>
                          </a:solidFill>
                          <a:latin typeface="Arial"/>
                          <a:ea typeface="Arial"/>
                          <a:cs typeface="Arial"/>
                        </a:rPr>
                        <a:t>S4 / random labels</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0.4923</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1.649</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0.0710</a:t>
                      </a:r>
                    </a:p>
                  </a:txBody>
                  <a:tcPr marL="91440" marR="91440" marT="45720" marB="45720">
                    <a:lnR w="9525">
                      <a:solidFill>
                        <a:srgbClr val="D5E0E8"/>
                      </a:solidFill>
                      <a:prstDash val="solid"/>
                    </a:lnR>
                    <a:lnB w="9525">
                      <a:solidFill>
                        <a:srgbClr val="D5E0E8"/>
                      </a:solidFill>
                      <a:prstDash val="solid"/>
                    </a:lnB>
                    <a:solidFill>
                      <a:srgbClr val="FFFFFF"/>
                    </a:solidFill>
                  </a:tcPr>
                </a:tc>
              </a:tr>
              <a:tr h="590550">
                <a:tc>
                  <a:txBody>
                    <a:bodyPr/>
                    <a:lstStyle/>
                    <a:p>
                      <a:r>
                        <a:rPr sz="1650" b="0">
                          <a:solidFill>
                            <a:srgbClr val="172A3A"/>
                          </a:solidFill>
                          <a:latin typeface="Arial"/>
                          <a:ea typeface="Arial"/>
                          <a:cs typeface="Arial"/>
                        </a:rPr>
                        <a:t>S4 / mean-velocity labels</a:t>
                      </a:r>
                    </a:p>
                  </a:txBody>
                  <a:tcPr marL="91440" marR="91440" marT="45720" marB="45720">
                    <a:lnL w="9525">
                      <a:solidFill>
                        <a:srgbClr val="D5E0E8"/>
                      </a:solidFill>
                      <a:prstDash val="solid"/>
                    </a:lnL>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0.4798</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1.518</a:t>
                      </a:r>
                    </a:p>
                  </a:txBody>
                  <a:tcPr marL="91440" marR="91440" marT="45720" marB="45720">
                    <a:lnR w="9525">
                      <a:solidFill>
                        <a:srgbClr val="D5E0E8"/>
                      </a:solidFill>
                      <a:prstDash val="solid"/>
                    </a:lnR>
                    <a:lnB w="9525">
                      <a:solidFill>
                        <a:srgbClr val="D5E0E8"/>
                      </a:solidFill>
                      <a:prstDash val="solid"/>
                    </a:lnB>
                    <a:solidFill>
                      <a:srgbClr val="FFFFFF"/>
                    </a:solidFill>
                  </a:tcPr>
                </a:tc>
                <a:tc>
                  <a:txBody>
                    <a:bodyPr/>
                    <a:lstStyle/>
                    <a:p>
                      <a:r>
                        <a:rPr sz="1650" b="0">
                          <a:solidFill>
                            <a:srgbClr val="172A3A"/>
                          </a:solidFill>
                          <a:latin typeface="Arial"/>
                          <a:ea typeface="Arial"/>
                          <a:cs typeface="Arial"/>
                        </a:rPr>
                        <a:t>0.0688</a:t>
                      </a:r>
                    </a:p>
                  </a:txBody>
                  <a:tcPr marL="91440" marR="91440" marT="45720" marB="45720">
                    <a:lnR w="9525">
                      <a:solidFill>
                        <a:srgbClr val="D5E0E8"/>
                      </a:solidFill>
                      <a:prstDash val="solid"/>
                    </a:lnR>
                    <a:lnB w="9525">
                      <a:solidFill>
                        <a:srgbClr val="D5E0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17FE301-541D-4322-BAE0-965F1750AF88}"/>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43596C"/>
                </a:solidFill>
                <a:latin typeface="Arial"/>
                <a:ea typeface="Arial"/>
                <a:cs typeface="Arial"/>
              </a:defRPr>
            </a:defPPr>
            <a:lvl1pPr>
              <a:defRPr sz="1875" b="0">
                <a:solidFill>
                  <a:srgbClr val="43596C"/>
                </a:solidFill>
                <a:latin typeface="Arial"/>
                <a:ea typeface="Arial"/>
                <a:cs typeface="Arial"/>
              </a:defRPr>
            </a:lvl1pPr>
            <a:lvl2pPr>
              <a:defRPr sz="1875" b="0">
                <a:solidFill>
                  <a:srgbClr val="43596C"/>
                </a:solidFill>
                <a:latin typeface="Arial"/>
                <a:ea typeface="Arial"/>
                <a:cs typeface="Arial"/>
              </a:defRPr>
            </a:lvl2pPr>
            <a:lvl3pPr>
              <a:defRPr sz="1875" b="0">
                <a:solidFill>
                  <a:srgbClr val="43596C"/>
                </a:solidFill>
                <a:latin typeface="Arial"/>
                <a:ea typeface="Arial"/>
                <a:cs typeface="Arial"/>
              </a:defRPr>
            </a:lvl3pPr>
            <a:lvl4pPr>
              <a:defRPr sz="1875" b="0">
                <a:solidFill>
                  <a:srgbClr val="43596C"/>
                </a:solidFill>
                <a:latin typeface="Arial"/>
                <a:ea typeface="Arial"/>
                <a:cs typeface="Arial"/>
              </a:defRPr>
            </a:lvl4pPr>
            <a:lvl5pPr>
              <a:defRPr sz="1875" b="0">
                <a:solidFill>
                  <a:srgbClr val="43596C"/>
                </a:solidFill>
                <a:latin typeface="Arial"/>
                <a:ea typeface="Arial"/>
                <a:cs typeface="Arial"/>
              </a:defRPr>
            </a:lvl5pPr>
            <a:lvl6pPr>
              <a:defRPr sz="1875" b="0">
                <a:solidFill>
                  <a:srgbClr val="43596C"/>
                </a:solidFill>
                <a:latin typeface="Arial"/>
                <a:ea typeface="Arial"/>
                <a:cs typeface="Arial"/>
              </a:defRPr>
            </a:lvl6pPr>
            <a:lvl7pPr>
              <a:defRPr sz="1875" b="0">
                <a:solidFill>
                  <a:srgbClr val="43596C"/>
                </a:solidFill>
                <a:latin typeface="Arial"/>
                <a:ea typeface="Arial"/>
                <a:cs typeface="Arial"/>
              </a:defRPr>
            </a:lvl7pPr>
            <a:lvl8pPr>
              <a:defRPr sz="1875" b="0">
                <a:solidFill>
                  <a:srgbClr val="43596C"/>
                </a:solidFill>
                <a:latin typeface="Arial"/>
                <a:ea typeface="Arial"/>
                <a:cs typeface="Arial"/>
              </a:defRPr>
            </a:lvl8pPr>
            <a:lvl9pPr>
              <a:defRPr sz="1875" b="0">
                <a:solidFill>
                  <a:srgbClr val="43596C"/>
                </a:solidFill>
                <a:latin typeface="Arial"/>
                <a:ea typeface="Arial"/>
                <a:cs typeface="Arial"/>
              </a:defRPr>
            </a:lvl9pPr>
          </a:lstStyle>
          <a:p xmlns:a="http://schemas.openxmlformats.org/drawingml/2006/main">
            <a:pPr>
              <a:defRPr sz="1875" b="0">
                <a:solidFill>
                  <a:srgbClr val="43596C"/>
                </a:solidFill>
                <a:latin typeface="Arial"/>
                <a:ea typeface="Arial"/>
                <a:cs typeface="Arial"/>
              </a:defRPr>
            </a:pPr>
            <a:r>
              <a:rPr sz="1875" b="0">
                <a:solidFill>
                  <a:srgbClr val="43596C"/>
                </a:solidFill>
                <a:latin typeface="Arial"/>
                <a:ea typeface="Arial"/>
                <a:cs typeface="Arial"/>
              </a:rPr>
              <a:t>3 paired dataset/seed runs. Mean-velocity labels use the known generating law.</a:t>
            </a:r>
          </a:p>
        </p:txBody>
      </p:sp>
      <p:sp>
        <p:nvSpPr>
          <p:cNvPr id="5" name="">
            <a:extLst xmlns:a="http://schemas.openxmlformats.org/drawingml/2006/main">
              <a:ext uri="{FF2B5EF4-FFF2-40B4-BE49-F238E27FC236}">
                <a16:creationId xmlns:a16="http://schemas.microsoft.com/office/drawing/2014/main" id="{83F41422-02F0-4FA3-8AEE-D2678454D9AF}"/>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17</a:t>
            </a:r>
          </a:p>
        </p:txBody>
      </p:sp>
    </p:spTree>
    <p:extLst>
      <p:ext uri="{BB962C8B-B14F-4D97-AF65-F5344CB8AC3E}">
        <p14:creationId xmlns:p14="http://schemas.microsoft.com/office/powerpoint/2010/main" val="1603084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5CFADB-0047-486A-A197-F5576C0B1773}"/>
              </a:ext>
            </a:extLst>
          </p:cNvPr>
          <p:cNvSpPr>
            <a:spLocks xmlns:a="http://schemas.openxmlformats.org/drawingml/2006/main" noGrp="1"/>
          </p:cNvSpPr>
          <p:nvPr/>
        </p:nvSpPr>
        <p:spPr>
          <a:xfrm xmlns:a="http://schemas.openxmlformats.org/drawingml/2006/main">
            <a:off x="609600" y="4000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300" b="1">
                <a:solidFill>
                  <a:srgbClr val="172A3A"/>
                </a:solidFill>
                <a:latin typeface="Arial"/>
                <a:ea typeface="Arial"/>
                <a:cs typeface="Arial"/>
              </a:defRPr>
            </a:defPPr>
            <a:lvl1pPr>
              <a:defRPr sz="3300" b="1">
                <a:solidFill>
                  <a:srgbClr val="172A3A"/>
                </a:solidFill>
                <a:latin typeface="Arial"/>
                <a:ea typeface="Arial"/>
                <a:cs typeface="Arial"/>
              </a:defRPr>
            </a:lvl1pPr>
            <a:lvl2pPr>
              <a:defRPr sz="3300" b="1">
                <a:solidFill>
                  <a:srgbClr val="172A3A"/>
                </a:solidFill>
                <a:latin typeface="Arial"/>
                <a:ea typeface="Arial"/>
                <a:cs typeface="Arial"/>
              </a:defRPr>
            </a:lvl2pPr>
            <a:lvl3pPr>
              <a:defRPr sz="3300" b="1">
                <a:solidFill>
                  <a:srgbClr val="172A3A"/>
                </a:solidFill>
                <a:latin typeface="Arial"/>
                <a:ea typeface="Arial"/>
                <a:cs typeface="Arial"/>
              </a:defRPr>
            </a:lvl3pPr>
            <a:lvl4pPr>
              <a:defRPr sz="3300" b="1">
                <a:solidFill>
                  <a:srgbClr val="172A3A"/>
                </a:solidFill>
                <a:latin typeface="Arial"/>
                <a:ea typeface="Arial"/>
                <a:cs typeface="Arial"/>
              </a:defRPr>
            </a:lvl4pPr>
            <a:lvl5pPr>
              <a:defRPr sz="3300" b="1">
                <a:solidFill>
                  <a:srgbClr val="172A3A"/>
                </a:solidFill>
                <a:latin typeface="Arial"/>
                <a:ea typeface="Arial"/>
                <a:cs typeface="Arial"/>
              </a:defRPr>
            </a:lvl5pPr>
            <a:lvl6pPr>
              <a:defRPr sz="3300" b="1">
                <a:solidFill>
                  <a:srgbClr val="172A3A"/>
                </a:solidFill>
                <a:latin typeface="Arial"/>
                <a:ea typeface="Arial"/>
                <a:cs typeface="Arial"/>
              </a:defRPr>
            </a:lvl6pPr>
            <a:lvl7pPr>
              <a:defRPr sz="3300" b="1">
                <a:solidFill>
                  <a:srgbClr val="172A3A"/>
                </a:solidFill>
                <a:latin typeface="Arial"/>
                <a:ea typeface="Arial"/>
                <a:cs typeface="Arial"/>
              </a:defRPr>
            </a:lvl7pPr>
            <a:lvl8pPr>
              <a:defRPr sz="3300" b="1">
                <a:solidFill>
                  <a:srgbClr val="172A3A"/>
                </a:solidFill>
                <a:latin typeface="Arial"/>
                <a:ea typeface="Arial"/>
                <a:cs typeface="Arial"/>
              </a:defRPr>
            </a:lvl8pPr>
            <a:lvl9pPr>
              <a:defRPr sz="3300" b="1">
                <a:solidFill>
                  <a:srgbClr val="172A3A"/>
                </a:solidFill>
                <a:latin typeface="Arial"/>
                <a:ea typeface="Arial"/>
                <a:cs typeface="Arial"/>
              </a:defRPr>
            </a:lvl9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Backup: variogram correction and uncertainty</a:t>
            </a:r>
          </a:p>
        </p:txBody>
      </p:sp>
      <p:sp>
        <p:nvSpPr>
          <p:cNvPr id="2" name="">
            <a:extLst xmlns:a="http://schemas.openxmlformats.org/drawingml/2006/main">
              <a:ext uri="{FF2B5EF4-FFF2-40B4-BE49-F238E27FC236}">
                <a16:creationId xmlns:a16="http://schemas.microsoft.com/office/drawing/2014/main" id="{7ACA14DF-1CB8-4C66-93EC-783D416D45F5}"/>
              </a:ext>
            </a:extLst>
          </p:cNvPr>
          <p:cNvSpPr>
            <a:spLocks xmlns:a="http://schemas.openxmlformats.org/drawingml/2006/main" noGrp="1"/>
          </p:cNvSpPr>
          <p:nvPr/>
        </p:nvSpPr>
        <p:spPr>
          <a:xfrm xmlns:a="http://schemas.openxmlformats.org/drawingml/2006/main">
            <a:off x="742950" y="1714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A3A"/>
                </a:solidFill>
                <a:latin typeface="Arial"/>
                <a:ea typeface="Arial"/>
                <a:cs typeface="Arial"/>
              </a:defRPr>
            </a:defPPr>
            <a:lvl1pPr>
              <a:defRPr sz="1875" b="0">
                <a:solidFill>
                  <a:srgbClr val="172A3A"/>
                </a:solidFill>
                <a:latin typeface="Arial"/>
                <a:ea typeface="Arial"/>
                <a:cs typeface="Arial"/>
              </a:defRPr>
            </a:lvl1pPr>
            <a:lvl2pPr>
              <a:defRPr sz="1875" b="0">
                <a:solidFill>
                  <a:srgbClr val="172A3A"/>
                </a:solidFill>
                <a:latin typeface="Arial"/>
                <a:ea typeface="Arial"/>
                <a:cs typeface="Arial"/>
              </a:defRPr>
            </a:lvl2pPr>
            <a:lvl3pPr>
              <a:defRPr sz="1875" b="0">
                <a:solidFill>
                  <a:srgbClr val="172A3A"/>
                </a:solidFill>
                <a:latin typeface="Arial"/>
                <a:ea typeface="Arial"/>
                <a:cs typeface="Arial"/>
              </a:defRPr>
            </a:lvl3pPr>
            <a:lvl4pPr>
              <a:defRPr sz="1875" b="0">
                <a:solidFill>
                  <a:srgbClr val="172A3A"/>
                </a:solidFill>
                <a:latin typeface="Arial"/>
                <a:ea typeface="Arial"/>
                <a:cs typeface="Arial"/>
              </a:defRPr>
            </a:lvl4pPr>
            <a:lvl5pPr>
              <a:defRPr sz="1875" b="0">
                <a:solidFill>
                  <a:srgbClr val="172A3A"/>
                </a:solidFill>
                <a:latin typeface="Arial"/>
                <a:ea typeface="Arial"/>
                <a:cs typeface="Arial"/>
              </a:defRPr>
            </a:lvl5pPr>
            <a:lvl6pPr>
              <a:defRPr sz="1875" b="0">
                <a:solidFill>
                  <a:srgbClr val="172A3A"/>
                </a:solidFill>
                <a:latin typeface="Arial"/>
                <a:ea typeface="Arial"/>
                <a:cs typeface="Arial"/>
              </a:defRPr>
            </a:lvl6pPr>
            <a:lvl7pPr>
              <a:defRPr sz="1875" b="0">
                <a:solidFill>
                  <a:srgbClr val="172A3A"/>
                </a:solidFill>
                <a:latin typeface="Arial"/>
                <a:ea typeface="Arial"/>
                <a:cs typeface="Arial"/>
              </a:defRPr>
            </a:lvl7pPr>
            <a:lvl8pPr>
              <a:defRPr sz="1875" b="0">
                <a:solidFill>
                  <a:srgbClr val="172A3A"/>
                </a:solidFill>
                <a:latin typeface="Arial"/>
                <a:ea typeface="Arial"/>
                <a:cs typeface="Arial"/>
              </a:defRPr>
            </a:lvl8pPr>
            <a:lvl9pPr>
              <a:defRPr sz="1875" b="0">
                <a:solidFill>
                  <a:srgbClr val="172A3A"/>
                </a:solidFill>
                <a:latin typeface="Arial"/>
                <a:ea typeface="Arial"/>
                <a:cs typeface="Arial"/>
              </a:defRPr>
            </a:lvl9pPr>
          </a:lstStyle>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X[m,i] = value at time i in generated trajectory m; M = number of trajectories. For times i,j: a[m] = |X[m,i]−X[m,j]|^0.5.</a:t>
            </a:r>
          </a:p>
        </p:txBody>
      </p:sp>
      <p:sp>
        <p:nvSpPr>
          <p:cNvPr id="3" name="">
            <a:extLst xmlns:a="http://schemas.openxmlformats.org/drawingml/2006/main">
              <a:ext uri="{FF2B5EF4-FFF2-40B4-BE49-F238E27FC236}">
                <a16:creationId xmlns:a16="http://schemas.microsoft.com/office/drawing/2014/main" id="{EB008F6D-A88C-42CD-812F-FA01DBDBAD9E}"/>
              </a:ext>
            </a:extLst>
          </p:cNvPr>
          <p:cNvSpPr>
            <a:spLocks xmlns:a="http://schemas.openxmlformats.org/drawingml/2006/main" noGrp="1"/>
          </p:cNvSpPr>
          <p:nvPr/>
        </p:nvSpPr>
        <p:spPr>
          <a:xfrm xmlns:a="http://schemas.openxmlformats.org/drawingml/2006/main">
            <a:off x="742950" y="26670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A3A"/>
                </a:solidFill>
                <a:latin typeface="Arial"/>
                <a:ea typeface="Arial"/>
                <a:cs typeface="Arial"/>
              </a:defRPr>
            </a:defPPr>
            <a:lvl1pPr>
              <a:defRPr sz="1875" b="0">
                <a:solidFill>
                  <a:srgbClr val="172A3A"/>
                </a:solidFill>
                <a:latin typeface="Arial"/>
                <a:ea typeface="Arial"/>
                <a:cs typeface="Arial"/>
              </a:defRPr>
            </a:lvl1pPr>
            <a:lvl2pPr>
              <a:defRPr sz="1875" b="0">
                <a:solidFill>
                  <a:srgbClr val="172A3A"/>
                </a:solidFill>
                <a:latin typeface="Arial"/>
                <a:ea typeface="Arial"/>
                <a:cs typeface="Arial"/>
              </a:defRPr>
            </a:lvl2pPr>
            <a:lvl3pPr>
              <a:defRPr sz="1875" b="0">
                <a:solidFill>
                  <a:srgbClr val="172A3A"/>
                </a:solidFill>
                <a:latin typeface="Arial"/>
                <a:ea typeface="Arial"/>
                <a:cs typeface="Arial"/>
              </a:defRPr>
            </a:lvl3pPr>
            <a:lvl4pPr>
              <a:defRPr sz="1875" b="0">
                <a:solidFill>
                  <a:srgbClr val="172A3A"/>
                </a:solidFill>
                <a:latin typeface="Arial"/>
                <a:ea typeface="Arial"/>
                <a:cs typeface="Arial"/>
              </a:defRPr>
            </a:lvl4pPr>
            <a:lvl5pPr>
              <a:defRPr sz="1875" b="0">
                <a:solidFill>
                  <a:srgbClr val="172A3A"/>
                </a:solidFill>
                <a:latin typeface="Arial"/>
                <a:ea typeface="Arial"/>
                <a:cs typeface="Arial"/>
              </a:defRPr>
            </a:lvl5pPr>
            <a:lvl6pPr>
              <a:defRPr sz="1875" b="0">
                <a:solidFill>
                  <a:srgbClr val="172A3A"/>
                </a:solidFill>
                <a:latin typeface="Arial"/>
                <a:ea typeface="Arial"/>
                <a:cs typeface="Arial"/>
              </a:defRPr>
            </a:lvl6pPr>
            <a:lvl7pPr>
              <a:defRPr sz="1875" b="0">
                <a:solidFill>
                  <a:srgbClr val="172A3A"/>
                </a:solidFill>
                <a:latin typeface="Arial"/>
                <a:ea typeface="Arial"/>
                <a:cs typeface="Arial"/>
              </a:defRPr>
            </a:lvl7pPr>
            <a:lvl8pPr>
              <a:defRPr sz="1875" b="0">
                <a:solidFill>
                  <a:srgbClr val="172A3A"/>
                </a:solidFill>
                <a:latin typeface="Arial"/>
                <a:ea typeface="Arial"/>
                <a:cs typeface="Arial"/>
              </a:defRPr>
            </a:lvl8pPr>
            <a:lvl9pPr>
              <a:defRPr sz="1875" b="0">
                <a:solidFill>
                  <a:srgbClr val="172A3A"/>
                </a:solidFill>
                <a:latin typeface="Arial"/>
                <a:ea typeface="Arial"/>
                <a:cs typeface="Arial"/>
              </a:defRPr>
            </a:lvl9pPr>
          </a:lstStyle>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Time-pair weights are proportional to 1/|i−j| and sum to 1. Fair VS subtracts sample variance of a[m] divided by M for each pair.</a:t>
            </a:r>
          </a:p>
        </p:txBody>
      </p:sp>
      <p:sp>
        <p:nvSpPr>
          <p:cNvPr id="4" name="">
            <a:extLst xmlns:a="http://schemas.openxmlformats.org/drawingml/2006/main">
              <a:ext uri="{FF2B5EF4-FFF2-40B4-BE49-F238E27FC236}">
                <a16:creationId xmlns:a16="http://schemas.microsoft.com/office/drawing/2014/main" id="{C63356A0-E844-427C-A4C4-AD9C39E0CED8}"/>
              </a:ext>
            </a:extLst>
          </p:cNvPr>
          <p:cNvSpPr>
            <a:spLocks xmlns:a="http://schemas.openxmlformats.org/drawingml/2006/main" noGrp="1"/>
          </p:cNvSpPr>
          <p:nvPr/>
        </p:nvSpPr>
        <p:spPr>
          <a:xfrm xmlns:a="http://schemas.openxmlformats.org/drawingml/2006/main">
            <a:off x="742950" y="36195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A3A"/>
                </a:solidFill>
                <a:latin typeface="Arial"/>
                <a:ea typeface="Arial"/>
                <a:cs typeface="Arial"/>
              </a:defRPr>
            </a:defPPr>
            <a:lvl1pPr>
              <a:defRPr sz="1875" b="0">
                <a:solidFill>
                  <a:srgbClr val="172A3A"/>
                </a:solidFill>
                <a:latin typeface="Arial"/>
                <a:ea typeface="Arial"/>
                <a:cs typeface="Arial"/>
              </a:defRPr>
            </a:lvl1pPr>
            <a:lvl2pPr>
              <a:defRPr sz="1875" b="0">
                <a:solidFill>
                  <a:srgbClr val="172A3A"/>
                </a:solidFill>
                <a:latin typeface="Arial"/>
                <a:ea typeface="Arial"/>
                <a:cs typeface="Arial"/>
              </a:defRPr>
            </a:lvl2pPr>
            <a:lvl3pPr>
              <a:defRPr sz="1875" b="0">
                <a:solidFill>
                  <a:srgbClr val="172A3A"/>
                </a:solidFill>
                <a:latin typeface="Arial"/>
                <a:ea typeface="Arial"/>
                <a:cs typeface="Arial"/>
              </a:defRPr>
            </a:lvl3pPr>
            <a:lvl4pPr>
              <a:defRPr sz="1875" b="0">
                <a:solidFill>
                  <a:srgbClr val="172A3A"/>
                </a:solidFill>
                <a:latin typeface="Arial"/>
                <a:ea typeface="Arial"/>
                <a:cs typeface="Arial"/>
              </a:defRPr>
            </a:lvl4pPr>
            <a:lvl5pPr>
              <a:defRPr sz="1875" b="0">
                <a:solidFill>
                  <a:srgbClr val="172A3A"/>
                </a:solidFill>
                <a:latin typeface="Arial"/>
                <a:ea typeface="Arial"/>
                <a:cs typeface="Arial"/>
              </a:defRPr>
            </a:lvl5pPr>
            <a:lvl6pPr>
              <a:defRPr sz="1875" b="0">
                <a:solidFill>
                  <a:srgbClr val="172A3A"/>
                </a:solidFill>
                <a:latin typeface="Arial"/>
                <a:ea typeface="Arial"/>
                <a:cs typeface="Arial"/>
              </a:defRPr>
            </a:lvl6pPr>
            <a:lvl7pPr>
              <a:defRPr sz="1875" b="0">
                <a:solidFill>
                  <a:srgbClr val="172A3A"/>
                </a:solidFill>
                <a:latin typeface="Arial"/>
                <a:ea typeface="Arial"/>
                <a:cs typeface="Arial"/>
              </a:defRPr>
            </a:lvl7pPr>
            <a:lvl8pPr>
              <a:defRPr sz="1875" b="0">
                <a:solidFill>
                  <a:srgbClr val="172A3A"/>
                </a:solidFill>
                <a:latin typeface="Arial"/>
                <a:ea typeface="Arial"/>
                <a:cs typeface="Arial"/>
              </a:defRPr>
            </a:lvl8pPr>
            <a:lvl9pPr>
              <a:defRPr sz="1875" b="0">
                <a:solidFill>
                  <a:srgbClr val="172A3A"/>
                </a:solidFill>
                <a:latin typeface="Arial"/>
                <a:ea typeface="Arial"/>
                <a:cs typeface="Arial"/>
              </a:defRPr>
            </a:lvl9pPr>
          </a:lstStyle>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95% confidence intervals resample 256 paired histories, holding 5 fitted models per head fixed.</a:t>
            </a:r>
          </a:p>
        </p:txBody>
      </p:sp>
      <p:sp>
        <p:nvSpPr>
          <p:cNvPr id="5" name="">
            <a:extLst xmlns:a="http://schemas.openxmlformats.org/drawingml/2006/main">
              <a:ext uri="{FF2B5EF4-FFF2-40B4-BE49-F238E27FC236}">
                <a16:creationId xmlns:a16="http://schemas.microsoft.com/office/drawing/2014/main" id="{D1707165-BC30-45C4-B2B2-95DBE8BC5D65}"/>
              </a:ext>
            </a:extLst>
          </p:cNvPr>
          <p:cNvSpPr>
            <a:spLocks xmlns:a="http://schemas.openxmlformats.org/drawingml/2006/main" noGrp="1"/>
          </p:cNvSpPr>
          <p:nvPr/>
        </p:nvSpPr>
        <p:spPr>
          <a:xfrm xmlns:a="http://schemas.openxmlformats.org/drawingml/2006/main">
            <a:off x="742950" y="457200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72A3A"/>
                </a:solidFill>
                <a:latin typeface="Arial"/>
                <a:ea typeface="Arial"/>
                <a:cs typeface="Arial"/>
              </a:defRPr>
            </a:defPPr>
            <a:lvl1pPr>
              <a:defRPr sz="1875" b="0">
                <a:solidFill>
                  <a:srgbClr val="172A3A"/>
                </a:solidFill>
                <a:latin typeface="Arial"/>
                <a:ea typeface="Arial"/>
                <a:cs typeface="Arial"/>
              </a:defRPr>
            </a:lvl1pPr>
            <a:lvl2pPr>
              <a:defRPr sz="1875" b="0">
                <a:solidFill>
                  <a:srgbClr val="172A3A"/>
                </a:solidFill>
                <a:latin typeface="Arial"/>
                <a:ea typeface="Arial"/>
                <a:cs typeface="Arial"/>
              </a:defRPr>
            </a:lvl2pPr>
            <a:lvl3pPr>
              <a:defRPr sz="1875" b="0">
                <a:solidFill>
                  <a:srgbClr val="172A3A"/>
                </a:solidFill>
                <a:latin typeface="Arial"/>
                <a:ea typeface="Arial"/>
                <a:cs typeface="Arial"/>
              </a:defRPr>
            </a:lvl3pPr>
            <a:lvl4pPr>
              <a:defRPr sz="1875" b="0">
                <a:solidFill>
                  <a:srgbClr val="172A3A"/>
                </a:solidFill>
                <a:latin typeface="Arial"/>
                <a:ea typeface="Arial"/>
                <a:cs typeface="Arial"/>
              </a:defRPr>
            </a:lvl4pPr>
            <a:lvl5pPr>
              <a:defRPr sz="1875" b="0">
                <a:solidFill>
                  <a:srgbClr val="172A3A"/>
                </a:solidFill>
                <a:latin typeface="Arial"/>
                <a:ea typeface="Arial"/>
                <a:cs typeface="Arial"/>
              </a:defRPr>
            </a:lvl5pPr>
            <a:lvl6pPr>
              <a:defRPr sz="1875" b="0">
                <a:solidFill>
                  <a:srgbClr val="172A3A"/>
                </a:solidFill>
                <a:latin typeface="Arial"/>
                <a:ea typeface="Arial"/>
                <a:cs typeface="Arial"/>
              </a:defRPr>
            </a:lvl6pPr>
            <a:lvl7pPr>
              <a:defRPr sz="1875" b="0">
                <a:solidFill>
                  <a:srgbClr val="172A3A"/>
                </a:solidFill>
                <a:latin typeface="Arial"/>
                <a:ea typeface="Arial"/>
                <a:cs typeface="Arial"/>
              </a:defRPr>
            </a:lvl7pPr>
            <a:lvl8pPr>
              <a:defRPr sz="1875" b="0">
                <a:solidFill>
                  <a:srgbClr val="172A3A"/>
                </a:solidFill>
                <a:latin typeface="Arial"/>
                <a:ea typeface="Arial"/>
                <a:cs typeface="Arial"/>
              </a:defRPr>
            </a:lvl8pPr>
            <a:lvl9pPr>
              <a:defRPr sz="1875" b="0">
                <a:solidFill>
                  <a:srgbClr val="172A3A"/>
                </a:solidFill>
                <a:latin typeface="Arial"/>
                <a:ea typeface="Arial"/>
                <a:cs typeface="Arial"/>
              </a:defRPr>
            </a:lvl9pPr>
          </a:lstStyle>
          <a:p xmlns:a="http://schemas.openxmlformats.org/drawingml/2006/main">
            <a:pPr>
              <a:defRPr sz="1875" b="0">
                <a:solidFill>
                  <a:srgbClr val="172A3A"/>
                </a:solidFill>
                <a:latin typeface="Arial"/>
                <a:ea typeface="Arial"/>
                <a:cs typeface="Arial"/>
              </a:defRPr>
            </a:pPr>
            <a:r>
              <a:rPr sz="1875" b="0">
                <a:solidFill>
                  <a:srgbClr val="172A3A"/>
                </a:solidFill>
                <a:latin typeface="Arial"/>
                <a:ea typeface="Arial"/>
                <a:cs typeface="Arial"/>
              </a:rPr>
              <a:t>Follow-ups: 3 paired dataset/training-seed runs; no pooled population confidence interval.</a:t>
            </a:r>
          </a:p>
        </p:txBody>
      </p:sp>
      <p:sp>
        <p:nvSpPr>
          <p:cNvPr id="6" name="">
            <a:extLst xmlns:a="http://schemas.openxmlformats.org/drawingml/2006/main">
              <a:ext uri="{FF2B5EF4-FFF2-40B4-BE49-F238E27FC236}">
                <a16:creationId xmlns:a16="http://schemas.microsoft.com/office/drawing/2014/main" id="{CCD0EE62-F156-4E83-BA3E-9829DD0510DA}"/>
              </a:ext>
            </a:extLst>
          </p:cNvPr>
          <p:cNvSpPr>
            <a:spLocks xmlns:a="http://schemas.openxmlformats.org/drawingml/2006/main" noGrp="1"/>
          </p:cNvSpPr>
          <p:nvPr/>
        </p:nvSpPr>
        <p:spPr>
          <a:xfrm xmlns:a="http://schemas.openxmlformats.org/drawingml/2006/main">
            <a:off x="723900" y="56769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43596C"/>
                </a:solidFill>
                <a:latin typeface="Arial"/>
                <a:ea typeface="Arial"/>
                <a:cs typeface="Arial"/>
              </a:defRPr>
            </a:defPPr>
            <a:lvl1pPr>
              <a:defRPr sz="1875" b="0">
                <a:solidFill>
                  <a:srgbClr val="43596C"/>
                </a:solidFill>
                <a:latin typeface="Arial"/>
                <a:ea typeface="Arial"/>
                <a:cs typeface="Arial"/>
              </a:defRPr>
            </a:lvl1pPr>
            <a:lvl2pPr>
              <a:defRPr sz="1875" b="0">
                <a:solidFill>
                  <a:srgbClr val="43596C"/>
                </a:solidFill>
                <a:latin typeface="Arial"/>
                <a:ea typeface="Arial"/>
                <a:cs typeface="Arial"/>
              </a:defRPr>
            </a:lvl2pPr>
            <a:lvl3pPr>
              <a:defRPr sz="1875" b="0">
                <a:solidFill>
                  <a:srgbClr val="43596C"/>
                </a:solidFill>
                <a:latin typeface="Arial"/>
                <a:ea typeface="Arial"/>
                <a:cs typeface="Arial"/>
              </a:defRPr>
            </a:lvl3pPr>
            <a:lvl4pPr>
              <a:defRPr sz="1875" b="0">
                <a:solidFill>
                  <a:srgbClr val="43596C"/>
                </a:solidFill>
                <a:latin typeface="Arial"/>
                <a:ea typeface="Arial"/>
                <a:cs typeface="Arial"/>
              </a:defRPr>
            </a:lvl4pPr>
            <a:lvl5pPr>
              <a:defRPr sz="1875" b="0">
                <a:solidFill>
                  <a:srgbClr val="43596C"/>
                </a:solidFill>
                <a:latin typeface="Arial"/>
                <a:ea typeface="Arial"/>
                <a:cs typeface="Arial"/>
              </a:defRPr>
            </a:lvl5pPr>
            <a:lvl6pPr>
              <a:defRPr sz="1875" b="0">
                <a:solidFill>
                  <a:srgbClr val="43596C"/>
                </a:solidFill>
                <a:latin typeface="Arial"/>
                <a:ea typeface="Arial"/>
                <a:cs typeface="Arial"/>
              </a:defRPr>
            </a:lvl6pPr>
            <a:lvl7pPr>
              <a:defRPr sz="1875" b="0">
                <a:solidFill>
                  <a:srgbClr val="43596C"/>
                </a:solidFill>
                <a:latin typeface="Arial"/>
                <a:ea typeface="Arial"/>
                <a:cs typeface="Arial"/>
              </a:defRPr>
            </a:lvl7pPr>
            <a:lvl8pPr>
              <a:defRPr sz="1875" b="0">
                <a:solidFill>
                  <a:srgbClr val="43596C"/>
                </a:solidFill>
                <a:latin typeface="Arial"/>
                <a:ea typeface="Arial"/>
                <a:cs typeface="Arial"/>
              </a:defRPr>
            </a:lvl8pPr>
            <a:lvl9pPr>
              <a:defRPr sz="1875" b="0">
                <a:solidFill>
                  <a:srgbClr val="43596C"/>
                </a:solidFill>
                <a:latin typeface="Arial"/>
                <a:ea typeface="Arial"/>
                <a:cs typeface="Arial"/>
              </a:defRPr>
            </a:lvl9pPr>
          </a:lstStyle>
          <a:p xmlns:a="http://schemas.openxmlformats.org/drawingml/2006/main">
            <a:pPr>
              <a:defRPr sz="1875" b="0">
                <a:solidFill>
                  <a:srgbClr val="43596C"/>
                </a:solidFill>
                <a:latin typeface="Arial"/>
                <a:ea typeface="Arial"/>
                <a:cs typeface="Arial"/>
              </a:defRPr>
            </a:pPr>
            <a:r>
              <a:rPr sz="1875" b="0">
                <a:solidFill>
                  <a:srgbClr val="43596C"/>
                </a:solidFill>
                <a:latin typeface="Arial"/>
                <a:ea typeface="Arial"/>
                <a:cs typeface="Arial"/>
              </a:rPr>
              <a:t>Post-hoc comparisons, no multiple-testing correction. Scores across different horizons are not directly comparable.</a:t>
            </a:r>
          </a:p>
        </p:txBody>
      </p:sp>
      <p:sp>
        <p:nvSpPr>
          <p:cNvPr id="7" name="">
            <a:extLst xmlns:a="http://schemas.openxmlformats.org/drawingml/2006/main">
              <a:ext uri="{FF2B5EF4-FFF2-40B4-BE49-F238E27FC236}">
                <a16:creationId xmlns:a16="http://schemas.microsoft.com/office/drawing/2014/main" id="{F2A607DF-4534-4BAA-91FC-CA927CEC1C66}"/>
              </a:ext>
            </a:extLst>
          </p:cNvPr>
          <p:cNvSpPr>
            <a:spLocks xmlns:a="http://schemas.openxmlformats.org/drawingml/2006/main" noGrp="1"/>
          </p:cNvSpPr>
          <p:nvPr/>
        </p:nvSpPr>
        <p:spPr>
          <a:xfrm xmlns:a="http://schemas.openxmlformats.org/drawingml/2006/main">
            <a:off x="10953750" y="650557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0">
                <a:solidFill>
                  <a:srgbClr val="60788B"/>
                </a:solidFill>
                <a:latin typeface="Arial"/>
                <a:ea typeface="Arial"/>
                <a:cs typeface="Arial"/>
              </a:defRPr>
            </a:defPPr>
            <a:lvl1pPr>
              <a:defRPr sz="1275" b="0">
                <a:solidFill>
                  <a:srgbClr val="60788B"/>
                </a:solidFill>
                <a:latin typeface="Arial"/>
                <a:ea typeface="Arial"/>
                <a:cs typeface="Arial"/>
              </a:defRPr>
            </a:lvl1pPr>
            <a:lvl2pPr>
              <a:defRPr sz="1275" b="0">
                <a:solidFill>
                  <a:srgbClr val="60788B"/>
                </a:solidFill>
                <a:latin typeface="Arial"/>
                <a:ea typeface="Arial"/>
                <a:cs typeface="Arial"/>
              </a:defRPr>
            </a:lvl2pPr>
            <a:lvl3pPr>
              <a:defRPr sz="1275" b="0">
                <a:solidFill>
                  <a:srgbClr val="60788B"/>
                </a:solidFill>
                <a:latin typeface="Arial"/>
                <a:ea typeface="Arial"/>
                <a:cs typeface="Arial"/>
              </a:defRPr>
            </a:lvl3pPr>
            <a:lvl4pPr>
              <a:defRPr sz="1275" b="0">
                <a:solidFill>
                  <a:srgbClr val="60788B"/>
                </a:solidFill>
                <a:latin typeface="Arial"/>
                <a:ea typeface="Arial"/>
                <a:cs typeface="Arial"/>
              </a:defRPr>
            </a:lvl4pPr>
            <a:lvl5pPr>
              <a:defRPr sz="1275" b="0">
                <a:solidFill>
                  <a:srgbClr val="60788B"/>
                </a:solidFill>
                <a:latin typeface="Arial"/>
                <a:ea typeface="Arial"/>
                <a:cs typeface="Arial"/>
              </a:defRPr>
            </a:lvl5pPr>
            <a:lvl6pPr>
              <a:defRPr sz="1275" b="0">
                <a:solidFill>
                  <a:srgbClr val="60788B"/>
                </a:solidFill>
                <a:latin typeface="Arial"/>
                <a:ea typeface="Arial"/>
                <a:cs typeface="Arial"/>
              </a:defRPr>
            </a:lvl6pPr>
            <a:lvl7pPr>
              <a:defRPr sz="1275" b="0">
                <a:solidFill>
                  <a:srgbClr val="60788B"/>
                </a:solidFill>
                <a:latin typeface="Arial"/>
                <a:ea typeface="Arial"/>
                <a:cs typeface="Arial"/>
              </a:defRPr>
            </a:lvl7pPr>
            <a:lvl8pPr>
              <a:defRPr sz="1275" b="0">
                <a:solidFill>
                  <a:srgbClr val="60788B"/>
                </a:solidFill>
                <a:latin typeface="Arial"/>
                <a:ea typeface="Arial"/>
                <a:cs typeface="Arial"/>
              </a:defRPr>
            </a:lvl8pPr>
            <a:lvl9pPr>
              <a:defRPr sz="1275" b="0">
                <a:solidFill>
                  <a:srgbClr val="60788B"/>
                </a:solidFill>
                <a:latin typeface="Arial"/>
                <a:ea typeface="Arial"/>
                <a:cs typeface="Arial"/>
              </a:defRPr>
            </a:lvl9pPr>
          </a:lstStyle>
          <a:p xmlns:a="http://schemas.openxmlformats.org/drawingml/2006/main">
            <a:pPr>
              <a:defRPr sz="1275" b="0">
                <a:solidFill>
                  <a:srgbClr val="60788B"/>
                </a:solidFill>
                <a:latin typeface="Arial"/>
                <a:ea typeface="Arial"/>
                <a:cs typeface="Arial"/>
              </a:defRPr>
            </a:pPr>
            <a:r>
              <a:rPr sz="1275" b="0">
                <a:solidFill>
                  <a:srgbClr val="60788B"/>
                </a:solidFill>
                <a:latin typeface="Arial"/>
                <a:ea typeface="Arial"/>
                <a:cs typeface="Arial"/>
              </a:rPr>
              <a:t>18</a:t>
            </a:r>
          </a:p>
        </p:txBody>
      </p:sp>
    </p:spTree>
    <p:extLst>
      <p:ext uri="{BB962C8B-B14F-4D97-AF65-F5344CB8AC3E}">
        <p14:creationId xmlns:p14="http://schemas.microsoft.com/office/powerpoint/2010/main" val="8888541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2026-10-25T21:25:02.8220000Z</dcterms:created>
  <dcterms:modified xsi:type="dcterms:W3CDTF">2026-10-25T21:25:02.8220000Z</dcterms:modified>
</coreProperties>
</file>